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8c2934c-3650-03f6-8f7f-f52d4a2ece07}">
          <p14:sldIdLst>
            <p14:sldId id="256"/>
            <p14:sldId id="257"/>
          </p14:sldIdLst>
        </p14:section>
        <p14:section name="Architecture" id="{115ab6f8-a5ff-2ed0-bfca-3972bceaa68c}">
          <p14:sldIdLst>
            <p14:sldId id="258"/>
            <p14:sldId id="259"/>
            <p14:sldId id="260"/>
            <p14:sldId id="261"/>
            <p14:sldId id="262"/>
            <p14:sldId id="263"/>
          </p14:sldIdLst>
        </p14:section>
        <p14:section name="Results" id="{a0911eae-c92f-628f-9548-e4db201110f7}">
          <p14:sldIdLst>
            <p14:sldId id="264"/>
            <p14:sldId id="265"/>
            <p14:sldId id="266"/>
          </p14:sldIdLst>
        </p14:section>
        <p14:section name="Impact" id="{98afeb1f-8865-44bd-9641-3156a5da6720}">
          <p14:sldIdLst>
            <p14:sldId id="267"/>
            <p14:sldId id="268"/>
          </p14:sldIdLst>
        </p14:section>
        <p14:section name="Appendix" id="{02de550d-d715-9f41-e946-c8a5c386876d}">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mn-lt"/>
              </a:defRPr>
            </a:pPr>
            <a:r>
              <a:rPr sz="1300" b="0" i="0" u="none" strike="noStrike">
                <a:solidFill>
                  <a:srgbClr val="FFFFFF"/>
                </a:solidFill>
                <a:latin typeface="+mn-lt"/>
              </a:rPr>
              <a:t>Volatility, days 831–900: the crash leaves the training range</a:t>
            </a:r>
          </a:p>
        </c:rich>
      </c:tx>
      <c:layout/>
      <c:overlay val="0"/>
    </c:title>
    <c:autoTitleDeleted val="0"/>
    <c:plotArea>
      <c:layout/>
      <c:lineChart>
        <c:varyColors val="0"/>
        <c:ser>
          <c:idx val="0"/>
          <c:order val="0"/>
          <c:tx>
            <c:strRef>
              <c:f>Sheet1!$B$1</c:f>
              <c:strCache>
                <c:ptCount val="1"/>
                <c:pt idx="0">
                  <c:v>volatility_20</c:v>
                </c:pt>
              </c:strCache>
            </c:strRef>
          </c:tx>
          <c:spPr>
            <a:solidFill>
              <a:srgbClr val="EF4B4B"/>
            </a:solidFill>
            <a:ln w="25400" cap="flat">
              <a:solidFill>
                <a:srgbClr val="EF4B4B"/>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EF4B4B"/>
              </a:solidFill>
              <a:ln w="9525" cap="flat">
                <a:solidFill>
                  <a:srgbClr val="EF4B4B"/>
                </a:solidFill>
                <a:prstDash val="solid"/>
                <a:round/>
              </a:ln>
              <a:effectLst/>
            </c:spPr>
          </c:marker>
          <c:cat>
            <c:multiLvlStrRef>
              <c:f>Sheet1!$A$2:$A$71</c:f>
              <c:multiLvlStrCache>
                <c:ptCount val="70"/>
                <c:lvl>
                  <c:pt idx="0">
                    <c:v>831</c:v>
                  </c:pt>
                  <c:pt idx="1">
                    <c:v>832</c:v>
                  </c:pt>
                  <c:pt idx="2">
                    <c:v>833</c:v>
                  </c:pt>
                  <c:pt idx="3">
                    <c:v>834</c:v>
                  </c:pt>
                  <c:pt idx="4">
                    <c:v>835</c:v>
                  </c:pt>
                  <c:pt idx="5">
                    <c:v>836</c:v>
                  </c:pt>
                  <c:pt idx="6">
                    <c:v>837</c:v>
                  </c:pt>
                  <c:pt idx="7">
                    <c:v>838</c:v>
                  </c:pt>
                  <c:pt idx="8">
                    <c:v>839</c:v>
                  </c:pt>
                  <c:pt idx="9">
                    <c:v>840</c:v>
                  </c:pt>
                  <c:pt idx="10">
                    <c:v>841</c:v>
                  </c:pt>
                  <c:pt idx="11">
                    <c:v>842</c:v>
                  </c:pt>
                  <c:pt idx="12">
                    <c:v>843</c:v>
                  </c:pt>
                  <c:pt idx="13">
                    <c:v>844</c:v>
                  </c:pt>
                  <c:pt idx="14">
                    <c:v>845</c:v>
                  </c:pt>
                  <c:pt idx="15">
                    <c:v>846</c:v>
                  </c:pt>
                  <c:pt idx="16">
                    <c:v>847</c:v>
                  </c:pt>
                  <c:pt idx="17">
                    <c:v>848</c:v>
                  </c:pt>
                  <c:pt idx="18">
                    <c:v>849</c:v>
                  </c:pt>
                  <c:pt idx="19">
                    <c:v>850</c:v>
                  </c:pt>
                  <c:pt idx="20">
                    <c:v>851</c:v>
                  </c:pt>
                  <c:pt idx="21">
                    <c:v>852</c:v>
                  </c:pt>
                  <c:pt idx="22">
                    <c:v>853</c:v>
                  </c:pt>
                  <c:pt idx="23">
                    <c:v>854</c:v>
                  </c:pt>
                  <c:pt idx="24">
                    <c:v>855</c:v>
                  </c:pt>
                  <c:pt idx="25">
                    <c:v>856</c:v>
                  </c:pt>
                  <c:pt idx="26">
                    <c:v>857</c:v>
                  </c:pt>
                  <c:pt idx="27">
                    <c:v>858</c:v>
                  </c:pt>
                  <c:pt idx="28">
                    <c:v>859</c:v>
                  </c:pt>
                  <c:pt idx="29">
                    <c:v>860</c:v>
                  </c:pt>
                  <c:pt idx="30">
                    <c:v>861</c:v>
                  </c:pt>
                  <c:pt idx="31">
                    <c:v>862</c:v>
                  </c:pt>
                  <c:pt idx="32">
                    <c:v>863</c:v>
                  </c:pt>
                  <c:pt idx="33">
                    <c:v>864</c:v>
                  </c:pt>
                  <c:pt idx="34">
                    <c:v>865</c:v>
                  </c:pt>
                  <c:pt idx="35">
                    <c:v>866</c:v>
                  </c:pt>
                  <c:pt idx="36">
                    <c:v>867</c:v>
                  </c:pt>
                  <c:pt idx="37">
                    <c:v>868</c:v>
                  </c:pt>
                  <c:pt idx="38">
                    <c:v>869</c:v>
                  </c:pt>
                  <c:pt idx="39">
                    <c:v>870</c:v>
                  </c:pt>
                  <c:pt idx="40">
                    <c:v>871</c:v>
                  </c:pt>
                  <c:pt idx="41">
                    <c:v>872</c:v>
                  </c:pt>
                  <c:pt idx="42">
                    <c:v>873</c:v>
                  </c:pt>
                  <c:pt idx="43">
                    <c:v>874</c:v>
                  </c:pt>
                  <c:pt idx="44">
                    <c:v>875</c:v>
                  </c:pt>
                  <c:pt idx="45">
                    <c:v>876</c:v>
                  </c:pt>
                  <c:pt idx="46">
                    <c:v>877</c:v>
                  </c:pt>
                  <c:pt idx="47">
                    <c:v>878</c:v>
                  </c:pt>
                  <c:pt idx="48">
                    <c:v>879</c:v>
                  </c:pt>
                  <c:pt idx="49">
                    <c:v>880</c:v>
                  </c:pt>
                  <c:pt idx="50">
                    <c:v>881</c:v>
                  </c:pt>
                  <c:pt idx="51">
                    <c:v>882</c:v>
                  </c:pt>
                  <c:pt idx="52">
                    <c:v>883</c:v>
                  </c:pt>
                  <c:pt idx="53">
                    <c:v>884</c:v>
                  </c:pt>
                  <c:pt idx="54">
                    <c:v>885</c:v>
                  </c:pt>
                  <c:pt idx="55">
                    <c:v>886</c:v>
                  </c:pt>
                  <c:pt idx="56">
                    <c:v>887</c:v>
                  </c:pt>
                  <c:pt idx="57">
                    <c:v>888</c:v>
                  </c:pt>
                  <c:pt idx="58">
                    <c:v>889</c:v>
                  </c:pt>
                  <c:pt idx="59">
                    <c:v>890</c:v>
                  </c:pt>
                  <c:pt idx="60">
                    <c:v>891</c:v>
                  </c:pt>
                  <c:pt idx="61">
                    <c:v>892</c:v>
                  </c:pt>
                  <c:pt idx="62">
                    <c:v>893</c:v>
                  </c:pt>
                  <c:pt idx="63">
                    <c:v>894</c:v>
                  </c:pt>
                  <c:pt idx="64">
                    <c:v>895</c:v>
                  </c:pt>
                  <c:pt idx="65">
                    <c:v>896</c:v>
                  </c:pt>
                  <c:pt idx="66">
                    <c:v>897</c:v>
                  </c:pt>
                  <c:pt idx="67">
                    <c:v>898</c:v>
                  </c:pt>
                  <c:pt idx="68">
                    <c:v>899</c:v>
                  </c:pt>
                  <c:pt idx="69">
                    <c:v>900</c:v>
                  </c:pt>
                </c:lvl>
              </c:multiLvlStrCache>
            </c:multiLvlStrRef>
          </c:cat>
          <c:val>
            <c:numRef>
              <c:f>Sheet1!$B$2:$B$71</c:f>
              <c:numCache>
                <c:formatCode>General</c:formatCode>
                <c:ptCount val="70"/>
                <c:pt idx="0">
                  <c:v>0.0092</c:v>
                </c:pt>
                <c:pt idx="1">
                  <c:v>0.0092</c:v>
                </c:pt>
                <c:pt idx="2">
                  <c:v>0.008</c:v>
                </c:pt>
                <c:pt idx="3">
                  <c:v>0.0078</c:v>
                </c:pt>
                <c:pt idx="4">
                  <c:v>0.008</c:v>
                </c:pt>
                <c:pt idx="5">
                  <c:v>0.0096</c:v>
                </c:pt>
                <c:pt idx="6">
                  <c:v>0.0098</c:v>
                </c:pt>
                <c:pt idx="7">
                  <c:v>0.0099</c:v>
                </c:pt>
                <c:pt idx="8">
                  <c:v>0.0102</c:v>
                </c:pt>
                <c:pt idx="9">
                  <c:v>0.0112</c:v>
                </c:pt>
                <c:pt idx="10">
                  <c:v>0.0114</c:v>
                </c:pt>
                <c:pt idx="11">
                  <c:v>0.0114</c:v>
                </c:pt>
                <c:pt idx="12">
                  <c:v>0.0114</c:v>
                </c:pt>
                <c:pt idx="13">
                  <c:v>0.0114</c:v>
                </c:pt>
                <c:pt idx="14">
                  <c:v>0.0115</c:v>
                </c:pt>
                <c:pt idx="15">
                  <c:v>0.0115</c:v>
                </c:pt>
                <c:pt idx="16">
                  <c:v>0.0118</c:v>
                </c:pt>
                <c:pt idx="17">
                  <c:v>0.0115</c:v>
                </c:pt>
                <c:pt idx="18">
                  <c:v>0.0093</c:v>
                </c:pt>
                <c:pt idx="19">
                  <c:v>0.0094</c:v>
                </c:pt>
                <c:pt idx="20">
                  <c:v>0.0126</c:v>
                </c:pt>
                <c:pt idx="21">
                  <c:v>0.0254</c:v>
                </c:pt>
                <c:pt idx="22">
                  <c:v>0.0398</c:v>
                </c:pt>
                <c:pt idx="23">
                  <c:v>0.0399</c:v>
                </c:pt>
                <c:pt idx="24">
                  <c:v>0.0411</c:v>
                </c:pt>
                <c:pt idx="25">
                  <c:v>0.0447</c:v>
                </c:pt>
                <c:pt idx="26">
                  <c:v>0.0451</c:v>
                </c:pt>
                <c:pt idx="27">
                  <c:v>0.0492</c:v>
                </c:pt>
                <c:pt idx="28">
                  <c:v>0.0528</c:v>
                </c:pt>
                <c:pt idx="29">
                  <c:v>0.0527</c:v>
                </c:pt>
                <c:pt idx="30">
                  <c:v>0.0556</c:v>
                </c:pt>
                <c:pt idx="31">
                  <c:v>0.0604</c:v>
                </c:pt>
                <c:pt idx="32">
                  <c:v>0.0617</c:v>
                </c:pt>
                <c:pt idx="33">
                  <c:v>0.0617</c:v>
                </c:pt>
                <c:pt idx="34">
                  <c:v>0.0648</c:v>
                </c:pt>
                <c:pt idx="35">
                  <c:v>0.0648</c:v>
                </c:pt>
                <c:pt idx="36">
                  <c:v>0.068</c:v>
                </c:pt>
                <c:pt idx="37">
                  <c:v>0.068</c:v>
                </c:pt>
                <c:pt idx="38">
                  <c:v>0.0709</c:v>
                </c:pt>
                <c:pt idx="39">
                  <c:v>0.0744</c:v>
                </c:pt>
                <c:pt idx="40">
                  <c:v>0.0739</c:v>
                </c:pt>
                <c:pt idx="41">
                  <c:v>0.0701</c:v>
                </c:pt>
                <c:pt idx="42">
                  <c:v>0.0626</c:v>
                </c:pt>
                <c:pt idx="43">
                  <c:v>0.0626</c:v>
                </c:pt>
                <c:pt idx="44">
                  <c:v>0.0638</c:v>
                </c:pt>
                <c:pt idx="45">
                  <c:v>0.0628</c:v>
                </c:pt>
                <c:pt idx="46">
                  <c:v>0.0627</c:v>
                </c:pt>
                <c:pt idx="47">
                  <c:v>0.0601</c:v>
                </c:pt>
                <c:pt idx="48">
                  <c:v>0.0575</c:v>
                </c:pt>
                <c:pt idx="49">
                  <c:v>0.0575</c:v>
                </c:pt>
                <c:pt idx="50">
                  <c:v>0.0629</c:v>
                </c:pt>
                <c:pt idx="51">
                  <c:v>0.0598</c:v>
                </c:pt>
                <c:pt idx="52">
                  <c:v>0.0588</c:v>
                </c:pt>
                <c:pt idx="53">
                  <c:v>0.0589</c:v>
                </c:pt>
                <c:pt idx="54">
                  <c:v>0.061</c:v>
                </c:pt>
                <c:pt idx="55">
                  <c:v>0.061</c:v>
                </c:pt>
                <c:pt idx="56">
                  <c:v>0.0571</c:v>
                </c:pt>
                <c:pt idx="57">
                  <c:v>0.0571</c:v>
                </c:pt>
                <c:pt idx="58">
                  <c:v>0.0554</c:v>
                </c:pt>
                <c:pt idx="59">
                  <c:v>0.0513</c:v>
                </c:pt>
                <c:pt idx="60">
                  <c:v>0.0559</c:v>
                </c:pt>
                <c:pt idx="61">
                  <c:v>0.0667</c:v>
                </c:pt>
                <c:pt idx="62">
                  <c:v>0.0662</c:v>
                </c:pt>
                <c:pt idx="63">
                  <c:v>0.0667</c:v>
                </c:pt>
                <c:pt idx="64">
                  <c:v>0.0662</c:v>
                </c:pt>
                <c:pt idx="65">
                  <c:v>0.0692</c:v>
                </c:pt>
                <c:pt idx="66">
                  <c:v>0.0703</c:v>
                </c:pt>
                <c:pt idx="67">
                  <c:v>0.0707</c:v>
                </c:pt>
                <c:pt idx="68">
                  <c:v>0.0723</c:v>
                </c:pt>
                <c:pt idx="69">
                  <c:v>0.0732</c:v>
                </c:pt>
              </c:numCache>
            </c:numRef>
          </c:val>
          <c:smooth val="0"/>
        </c:ser>
        <c:ser>
          <c:idx val="1"/>
          <c:order val="1"/>
          <c:tx>
            <c:strRef>
              <c:f>Sheet1!$C$1</c:f>
              <c:strCache>
                <c:ptCount val="1"/>
                <c:pt idx="0">
                  <c:v>Highest in training</c:v>
                </c:pt>
              </c:strCache>
            </c:strRef>
          </c:tx>
          <c:spPr>
            <a:solidFill>
              <a:srgbClr val="D9B44A"/>
            </a:solidFill>
            <a:ln w="25400" cap="flat">
              <a:solidFill>
                <a:srgbClr val="D9B44A"/>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D9B44A"/>
              </a:solidFill>
              <a:ln w="9525" cap="flat">
                <a:solidFill>
                  <a:srgbClr val="D9B44A"/>
                </a:solidFill>
                <a:prstDash val="solid"/>
                <a:round/>
              </a:ln>
              <a:effectLst/>
            </c:spPr>
          </c:marker>
          <c:cat>
            <c:multiLvlStrRef>
              <c:f>Sheet1!$A$2:$A$71</c:f>
              <c:multiLvlStrCache>
                <c:ptCount val="70"/>
                <c:lvl>
                  <c:pt idx="0">
                    <c:v>831</c:v>
                  </c:pt>
                  <c:pt idx="1">
                    <c:v>832</c:v>
                  </c:pt>
                  <c:pt idx="2">
                    <c:v>833</c:v>
                  </c:pt>
                  <c:pt idx="3">
                    <c:v>834</c:v>
                  </c:pt>
                  <c:pt idx="4">
                    <c:v>835</c:v>
                  </c:pt>
                  <c:pt idx="5">
                    <c:v>836</c:v>
                  </c:pt>
                  <c:pt idx="6">
                    <c:v>837</c:v>
                  </c:pt>
                  <c:pt idx="7">
                    <c:v>838</c:v>
                  </c:pt>
                  <c:pt idx="8">
                    <c:v>839</c:v>
                  </c:pt>
                  <c:pt idx="9">
                    <c:v>840</c:v>
                  </c:pt>
                  <c:pt idx="10">
                    <c:v>841</c:v>
                  </c:pt>
                  <c:pt idx="11">
                    <c:v>842</c:v>
                  </c:pt>
                  <c:pt idx="12">
                    <c:v>843</c:v>
                  </c:pt>
                  <c:pt idx="13">
                    <c:v>844</c:v>
                  </c:pt>
                  <c:pt idx="14">
                    <c:v>845</c:v>
                  </c:pt>
                  <c:pt idx="15">
                    <c:v>846</c:v>
                  </c:pt>
                  <c:pt idx="16">
                    <c:v>847</c:v>
                  </c:pt>
                  <c:pt idx="17">
                    <c:v>848</c:v>
                  </c:pt>
                  <c:pt idx="18">
                    <c:v>849</c:v>
                  </c:pt>
                  <c:pt idx="19">
                    <c:v>850</c:v>
                  </c:pt>
                  <c:pt idx="20">
                    <c:v>851</c:v>
                  </c:pt>
                  <c:pt idx="21">
                    <c:v>852</c:v>
                  </c:pt>
                  <c:pt idx="22">
                    <c:v>853</c:v>
                  </c:pt>
                  <c:pt idx="23">
                    <c:v>854</c:v>
                  </c:pt>
                  <c:pt idx="24">
                    <c:v>855</c:v>
                  </c:pt>
                  <c:pt idx="25">
                    <c:v>856</c:v>
                  </c:pt>
                  <c:pt idx="26">
                    <c:v>857</c:v>
                  </c:pt>
                  <c:pt idx="27">
                    <c:v>858</c:v>
                  </c:pt>
                  <c:pt idx="28">
                    <c:v>859</c:v>
                  </c:pt>
                  <c:pt idx="29">
                    <c:v>860</c:v>
                  </c:pt>
                  <c:pt idx="30">
                    <c:v>861</c:v>
                  </c:pt>
                  <c:pt idx="31">
                    <c:v>862</c:v>
                  </c:pt>
                  <c:pt idx="32">
                    <c:v>863</c:v>
                  </c:pt>
                  <c:pt idx="33">
                    <c:v>864</c:v>
                  </c:pt>
                  <c:pt idx="34">
                    <c:v>865</c:v>
                  </c:pt>
                  <c:pt idx="35">
                    <c:v>866</c:v>
                  </c:pt>
                  <c:pt idx="36">
                    <c:v>867</c:v>
                  </c:pt>
                  <c:pt idx="37">
                    <c:v>868</c:v>
                  </c:pt>
                  <c:pt idx="38">
                    <c:v>869</c:v>
                  </c:pt>
                  <c:pt idx="39">
                    <c:v>870</c:v>
                  </c:pt>
                  <c:pt idx="40">
                    <c:v>871</c:v>
                  </c:pt>
                  <c:pt idx="41">
                    <c:v>872</c:v>
                  </c:pt>
                  <c:pt idx="42">
                    <c:v>873</c:v>
                  </c:pt>
                  <c:pt idx="43">
                    <c:v>874</c:v>
                  </c:pt>
                  <c:pt idx="44">
                    <c:v>875</c:v>
                  </c:pt>
                  <c:pt idx="45">
                    <c:v>876</c:v>
                  </c:pt>
                  <c:pt idx="46">
                    <c:v>877</c:v>
                  </c:pt>
                  <c:pt idx="47">
                    <c:v>878</c:v>
                  </c:pt>
                  <c:pt idx="48">
                    <c:v>879</c:v>
                  </c:pt>
                  <c:pt idx="49">
                    <c:v>880</c:v>
                  </c:pt>
                  <c:pt idx="50">
                    <c:v>881</c:v>
                  </c:pt>
                  <c:pt idx="51">
                    <c:v>882</c:v>
                  </c:pt>
                  <c:pt idx="52">
                    <c:v>883</c:v>
                  </c:pt>
                  <c:pt idx="53">
                    <c:v>884</c:v>
                  </c:pt>
                  <c:pt idx="54">
                    <c:v>885</c:v>
                  </c:pt>
                  <c:pt idx="55">
                    <c:v>886</c:v>
                  </c:pt>
                  <c:pt idx="56">
                    <c:v>887</c:v>
                  </c:pt>
                  <c:pt idx="57">
                    <c:v>888</c:v>
                  </c:pt>
                  <c:pt idx="58">
                    <c:v>889</c:v>
                  </c:pt>
                  <c:pt idx="59">
                    <c:v>890</c:v>
                  </c:pt>
                  <c:pt idx="60">
                    <c:v>891</c:v>
                  </c:pt>
                  <c:pt idx="61">
                    <c:v>892</c:v>
                  </c:pt>
                  <c:pt idx="62">
                    <c:v>893</c:v>
                  </c:pt>
                  <c:pt idx="63">
                    <c:v>894</c:v>
                  </c:pt>
                  <c:pt idx="64">
                    <c:v>895</c:v>
                  </c:pt>
                  <c:pt idx="65">
                    <c:v>896</c:v>
                  </c:pt>
                  <c:pt idx="66">
                    <c:v>897</c:v>
                  </c:pt>
                  <c:pt idx="67">
                    <c:v>898</c:v>
                  </c:pt>
                  <c:pt idx="68">
                    <c:v>899</c:v>
                  </c:pt>
                  <c:pt idx="69">
                    <c:v>900</c:v>
                  </c:pt>
                </c:lvl>
              </c:multiLvlStrCache>
            </c:multiLvlStrRef>
          </c:cat>
          <c:val>
            <c:numRef>
              <c:f>Sheet1!$C$2:$C$71</c:f>
              <c:numCache>
                <c:formatCode>General</c:formatCode>
                <c:ptCount val="70"/>
                <c:pt idx="0">
                  <c:v>0.0204</c:v>
                </c:pt>
                <c:pt idx="1">
                  <c:v>0.0204</c:v>
                </c:pt>
                <c:pt idx="2">
                  <c:v>0.0204</c:v>
                </c:pt>
                <c:pt idx="3">
                  <c:v>0.0204</c:v>
                </c:pt>
                <c:pt idx="4">
                  <c:v>0.0204</c:v>
                </c:pt>
                <c:pt idx="5">
                  <c:v>0.0204</c:v>
                </c:pt>
                <c:pt idx="6">
                  <c:v>0.0204</c:v>
                </c:pt>
                <c:pt idx="7">
                  <c:v>0.0204</c:v>
                </c:pt>
                <c:pt idx="8">
                  <c:v>0.0204</c:v>
                </c:pt>
                <c:pt idx="9">
                  <c:v>0.0204</c:v>
                </c:pt>
                <c:pt idx="10">
                  <c:v>0.0204</c:v>
                </c:pt>
                <c:pt idx="11">
                  <c:v>0.0204</c:v>
                </c:pt>
                <c:pt idx="12">
                  <c:v>0.0204</c:v>
                </c:pt>
                <c:pt idx="13">
                  <c:v>0.0204</c:v>
                </c:pt>
                <c:pt idx="14">
                  <c:v>0.0204</c:v>
                </c:pt>
                <c:pt idx="15">
                  <c:v>0.0204</c:v>
                </c:pt>
                <c:pt idx="16">
                  <c:v>0.0204</c:v>
                </c:pt>
                <c:pt idx="17">
                  <c:v>0.0204</c:v>
                </c:pt>
                <c:pt idx="18">
                  <c:v>0.0204</c:v>
                </c:pt>
                <c:pt idx="19">
                  <c:v>0.0204</c:v>
                </c:pt>
                <c:pt idx="20">
                  <c:v>0.0204</c:v>
                </c:pt>
                <c:pt idx="21">
                  <c:v>0.0204</c:v>
                </c:pt>
                <c:pt idx="22">
                  <c:v>0.0204</c:v>
                </c:pt>
                <c:pt idx="23">
                  <c:v>0.0204</c:v>
                </c:pt>
                <c:pt idx="24">
                  <c:v>0.0204</c:v>
                </c:pt>
                <c:pt idx="25">
                  <c:v>0.0204</c:v>
                </c:pt>
                <c:pt idx="26">
                  <c:v>0.0204</c:v>
                </c:pt>
                <c:pt idx="27">
                  <c:v>0.0204</c:v>
                </c:pt>
                <c:pt idx="28">
                  <c:v>0.0204</c:v>
                </c:pt>
                <c:pt idx="29">
                  <c:v>0.0204</c:v>
                </c:pt>
                <c:pt idx="30">
                  <c:v>0.0204</c:v>
                </c:pt>
                <c:pt idx="31">
                  <c:v>0.0204</c:v>
                </c:pt>
                <c:pt idx="32">
                  <c:v>0.0204</c:v>
                </c:pt>
                <c:pt idx="33">
                  <c:v>0.0204</c:v>
                </c:pt>
                <c:pt idx="34">
                  <c:v>0.0204</c:v>
                </c:pt>
                <c:pt idx="35">
                  <c:v>0.0204</c:v>
                </c:pt>
                <c:pt idx="36">
                  <c:v>0.0204</c:v>
                </c:pt>
                <c:pt idx="37">
                  <c:v>0.0204</c:v>
                </c:pt>
                <c:pt idx="38">
                  <c:v>0.0204</c:v>
                </c:pt>
                <c:pt idx="39">
                  <c:v>0.0204</c:v>
                </c:pt>
                <c:pt idx="40">
                  <c:v>0.0204</c:v>
                </c:pt>
                <c:pt idx="41">
                  <c:v>0.0204</c:v>
                </c:pt>
                <c:pt idx="42">
                  <c:v>0.0204</c:v>
                </c:pt>
                <c:pt idx="43">
                  <c:v>0.0204</c:v>
                </c:pt>
                <c:pt idx="44">
                  <c:v>0.0204</c:v>
                </c:pt>
                <c:pt idx="45">
                  <c:v>0.0204</c:v>
                </c:pt>
                <c:pt idx="46">
                  <c:v>0.0204</c:v>
                </c:pt>
                <c:pt idx="47">
                  <c:v>0.0204</c:v>
                </c:pt>
                <c:pt idx="48">
                  <c:v>0.0204</c:v>
                </c:pt>
                <c:pt idx="49">
                  <c:v>0.0204</c:v>
                </c:pt>
                <c:pt idx="50">
                  <c:v>0.0204</c:v>
                </c:pt>
                <c:pt idx="51">
                  <c:v>0.0204</c:v>
                </c:pt>
                <c:pt idx="52">
                  <c:v>0.0204</c:v>
                </c:pt>
                <c:pt idx="53">
                  <c:v>0.0204</c:v>
                </c:pt>
                <c:pt idx="54">
                  <c:v>0.0204</c:v>
                </c:pt>
                <c:pt idx="55">
                  <c:v>0.0204</c:v>
                </c:pt>
                <c:pt idx="56">
                  <c:v>0.0204</c:v>
                </c:pt>
                <c:pt idx="57">
                  <c:v>0.0204</c:v>
                </c:pt>
                <c:pt idx="58">
                  <c:v>0.0204</c:v>
                </c:pt>
                <c:pt idx="59">
                  <c:v>0.0204</c:v>
                </c:pt>
                <c:pt idx="60">
                  <c:v>0.0204</c:v>
                </c:pt>
                <c:pt idx="61">
                  <c:v>0.0204</c:v>
                </c:pt>
                <c:pt idx="62">
                  <c:v>0.0204</c:v>
                </c:pt>
                <c:pt idx="63">
                  <c:v>0.0204</c:v>
                </c:pt>
                <c:pt idx="64">
                  <c:v>0.0204</c:v>
                </c:pt>
                <c:pt idx="65">
                  <c:v>0.0204</c:v>
                </c:pt>
                <c:pt idx="66">
                  <c:v>0.0204</c:v>
                </c:pt>
                <c:pt idx="67">
                  <c:v>0.0204</c:v>
                </c:pt>
                <c:pt idx="68">
                  <c:v>0.0204</c:v>
                </c:pt>
                <c:pt idx="69">
                  <c:v>0.0204</c:v>
                </c:pt>
              </c:numCache>
            </c:numRef>
          </c:val>
          <c:smooth val="0"/>
        </c:ser>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24324F"/>
            </a:solidFill>
            <a:prstDash val="solid"/>
            <a:round/>
          </a:ln>
        </c:spPr>
        <c:txPr>
          <a:bodyPr/>
          <a:lstStyle/>
          <a:p>
            <a:pPr>
              <a:defRPr sz="1100" b="0" i="0" u="none" strike="noStrike">
                <a:solidFill>
                  <a:srgbClr val="A9B6CC"/>
                </a:solidFill>
                <a:latin typeface="+mn-lt"/>
              </a:defRPr>
            </a:pPr>
            <a:endParaRPr lang="en-US"/>
          </a:p>
        </c:txPr>
        <c:crossAx val="2094734552"/>
        <c:crosses val="autoZero"/>
        <c:auto val="1"/>
        <c:lblAlgn val="ctr"/>
        <c:noMultiLvlLbl val="1"/>
        <c:tickLblSkip val="10"/>
      </c:catAx>
      <c:valAx>
        <c:axId val="2094734552"/>
        <c:scaling>
          <c:orientation val="minMax"/>
        </c:scaling>
        <c:delete val="0"/>
        <c:axPos val="l"/>
        <c:majorGridlines>
          <c:spPr>
            <a:ln w="6350" cap="flat">
              <a:solidFill>
                <a:srgbClr val="24324F"/>
              </a:solidFill>
              <a:prstDash val="solid"/>
              <a:round/>
            </a:ln>
          </c:spPr>
        </c:majorGridlines>
        <c:numFmt formatCode="0.00" sourceLinked="0"/>
        <c:majorTickMark val="out"/>
        <c:minorTickMark val="none"/>
        <c:tickLblPos val="nextTo"/>
        <c:spPr>
          <a:ln w="12700" cap="flat">
            <a:solidFill>
              <a:srgbClr val="24324F"/>
            </a:solidFill>
            <a:prstDash val="solid"/>
            <a:round/>
          </a:ln>
        </c:spPr>
        <c:txPr>
          <a:bodyPr/>
          <a:lstStyle/>
          <a:p>
            <a:pPr>
              <a:defRPr sz="1100" b="0" i="0" u="none" strike="noStrike">
                <a:solidFill>
                  <a:srgbClr val="A9B6CC"/>
                </a:solidFill>
                <a:latin typeface="+mn-lt"/>
              </a:defRPr>
            </a:pPr>
            <a:endParaRPr lang="en-US"/>
          </a:p>
        </c:txPr>
        <c:crossAx val="2094734554"/>
        <c:crosses val="autoZero"/>
        <c:crossBetween val="between"/>
      </c:valAx>
      <c:spPr>
        <a:solidFill>
          <a:srgbClr val="0A1222"/>
        </a:solidFill>
        <a:ln>
          <a:noFill/>
        </a:ln>
        <a:effectLst/>
      </c:spPr>
    </c:plotArea>
    <c:legend>
      <c:legendPos val="r"/>
      <c:overlay val="0"/>
      <c:txPr>
        <a:bodyPr/>
        <a:lstStyle/>
        <a:p>
          <a:pPr>
            <a:defRPr sz="1100">
              <a:solidFill>
                <a:srgbClr val="A9B6CC"/>
              </a:solidFill>
              <a:latin typeface="+mn-lt"/>
              <a:cs typeface="+mn-lt"/>
            </a:defRPr>
          </a:pPr>
          <a:endParaRPr lang="en-US"/>
        </a:p>
      </c:txPr>
    </c:legend>
    <c:plotVisOnly val="1"/>
    <c:dispBlanksAs val="span"/>
  </c:chart>
  <c:spPr>
    <a:solidFill>
      <a:srgbClr val="0A122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mn-lt"/>
              </a:defRPr>
            </a:pPr>
            <a:r>
              <a:rPr sz="1300" b="0" i="0" u="none" strike="noStrike">
                <a:solidFill>
                  <a:srgbClr val="FFFFFF"/>
                </a:solidFill>
                <a:latin typeface="+mn-lt"/>
              </a:rPr>
              <a:t>Feature importance (final model, |std. coefficient|)</a:t>
            </a:r>
          </a:p>
        </c:rich>
      </c:tx>
      <c:layout/>
      <c:overlay val="0"/>
    </c:title>
    <c:autoTitleDeleted val="0"/>
    <c:plotArea>
      <c:layout/>
      <c:barChart>
        <c:barDir val="bar"/>
        <c:grouping val="clustered"/>
        <c:varyColors val="0"/>
        <c:ser>
          <c:idx val="0"/>
          <c:order val="0"/>
          <c:tx>
            <c:strRef>
              <c:f>Sheet1!$B$1</c:f>
              <c:strCache>
                <c:ptCount val="1"/>
                <c:pt idx="0">
                  <c:v>|standardised coefficient|</c:v>
                </c:pt>
              </c:strCache>
            </c:strRef>
          </c:tx>
          <c:spPr>
            <a:solidFill>
              <a:srgbClr val="21C17A"/>
            </a:solidFill>
            <a:effectLst/>
          </c:spPr>
          <c:invertIfNegative val="0"/>
          <c:dLbls>
            <c:numFmt formatCode="0.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Sheet1!$A$2:$A$11</c:f>
              <c:multiLvlStrCache>
                <c:ptCount val="10"/>
                <c:lvl>
                  <c:pt idx="0">
                    <c:v>momentum, 5-day</c:v>
                  </c:pt>
                  <c:pt idx="1">
                    <c:v>volume z, lag 2</c:v>
                  </c:pt>
                  <c:pt idx="2">
                    <c:v>1-day return</c:v>
                  </c:pt>
                  <c:pt idx="3">
                    <c:v>SMA10/SMA30</c:v>
                  </c:pt>
                  <c:pt idx="4">
                    <c:v>order flow, lag 2</c:v>
                  </c:pt>
                  <c:pt idx="5">
                    <c:v>SMA10/SMA30 ÷ σ</c:v>
                  </c:pt>
                  <c:pt idx="6">
                    <c:v>1-day return ÷ σ</c:v>
                  </c:pt>
                  <c:pt idx="7">
                    <c:v>RSI-14</c:v>
                  </c:pt>
                  <c:pt idx="8">
                    <c:v>momentum ÷ σ√5</c:v>
                  </c:pt>
                  <c:pt idx="9">
                    <c:v>open/SMA10 ÷ σ</c:v>
                  </c:pt>
                </c:lvl>
              </c:multiLvlStrCache>
            </c:multiLvlStrRef>
          </c:cat>
          <c:val>
            <c:numRef>
              <c:f>Sheet1!$B$2:$B$11</c:f>
              <c:numCache>
                <c:formatCode>General</c:formatCode>
                <c:ptCount val="10"/>
                <c:pt idx="0">
                  <c:v>0.07</c:v>
                </c:pt>
                <c:pt idx="1">
                  <c:v>0.087</c:v>
                </c:pt>
                <c:pt idx="2">
                  <c:v>0.099</c:v>
                </c:pt>
                <c:pt idx="3">
                  <c:v>0.112</c:v>
                </c:pt>
                <c:pt idx="4">
                  <c:v>0.117</c:v>
                </c:pt>
                <c:pt idx="5">
                  <c:v>0.168</c:v>
                </c:pt>
                <c:pt idx="6">
                  <c:v>0.189</c:v>
                </c:pt>
                <c:pt idx="7">
                  <c:v>0.256</c:v>
                </c:pt>
                <c:pt idx="8">
                  <c:v>0.338</c:v>
                </c:pt>
                <c:pt idx="9">
                  <c:v>0.578</c:v>
                </c:pt>
              </c:numCache>
            </c:numRef>
          </c:val>
        </c:ser>
        <c:dLbls>
          <c:numFmt formatCode="0.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24324F"/>
            </a:solidFill>
            <a:prstDash val="solid"/>
            <a:round/>
          </a:ln>
        </c:spPr>
        <c:txPr>
          <a:bodyPr/>
          <a:lstStyle/>
          <a:p>
            <a:pPr>
              <a:defRPr sz="1100" b="0" i="0" u="none" strike="noStrike">
                <a:solidFill>
                  <a:srgbClr val="A9B6CC"/>
                </a:solidFill>
                <a:latin typeface="+mn-lt"/>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24324F"/>
              </a:solidFill>
              <a:prstDash val="solid"/>
              <a:round/>
            </a:ln>
          </c:spPr>
        </c:majorGridlines>
        <c:numFmt formatCode="General" sourceLinked="0"/>
        <c:majorTickMark val="out"/>
        <c:minorTickMark val="none"/>
        <c:tickLblPos val="low"/>
        <c:spPr>
          <a:ln w="12700" cap="flat">
            <a:solidFill>
              <a:srgbClr val="24324F"/>
            </a:solidFill>
            <a:prstDash val="solid"/>
            <a:round/>
          </a:ln>
        </c:spPr>
        <c:txPr>
          <a:bodyPr/>
          <a:lstStyle/>
          <a:p>
            <a:pPr>
              <a:defRPr sz="1100" b="0" i="0" u="none" strike="noStrike">
                <a:solidFill>
                  <a:srgbClr val="A9B6CC"/>
                </a:solidFill>
                <a:latin typeface="+mn-lt"/>
              </a:defRPr>
            </a:pPr>
            <a:endParaRPr lang="en-US"/>
          </a:p>
        </c:txPr>
        <c:crossAx val="2094734554"/>
        <c:crosses val="autoZero"/>
        <c:crossBetween val="between"/>
      </c:valAx>
      <c:spPr>
        <a:solidFill>
          <a:srgbClr val="0A1222"/>
        </a:solidFill>
        <a:ln>
          <a:noFill/>
        </a:ln>
        <a:effectLst/>
      </c:spPr>
    </c:plotArea>
    <c:plotVisOnly val="1"/>
    <c:dispBlanksAs val="span"/>
  </c:chart>
  <c:spPr>
    <a:solidFill>
      <a:srgbClr val="0A122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mn-lt"/>
              </a:defRPr>
            </a:pPr>
            <a:r>
              <a:rPr sz="1300" b="0" i="0" u="none" strike="noStrike">
                <a:solidFill>
                  <a:srgbClr val="FFFFFF"/>
                </a:solidFill>
                <a:latin typeface="+mn-lt"/>
              </a:rPr>
              <a:t>Round 2 log loss (lower is better)</a:t>
            </a:r>
          </a:p>
        </c:rich>
      </c:tx>
      <c:layout/>
      <c:overlay val="0"/>
    </c:title>
    <c:autoTitleDeleted val="0"/>
    <c:plotArea>
      <c:layout/>
      <c:barChart>
        <c:barDir val="col"/>
        <c:grouping val="clustered"/>
        <c:varyColors val="0"/>
        <c:ser>
          <c:idx val="0"/>
          <c:order val="0"/>
          <c:tx>
            <c:strRef>
              <c:f>Sheet1!$B$1</c:f>
              <c:strCache>
                <c:ptCount val="1"/>
                <c:pt idx="0">
                  <c:v>Real validation</c:v>
                </c:pt>
              </c:strCache>
            </c:strRef>
          </c:tx>
          <c:spPr>
            <a:solidFill>
              <a:srgbClr val="8FB3E8"/>
            </a:solidFill>
            <a:effectLst/>
          </c:spPr>
          <c:invertIfNegative val="0"/>
          <c:dLbls>
            <c:numFmt formatCode="0.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Sheet1!$A$2:$A$6</c:f>
              <c:multiLvlStrCache>
                <c:ptCount val="5"/>
                <c:lvl>
                  <c:pt idx="0">
                    <c:v>LR standard</c:v>
                  </c:pt>
                  <c:pt idx="1">
                    <c:v>LR + MC</c:v>
                  </c:pt>
                  <c:pt idx="2">
                    <c:v>LR MC+worst</c:v>
                  </c:pt>
                  <c:pt idx="3">
                    <c:v>LSTM standard</c:v>
                  </c:pt>
                  <c:pt idx="4">
                    <c:v>LSTM MC+worst</c:v>
                  </c:pt>
                </c:lvl>
              </c:multiLvlStrCache>
            </c:multiLvlStrRef>
          </c:cat>
          <c:val>
            <c:numRef>
              <c:f>Sheet1!$B$2:$B$6</c:f>
              <c:numCache>
                <c:formatCode>General</c:formatCode>
                <c:ptCount val="5"/>
                <c:pt idx="0">
                  <c:v>0.7136</c:v>
                </c:pt>
                <c:pt idx="1">
                  <c:v>0.7087</c:v>
                </c:pt>
                <c:pt idx="2">
                  <c:v>0.6998</c:v>
                </c:pt>
                <c:pt idx="3">
                  <c:v>0.7592</c:v>
                </c:pt>
                <c:pt idx="4">
                  <c:v>0.6994</c:v>
                </c:pt>
              </c:numCache>
            </c:numRef>
          </c:val>
        </c:ser>
        <c:ser>
          <c:idx val="1"/>
          <c:order val="1"/>
          <c:tx>
            <c:strRef>
              <c:f>Sheet1!$C$1</c:f>
              <c:strCache>
                <c:ptCount val="1"/>
                <c:pt idx="0">
                  <c:v>Simulated crash (synthetic)</c:v>
                </c:pt>
              </c:strCache>
            </c:strRef>
          </c:tx>
          <c:spPr>
            <a:solidFill>
              <a:srgbClr val="EF4B4B"/>
            </a:solidFill>
            <a:effectLst/>
          </c:spPr>
          <c:invertIfNegative val="0"/>
          <c:dLbls>
            <c:numFmt formatCode="0.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Sheet1!$A$2:$A$6</c:f>
              <c:multiLvlStrCache>
                <c:ptCount val="5"/>
                <c:lvl>
                  <c:pt idx="0">
                    <c:v>LR standard</c:v>
                  </c:pt>
                  <c:pt idx="1">
                    <c:v>LR + MC</c:v>
                  </c:pt>
                  <c:pt idx="2">
                    <c:v>LR MC+worst</c:v>
                  </c:pt>
                  <c:pt idx="3">
                    <c:v>LSTM standard</c:v>
                  </c:pt>
                  <c:pt idx="4">
                    <c:v>LSTM MC+worst</c:v>
                  </c:pt>
                </c:lvl>
              </c:multiLvlStrCache>
            </c:multiLvlStrRef>
          </c:cat>
          <c:val>
            <c:numRef>
              <c:f>Sheet1!$C$2:$C$6</c:f>
              <c:numCache>
                <c:formatCode>General</c:formatCode>
                <c:ptCount val="5"/>
                <c:pt idx="0">
                  <c:v>1.221</c:v>
                </c:pt>
                <c:pt idx="1">
                  <c:v>0.704</c:v>
                </c:pt>
                <c:pt idx="2">
                  <c:v>0.694</c:v>
                </c:pt>
                <c:pt idx="3">
                  <c:v>0.707</c:v>
                </c:pt>
                <c:pt idx="4">
                  <c:v>0.691</c:v>
                </c:pt>
              </c:numCache>
            </c:numRef>
          </c:val>
        </c:ser>
        <c:dLbls>
          <c:numFmt formatCode="0.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4324F"/>
            </a:solidFill>
            <a:prstDash val="solid"/>
            <a:round/>
          </a:ln>
        </c:spPr>
        <c:txPr>
          <a:bodyPr/>
          <a:lstStyle/>
          <a:p>
            <a:pPr>
              <a:defRPr sz="1100" b="0" i="0" u="none" strike="noStrike">
                <a:solidFill>
                  <a:srgbClr val="A9B6CC"/>
                </a:solidFill>
                <a:latin typeface="+mn-lt"/>
              </a:defRPr>
            </a:pPr>
            <a:endParaRPr lang="en-US"/>
          </a:p>
        </c:txPr>
        <c:crossAx val="2094734552"/>
        <c:crosses val="autoZero"/>
        <c:auto val="1"/>
        <c:lblAlgn val="ctr"/>
        <c:noMultiLvlLbl val="1"/>
      </c:catAx>
      <c:valAx>
        <c:axId val="2094734552"/>
        <c:scaling>
          <c:orientation val="minMax"/>
          <c:max val="1.3"/>
          <c:min val="0.6"/>
        </c:scaling>
        <c:delete val="0"/>
        <c:axPos val="l"/>
        <c:majorGridlines>
          <c:spPr>
            <a:ln w="6350" cap="flat">
              <a:solidFill>
                <a:srgbClr val="24324F"/>
              </a:solidFill>
              <a:prstDash val="solid"/>
              <a:round/>
            </a:ln>
          </c:spPr>
        </c:majorGridlines>
        <c:numFmt formatCode="0.0" sourceLinked="0"/>
        <c:majorTickMark val="out"/>
        <c:minorTickMark val="none"/>
        <c:tickLblPos val="nextTo"/>
        <c:spPr>
          <a:ln w="12700" cap="flat">
            <a:solidFill>
              <a:srgbClr val="24324F"/>
            </a:solidFill>
            <a:prstDash val="solid"/>
            <a:round/>
          </a:ln>
        </c:spPr>
        <c:txPr>
          <a:bodyPr/>
          <a:lstStyle/>
          <a:p>
            <a:pPr>
              <a:defRPr sz="1100" b="0" i="0" u="none" strike="noStrike">
                <a:solidFill>
                  <a:srgbClr val="A9B6CC"/>
                </a:solidFill>
                <a:latin typeface="+mn-lt"/>
              </a:defRPr>
            </a:pPr>
            <a:endParaRPr lang="en-US"/>
          </a:p>
        </c:txPr>
        <c:crossAx val="2094734554"/>
        <c:crosses val="autoZero"/>
        <c:crossBetween val="between"/>
      </c:valAx>
      <c:spPr>
        <a:solidFill>
          <a:srgbClr val="0A1222"/>
        </a:solidFill>
        <a:ln>
          <a:noFill/>
        </a:ln>
        <a:effectLst/>
      </c:spPr>
    </c:plotArea>
    <c:legend>
      <c:legendPos val="b"/>
      <c:overlay val="0"/>
      <c:txPr>
        <a:bodyPr/>
        <a:lstStyle/>
        <a:p>
          <a:pPr>
            <a:defRPr sz="1100">
              <a:solidFill>
                <a:srgbClr val="A9B6CC"/>
              </a:solidFill>
              <a:latin typeface="+mn-lt"/>
              <a:cs typeface="+mn-lt"/>
            </a:defRPr>
          </a:pPr>
          <a:endParaRPr lang="en-US"/>
        </a:p>
      </c:txPr>
    </c:legend>
    <c:plotVisOnly val="1"/>
    <c:dispBlanksAs val="span"/>
  </c:chart>
  <c:spPr>
    <a:solidFill>
      <a:srgbClr val="0A122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mn-lt"/>
              </a:defRPr>
            </a:pPr>
            <a:r>
              <a:rPr sz="1300" b="0" i="0" u="none" strike="noStrike">
                <a:solidFill>
                  <a:srgbClr val="FFFFFF"/>
                </a:solidFill>
                <a:latin typeface="+mn-lt"/>
              </a:rPr>
              <a:t>Policy backtest, net of 10 bps (8 real blocks, 1,600 crash paths)</a:t>
            </a:r>
          </a:p>
        </c:rich>
      </c:tx>
      <c:layout/>
      <c:overlay val="0"/>
    </c:title>
    <c:autoTitleDeleted val="0"/>
    <c:plotArea>
      <c:layout/>
      <c:barChart>
        <c:barDir val="col"/>
        <c:grouping val="clustered"/>
        <c:varyColors val="0"/>
        <c:ser>
          <c:idx val="0"/>
          <c:order val="0"/>
          <c:tx>
            <c:strRef>
              <c:f>Sheet1!$B$1</c:f>
              <c:strCache>
                <c:ptCount val="1"/>
                <c:pt idx="0">
                  <c:v>Real walk-forward Sharpe</c:v>
                </c:pt>
              </c:strCache>
            </c:strRef>
          </c:tx>
          <c:spPr>
            <a:solidFill>
              <a:srgbClr val="8FB3E8"/>
            </a:solidFill>
            <a:effectLst/>
          </c:spPr>
          <c:invertIfNegative val="0"/>
          <c:dLbls>
            <c:numFmt formatCode="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Sheet1!$A$2:$A$7</c:f>
              <c:multiLvlStrCache>
                <c:ptCount val="6"/>
                <c:lvl>
                  <c:pt idx="0">
                    <c:v>Full long</c:v>
                  </c:pt>
                  <c:pt idx="1">
                    <c:v>Vol-scaled long</c:v>
                  </c:pt>
                  <c:pt idx="2">
                    <c:v>Blend</c:v>
                  </c:pt>
                  <c:pt idx="3">
                    <c:v>Model only</c:v>
                  </c:pt>
                  <c:pt idx="4">
                    <c:v>Trend</c:v>
                  </c:pt>
                  <c:pt idx="5">
                    <c:v>Regime switch ✓</c:v>
                  </c:pt>
                </c:lvl>
              </c:multiLvlStrCache>
            </c:multiLvlStrRef>
          </c:cat>
          <c:val>
            <c:numRef>
              <c:f>Sheet1!$B$2:$B$7</c:f>
              <c:numCache>
                <c:formatCode>General</c:formatCode>
                <c:ptCount val="6"/>
                <c:pt idx="0">
                  <c:v>1.05</c:v>
                </c:pt>
                <c:pt idx="1">
                  <c:v>0.94</c:v>
                </c:pt>
                <c:pt idx="2">
                  <c:v>0.27</c:v>
                </c:pt>
                <c:pt idx="3">
                  <c:v>-0.7</c:v>
                </c:pt>
                <c:pt idx="4">
                  <c:v>-0.66</c:v>
                </c:pt>
                <c:pt idx="5">
                  <c:v>0.27</c:v>
                </c:pt>
              </c:numCache>
            </c:numRef>
          </c:val>
        </c:ser>
        <c:ser>
          <c:idx val="1"/>
          <c:order val="1"/>
          <c:tx>
            <c:strRef>
              <c:f>Sheet1!$C$1</c:f>
              <c:strCache>
                <c:ptCount val="1"/>
                <c:pt idx="0">
                  <c:v>MC crash Sharpe</c:v>
                </c:pt>
              </c:strCache>
            </c:strRef>
          </c:tx>
          <c:spPr>
            <a:solidFill>
              <a:srgbClr val="21C17A"/>
            </a:solidFill>
            <a:effectLst/>
          </c:spPr>
          <c:invertIfNegative val="0"/>
          <c:dLbls>
            <c:numFmt formatCode="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Sheet1!$A$2:$A$7</c:f>
              <c:multiLvlStrCache>
                <c:ptCount val="6"/>
                <c:lvl>
                  <c:pt idx="0">
                    <c:v>Full long</c:v>
                  </c:pt>
                  <c:pt idx="1">
                    <c:v>Vol-scaled long</c:v>
                  </c:pt>
                  <c:pt idx="2">
                    <c:v>Blend</c:v>
                  </c:pt>
                  <c:pt idx="3">
                    <c:v>Model only</c:v>
                  </c:pt>
                  <c:pt idx="4">
                    <c:v>Trend</c:v>
                  </c:pt>
                  <c:pt idx="5">
                    <c:v>Regime switch ✓</c:v>
                  </c:pt>
                </c:lvl>
              </c:multiLvlStrCache>
            </c:multiLvlStrRef>
          </c:cat>
          <c:val>
            <c:numRef>
              <c:f>Sheet1!$C$2:$C$7</c:f>
              <c:numCache>
                <c:formatCode>General</c:formatCode>
                <c:ptCount val="6"/>
                <c:pt idx="0">
                  <c:v>-0.69</c:v>
                </c:pt>
                <c:pt idx="1">
                  <c:v>-0.64</c:v>
                </c:pt>
                <c:pt idx="2">
                  <c:v>-0.15</c:v>
                </c:pt>
                <c:pt idx="3">
                  <c:v>0.72</c:v>
                </c:pt>
                <c:pt idx="4">
                  <c:v>-1.1</c:v>
                </c:pt>
                <c:pt idx="5">
                  <c:v>0.73</c:v>
                </c:pt>
              </c:numCache>
            </c:numRef>
          </c:val>
        </c:ser>
        <c:dLbls>
          <c:numFmt formatCode="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4324F"/>
            </a:solidFill>
            <a:prstDash val="solid"/>
            <a:round/>
          </a:ln>
        </c:spPr>
        <c:txPr>
          <a:bodyPr/>
          <a:lstStyle/>
          <a:p>
            <a:pPr>
              <a:defRPr sz="1100" b="0" i="0" u="none" strike="noStrike">
                <a:solidFill>
                  <a:srgbClr val="A9B6CC"/>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4324F"/>
              </a:solidFill>
              <a:prstDash val="solid"/>
              <a:round/>
            </a:ln>
          </c:spPr>
        </c:majorGridlines>
        <c:numFmt formatCode="0.0" sourceLinked="0"/>
        <c:majorTickMark val="out"/>
        <c:minorTickMark val="none"/>
        <c:tickLblPos val="nextTo"/>
        <c:spPr>
          <a:ln w="12700" cap="flat">
            <a:solidFill>
              <a:srgbClr val="24324F"/>
            </a:solidFill>
            <a:prstDash val="solid"/>
            <a:round/>
          </a:ln>
        </c:spPr>
        <c:txPr>
          <a:bodyPr/>
          <a:lstStyle/>
          <a:p>
            <a:pPr>
              <a:defRPr sz="1100" b="0" i="0" u="none" strike="noStrike">
                <a:solidFill>
                  <a:srgbClr val="A9B6CC"/>
                </a:solidFill>
                <a:latin typeface="+mn-lt"/>
              </a:defRPr>
            </a:pPr>
            <a:endParaRPr lang="en-US"/>
          </a:p>
        </c:txPr>
        <c:crossAx val="2094734554"/>
        <c:crosses val="autoZero"/>
        <c:crossBetween val="between"/>
      </c:valAx>
      <c:spPr>
        <a:solidFill>
          <a:srgbClr val="0A1222"/>
        </a:solidFill>
        <a:ln>
          <a:noFill/>
        </a:ln>
        <a:effectLst/>
      </c:spPr>
    </c:plotArea>
    <c:legend>
      <c:legendPos val="b"/>
      <c:overlay val="0"/>
      <c:txPr>
        <a:bodyPr/>
        <a:lstStyle/>
        <a:p>
          <a:pPr>
            <a:defRPr sz="1100">
              <a:solidFill>
                <a:srgbClr val="A9B6CC"/>
              </a:solidFill>
              <a:latin typeface="+mn-lt"/>
              <a:cs typeface="+mn-lt"/>
            </a:defRPr>
          </a:pPr>
          <a:endParaRPr lang="en-US"/>
        </a:p>
      </c:txPr>
    </c:legend>
    <c:plotVisOnly val="1"/>
    <c:dispBlanksAs val="span"/>
  </c:chart>
  <c:spPr>
    <a:solidFill>
      <a:srgbClr val="0A122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mn-lt"/>
              </a:defRPr>
            </a:pPr>
            <a:r>
              <a:rPr sz="1300" b="0" i="0" u="none" strike="noStrike">
                <a:solidFill>
                  <a:srgbClr val="FFFFFF"/>
                </a:solidFill>
                <a:latin typeface="+mn-lt"/>
              </a:rPr>
              <a:t>KESTREL open price, days 831–900</a:t>
            </a:r>
          </a:p>
        </c:rich>
      </c:tx>
      <c:layout/>
      <c:overlay val="0"/>
    </c:title>
    <c:autoTitleDeleted val="0"/>
    <c:plotArea>
      <c:layout/>
      <c:lineChart>
        <c:varyColors val="0"/>
        <c:ser>
          <c:idx val="0"/>
          <c:order val="0"/>
          <c:tx>
            <c:strRef>
              <c:f>Sheet1!$B$1</c:f>
              <c:strCache>
                <c:ptCount val="1"/>
                <c:pt idx="0">
                  <c:v>Open price</c:v>
                </c:pt>
              </c:strCache>
            </c:strRef>
          </c:tx>
          <c:spPr>
            <a:solidFill>
              <a:srgbClr val="D9B44A"/>
            </a:solidFill>
            <a:ln w="25400" cap="flat">
              <a:solidFill>
                <a:srgbClr val="D9B44A"/>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D9B44A"/>
              </a:solidFill>
              <a:ln w="9525" cap="flat">
                <a:solidFill>
                  <a:srgbClr val="D9B44A"/>
                </a:solidFill>
                <a:prstDash val="solid"/>
                <a:round/>
              </a:ln>
              <a:effectLst/>
            </c:spPr>
          </c:marker>
          <c:cat>
            <c:multiLvlStrRef>
              <c:f>Sheet1!$A$2:$A$71</c:f>
              <c:multiLvlStrCache>
                <c:ptCount val="70"/>
                <c:lvl>
                  <c:pt idx="0">
                    <c:v>831</c:v>
                  </c:pt>
                  <c:pt idx="1">
                    <c:v>832</c:v>
                  </c:pt>
                  <c:pt idx="2">
                    <c:v>833</c:v>
                  </c:pt>
                  <c:pt idx="3">
                    <c:v>834</c:v>
                  </c:pt>
                  <c:pt idx="4">
                    <c:v>835</c:v>
                  </c:pt>
                  <c:pt idx="5">
                    <c:v>836</c:v>
                  </c:pt>
                  <c:pt idx="6">
                    <c:v>837</c:v>
                  </c:pt>
                  <c:pt idx="7">
                    <c:v>838</c:v>
                  </c:pt>
                  <c:pt idx="8">
                    <c:v>839</c:v>
                  </c:pt>
                  <c:pt idx="9">
                    <c:v>840</c:v>
                  </c:pt>
                  <c:pt idx="10">
                    <c:v>841</c:v>
                  </c:pt>
                  <c:pt idx="11">
                    <c:v>842</c:v>
                  </c:pt>
                  <c:pt idx="12">
                    <c:v>843</c:v>
                  </c:pt>
                  <c:pt idx="13">
                    <c:v>844</c:v>
                  </c:pt>
                  <c:pt idx="14">
                    <c:v>845</c:v>
                  </c:pt>
                  <c:pt idx="15">
                    <c:v>846</c:v>
                  </c:pt>
                  <c:pt idx="16">
                    <c:v>847</c:v>
                  </c:pt>
                  <c:pt idx="17">
                    <c:v>848</c:v>
                  </c:pt>
                  <c:pt idx="18">
                    <c:v>849</c:v>
                  </c:pt>
                  <c:pt idx="19">
                    <c:v>850</c:v>
                  </c:pt>
                  <c:pt idx="20">
                    <c:v>851</c:v>
                  </c:pt>
                  <c:pt idx="21">
                    <c:v>852</c:v>
                  </c:pt>
                  <c:pt idx="22">
                    <c:v>853</c:v>
                  </c:pt>
                  <c:pt idx="23">
                    <c:v>854</c:v>
                  </c:pt>
                  <c:pt idx="24">
                    <c:v>855</c:v>
                  </c:pt>
                  <c:pt idx="25">
                    <c:v>856</c:v>
                  </c:pt>
                  <c:pt idx="26">
                    <c:v>857</c:v>
                  </c:pt>
                  <c:pt idx="27">
                    <c:v>858</c:v>
                  </c:pt>
                  <c:pt idx="28">
                    <c:v>859</c:v>
                  </c:pt>
                  <c:pt idx="29">
                    <c:v>860</c:v>
                  </c:pt>
                  <c:pt idx="30">
                    <c:v>861</c:v>
                  </c:pt>
                  <c:pt idx="31">
                    <c:v>862</c:v>
                  </c:pt>
                  <c:pt idx="32">
                    <c:v>863</c:v>
                  </c:pt>
                  <c:pt idx="33">
                    <c:v>864</c:v>
                  </c:pt>
                  <c:pt idx="34">
                    <c:v>865</c:v>
                  </c:pt>
                  <c:pt idx="35">
                    <c:v>866</c:v>
                  </c:pt>
                  <c:pt idx="36">
                    <c:v>867</c:v>
                  </c:pt>
                  <c:pt idx="37">
                    <c:v>868</c:v>
                  </c:pt>
                  <c:pt idx="38">
                    <c:v>869</c:v>
                  </c:pt>
                  <c:pt idx="39">
                    <c:v>870</c:v>
                  </c:pt>
                  <c:pt idx="40">
                    <c:v>871</c:v>
                  </c:pt>
                  <c:pt idx="41">
                    <c:v>872</c:v>
                  </c:pt>
                  <c:pt idx="42">
                    <c:v>873</c:v>
                  </c:pt>
                  <c:pt idx="43">
                    <c:v>874</c:v>
                  </c:pt>
                  <c:pt idx="44">
                    <c:v>875</c:v>
                  </c:pt>
                  <c:pt idx="45">
                    <c:v>876</c:v>
                  </c:pt>
                  <c:pt idx="46">
                    <c:v>877</c:v>
                  </c:pt>
                  <c:pt idx="47">
                    <c:v>878</c:v>
                  </c:pt>
                  <c:pt idx="48">
                    <c:v>879</c:v>
                  </c:pt>
                  <c:pt idx="49">
                    <c:v>880</c:v>
                  </c:pt>
                  <c:pt idx="50">
                    <c:v>881</c:v>
                  </c:pt>
                  <c:pt idx="51">
                    <c:v>882</c:v>
                  </c:pt>
                  <c:pt idx="52">
                    <c:v>883</c:v>
                  </c:pt>
                  <c:pt idx="53">
                    <c:v>884</c:v>
                  </c:pt>
                  <c:pt idx="54">
                    <c:v>885</c:v>
                  </c:pt>
                  <c:pt idx="55">
                    <c:v>886</c:v>
                  </c:pt>
                  <c:pt idx="56">
                    <c:v>887</c:v>
                  </c:pt>
                  <c:pt idx="57">
                    <c:v>888</c:v>
                  </c:pt>
                  <c:pt idx="58">
                    <c:v>889</c:v>
                  </c:pt>
                  <c:pt idx="59">
                    <c:v>890</c:v>
                  </c:pt>
                  <c:pt idx="60">
                    <c:v>891</c:v>
                  </c:pt>
                  <c:pt idx="61">
                    <c:v>892</c:v>
                  </c:pt>
                  <c:pt idx="62">
                    <c:v>893</c:v>
                  </c:pt>
                  <c:pt idx="63">
                    <c:v>894</c:v>
                  </c:pt>
                  <c:pt idx="64">
                    <c:v>895</c:v>
                  </c:pt>
                  <c:pt idx="65">
                    <c:v>896</c:v>
                  </c:pt>
                  <c:pt idx="66">
                    <c:v>897</c:v>
                  </c:pt>
                  <c:pt idx="67">
                    <c:v>898</c:v>
                  </c:pt>
                  <c:pt idx="68">
                    <c:v>899</c:v>
                  </c:pt>
                  <c:pt idx="69">
                    <c:v>900</c:v>
                  </c:pt>
                </c:lvl>
              </c:multiLvlStrCache>
            </c:multiLvlStrRef>
          </c:cat>
          <c:val>
            <c:numRef>
              <c:f>Sheet1!$B$2:$B$71</c:f>
              <c:numCache>
                <c:formatCode>General</c:formatCode>
                <c:ptCount val="70"/>
                <c:pt idx="0">
                  <c:v>346.39</c:v>
                </c:pt>
                <c:pt idx="1">
                  <c:v>347.84</c:v>
                </c:pt>
                <c:pt idx="2">
                  <c:v>351.11</c:v>
                </c:pt>
                <c:pt idx="3">
                  <c:v>353.01</c:v>
                </c:pt>
                <c:pt idx="4">
                  <c:v>354.32</c:v>
                </c:pt>
                <c:pt idx="5">
                  <c:v>349.28</c:v>
                </c:pt>
                <c:pt idx="6">
                  <c:v>348.5</c:v>
                </c:pt>
                <c:pt idx="7">
                  <c:v>350.72</c:v>
                </c:pt>
                <c:pt idx="8">
                  <c:v>356.6</c:v>
                </c:pt>
                <c:pt idx="9">
                  <c:v>355.05</c:v>
                </c:pt>
                <c:pt idx="10">
                  <c:v>346.2</c:v>
                </c:pt>
                <c:pt idx="11">
                  <c:v>342.27</c:v>
                </c:pt>
                <c:pt idx="12">
                  <c:v>341.15</c:v>
                </c:pt>
                <c:pt idx="13">
                  <c:v>347.81</c:v>
                </c:pt>
                <c:pt idx="14">
                  <c:v>342.98</c:v>
                </c:pt>
                <c:pt idx="15">
                  <c:v>346.91</c:v>
                </c:pt>
                <c:pt idx="16">
                  <c:v>347.15</c:v>
                </c:pt>
                <c:pt idx="17">
                  <c:v>353.83</c:v>
                </c:pt>
                <c:pt idx="18">
                  <c:v>356.4</c:v>
                </c:pt>
                <c:pt idx="19">
                  <c:v>358.32</c:v>
                </c:pt>
                <c:pt idx="20">
                  <c:v>351.5939</c:v>
                </c:pt>
                <c:pt idx="21">
                  <c:v>364.8537</c:v>
                </c:pt>
                <c:pt idx="22">
                  <c:v>397.2838</c:v>
                </c:pt>
                <c:pt idx="23">
                  <c:v>428.7628</c:v>
                </c:pt>
                <c:pt idx="24">
                  <c:v>421.8771</c:v>
                </c:pt>
                <c:pt idx="25">
                  <c:v>399.9296</c:v>
                </c:pt>
                <c:pt idx="26">
                  <c:v>377.9822</c:v>
                </c:pt>
                <c:pt idx="27">
                  <c:v>382.4338</c:v>
                </c:pt>
                <c:pt idx="28">
                  <c:v>388.5315</c:v>
                </c:pt>
                <c:pt idx="29">
                  <c:v>374.0689</c:v>
                </c:pt>
                <c:pt idx="30">
                  <c:v>390.2957</c:v>
                </c:pt>
                <c:pt idx="31">
                  <c:v>377.8733</c:v>
                </c:pt>
                <c:pt idx="32">
                  <c:v>374.7628</c:v>
                </c:pt>
                <c:pt idx="33">
                  <c:v>386.0881</c:v>
                </c:pt>
                <c:pt idx="34">
                  <c:v>371.7423</c:v>
                </c:pt>
                <c:pt idx="35">
                  <c:v>353.5105</c:v>
                </c:pt>
                <c:pt idx="36">
                  <c:v>332.5126</c:v>
                </c:pt>
                <c:pt idx="37">
                  <c:v>320.2878</c:v>
                </c:pt>
                <c:pt idx="38">
                  <c:v>331.7025</c:v>
                </c:pt>
                <c:pt idx="39">
                  <c:v>328.6976</c:v>
                </c:pt>
                <c:pt idx="40">
                  <c:v>313.5996</c:v>
                </c:pt>
                <c:pt idx="41">
                  <c:v>313.2265</c:v>
                </c:pt>
                <c:pt idx="42">
                  <c:v>322.6079</c:v>
                </c:pt>
                <c:pt idx="43">
                  <c:v>327.8936</c:v>
                </c:pt>
                <c:pt idx="44">
                  <c:v>334.9763</c:v>
                </c:pt>
                <c:pt idx="45">
                  <c:v>353.2257</c:v>
                </c:pt>
                <c:pt idx="46">
                  <c:v>362.8262</c:v>
                </c:pt>
                <c:pt idx="47">
                  <c:v>369.883</c:v>
                </c:pt>
                <c:pt idx="48">
                  <c:v>377.9307</c:v>
                </c:pt>
                <c:pt idx="49">
                  <c:v>379.6303</c:v>
                </c:pt>
                <c:pt idx="50">
                  <c:v>350.9617</c:v>
                </c:pt>
                <c:pt idx="51">
                  <c:v>320.0117</c:v>
                </c:pt>
                <c:pt idx="52">
                  <c:v>322.4666</c:v>
                </c:pt>
                <c:pt idx="53">
                  <c:v>324.5572</c:v>
                </c:pt>
                <c:pt idx="54">
                  <c:v>335.0885</c:v>
                </c:pt>
                <c:pt idx="55">
                  <c:v>350.1332</c:v>
                </c:pt>
                <c:pt idx="56">
                  <c:v>348.5794</c:v>
                </c:pt>
                <c:pt idx="57">
                  <c:v>351.0641</c:v>
                </c:pt>
                <c:pt idx="58">
                  <c:v>366.7067</c:v>
                </c:pt>
                <c:pt idx="59">
                  <c:v>362.2289</c:v>
                </c:pt>
                <c:pt idx="60">
                  <c:v>343.7863</c:v>
                </c:pt>
                <c:pt idx="61">
                  <c:v>338.2124</c:v>
                </c:pt>
                <c:pt idx="62">
                  <c:v>376.1934</c:v>
                </c:pt>
                <c:pt idx="63">
                  <c:v>368.6772</c:v>
                </c:pt>
                <c:pt idx="64">
                  <c:v>360.8695</c:v>
                </c:pt>
                <c:pt idx="65">
                  <c:v>341.8082</c:v>
                </c:pt>
                <c:pt idx="66">
                  <c:v>328.3102</c:v>
                </c:pt>
                <c:pt idx="67">
                  <c:v>349.9771</c:v>
                </c:pt>
                <c:pt idx="68">
                  <c:v>346.0829</c:v>
                </c:pt>
                <c:pt idx="69">
                  <c:v>320.0027</c:v>
                </c:pt>
              </c:numCache>
            </c:numRef>
          </c:val>
          <c:smooth val="0"/>
        </c:ser>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24324F"/>
            </a:solidFill>
            <a:prstDash val="solid"/>
            <a:round/>
          </a:ln>
        </c:spPr>
        <c:txPr>
          <a:bodyPr/>
          <a:lstStyle/>
          <a:p>
            <a:pPr>
              <a:defRPr sz="1100" b="0" i="0" u="none" strike="noStrike">
                <a:solidFill>
                  <a:srgbClr val="A9B6CC"/>
                </a:solidFill>
                <a:latin typeface="+mn-lt"/>
              </a:defRPr>
            </a:pPr>
            <a:endParaRPr lang="en-US"/>
          </a:p>
        </c:txPr>
        <c:crossAx val="2094734552"/>
        <c:crosses val="autoZero"/>
        <c:auto val="1"/>
        <c:lblAlgn val="ctr"/>
        <c:noMultiLvlLbl val="1"/>
        <c:tickLblSkip val="10"/>
      </c:catAx>
      <c:valAx>
        <c:axId val="2094734552"/>
        <c:scaling>
          <c:orientation val="minMax"/>
          <c:min val="250"/>
        </c:scaling>
        <c:delete val="0"/>
        <c:axPos val="l"/>
        <c:majorGridlines>
          <c:spPr>
            <a:ln w="6350" cap="flat">
              <a:solidFill>
                <a:srgbClr val="24324F"/>
              </a:solidFill>
              <a:prstDash val="solid"/>
              <a:round/>
            </a:ln>
          </c:spPr>
        </c:majorGridlines>
        <c:numFmt formatCode="0" sourceLinked="0"/>
        <c:majorTickMark val="out"/>
        <c:minorTickMark val="none"/>
        <c:tickLblPos val="nextTo"/>
        <c:spPr>
          <a:ln w="12700" cap="flat">
            <a:solidFill>
              <a:srgbClr val="24324F"/>
            </a:solidFill>
            <a:prstDash val="solid"/>
            <a:round/>
          </a:ln>
        </c:spPr>
        <c:txPr>
          <a:bodyPr/>
          <a:lstStyle/>
          <a:p>
            <a:pPr>
              <a:defRPr sz="1100" b="0" i="0" u="none" strike="noStrike">
                <a:solidFill>
                  <a:srgbClr val="A9B6CC"/>
                </a:solidFill>
                <a:latin typeface="+mn-lt"/>
              </a:defRPr>
            </a:pPr>
            <a:endParaRPr lang="en-US"/>
          </a:p>
        </c:txPr>
        <c:crossAx val="2094734554"/>
        <c:crosses val="autoZero"/>
        <c:crossBetween val="between"/>
      </c:valAx>
      <c:spPr>
        <a:solidFill>
          <a:srgbClr val="0A1222"/>
        </a:solidFill>
        <a:ln>
          <a:noFill/>
        </a:ln>
        <a:effectLst/>
      </c:spPr>
    </c:plotArea>
    <c:plotVisOnly val="1"/>
    <c:dispBlanksAs val="span"/>
  </c:chart>
  <c:spPr>
    <a:solidFill>
      <a:srgbClr val="0A122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mn-lt"/>
              </a:defRPr>
            </a:pPr>
            <a:r>
              <a:rPr sz="1300" b="0" i="0" u="none" strike="noStrike">
                <a:solidFill>
                  <a:srgbClr val="FFFFFF"/>
                </a:solidFill>
                <a:latin typeface="+mn-lt"/>
              </a:rPr>
              <a:t>Our final signal (v5), from day 851</a:t>
            </a:r>
          </a:p>
        </c:rich>
      </c:tx>
      <c:layout/>
      <c:overlay val="0"/>
    </c:title>
    <c:autoTitleDeleted val="0"/>
    <c:plotArea>
      <c:layout/>
      <c:barChart>
        <c:barDir val="col"/>
        <c:grouping val="stacked"/>
        <c:varyColors val="0"/>
        <c:ser>
          <c:idx val="0"/>
          <c:order val="0"/>
          <c:tx>
            <c:strRef>
              <c:f>Sheet1!$B$1</c:f>
              <c:strCache>
                <c:ptCount val="1"/>
                <c:pt idx="0">
                  <c:v>Long</c:v>
                </c:pt>
              </c:strCache>
            </c:strRef>
          </c:tx>
          <c:spPr>
            <a:solidFill>
              <a:srgbClr val="21C17A"/>
            </a:solidFill>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cat>
            <c:multiLvlStrRef>
              <c:f>Sheet1!$A$2:$A$71</c:f>
              <c:multiLvlStrCache>
                <c:ptCount val="70"/>
                <c:lvl>
                  <c:pt idx="0">
                    <c:v>831</c:v>
                  </c:pt>
                  <c:pt idx="1">
                    <c:v>832</c:v>
                  </c:pt>
                  <c:pt idx="2">
                    <c:v>833</c:v>
                  </c:pt>
                  <c:pt idx="3">
                    <c:v>834</c:v>
                  </c:pt>
                  <c:pt idx="4">
                    <c:v>835</c:v>
                  </c:pt>
                  <c:pt idx="5">
                    <c:v>836</c:v>
                  </c:pt>
                  <c:pt idx="6">
                    <c:v>837</c:v>
                  </c:pt>
                  <c:pt idx="7">
                    <c:v>838</c:v>
                  </c:pt>
                  <c:pt idx="8">
                    <c:v>839</c:v>
                  </c:pt>
                  <c:pt idx="9">
                    <c:v>840</c:v>
                  </c:pt>
                  <c:pt idx="10">
                    <c:v>841</c:v>
                  </c:pt>
                  <c:pt idx="11">
                    <c:v>842</c:v>
                  </c:pt>
                  <c:pt idx="12">
                    <c:v>843</c:v>
                  </c:pt>
                  <c:pt idx="13">
                    <c:v>844</c:v>
                  </c:pt>
                  <c:pt idx="14">
                    <c:v>845</c:v>
                  </c:pt>
                  <c:pt idx="15">
                    <c:v>846</c:v>
                  </c:pt>
                  <c:pt idx="16">
                    <c:v>847</c:v>
                  </c:pt>
                  <c:pt idx="17">
                    <c:v>848</c:v>
                  </c:pt>
                  <c:pt idx="18">
                    <c:v>849</c:v>
                  </c:pt>
                  <c:pt idx="19">
                    <c:v>850</c:v>
                  </c:pt>
                  <c:pt idx="20">
                    <c:v>851</c:v>
                  </c:pt>
                  <c:pt idx="21">
                    <c:v>852</c:v>
                  </c:pt>
                  <c:pt idx="22">
                    <c:v>853</c:v>
                  </c:pt>
                  <c:pt idx="23">
                    <c:v>854</c:v>
                  </c:pt>
                  <c:pt idx="24">
                    <c:v>855</c:v>
                  </c:pt>
                  <c:pt idx="25">
                    <c:v>856</c:v>
                  </c:pt>
                  <c:pt idx="26">
                    <c:v>857</c:v>
                  </c:pt>
                  <c:pt idx="27">
                    <c:v>858</c:v>
                  </c:pt>
                  <c:pt idx="28">
                    <c:v>859</c:v>
                  </c:pt>
                  <c:pt idx="29">
                    <c:v>860</c:v>
                  </c:pt>
                  <c:pt idx="30">
                    <c:v>861</c:v>
                  </c:pt>
                  <c:pt idx="31">
                    <c:v>862</c:v>
                  </c:pt>
                  <c:pt idx="32">
                    <c:v>863</c:v>
                  </c:pt>
                  <c:pt idx="33">
                    <c:v>864</c:v>
                  </c:pt>
                  <c:pt idx="34">
                    <c:v>865</c:v>
                  </c:pt>
                  <c:pt idx="35">
                    <c:v>866</c:v>
                  </c:pt>
                  <c:pt idx="36">
                    <c:v>867</c:v>
                  </c:pt>
                  <c:pt idx="37">
                    <c:v>868</c:v>
                  </c:pt>
                  <c:pt idx="38">
                    <c:v>869</c:v>
                  </c:pt>
                  <c:pt idx="39">
                    <c:v>870</c:v>
                  </c:pt>
                  <c:pt idx="40">
                    <c:v>871</c:v>
                  </c:pt>
                  <c:pt idx="41">
                    <c:v>872</c:v>
                  </c:pt>
                  <c:pt idx="42">
                    <c:v>873</c:v>
                  </c:pt>
                  <c:pt idx="43">
                    <c:v>874</c:v>
                  </c:pt>
                  <c:pt idx="44">
                    <c:v>875</c:v>
                  </c:pt>
                  <c:pt idx="45">
                    <c:v>876</c:v>
                  </c:pt>
                  <c:pt idx="46">
                    <c:v>877</c:v>
                  </c:pt>
                  <c:pt idx="47">
                    <c:v>878</c:v>
                  </c:pt>
                  <c:pt idx="48">
                    <c:v>879</c:v>
                  </c:pt>
                  <c:pt idx="49">
                    <c:v>880</c:v>
                  </c:pt>
                  <c:pt idx="50">
                    <c:v>881</c:v>
                  </c:pt>
                  <c:pt idx="51">
                    <c:v>882</c:v>
                  </c:pt>
                  <c:pt idx="52">
                    <c:v>883</c:v>
                  </c:pt>
                  <c:pt idx="53">
                    <c:v>884</c:v>
                  </c:pt>
                  <c:pt idx="54">
                    <c:v>885</c:v>
                  </c:pt>
                  <c:pt idx="55">
                    <c:v>886</c:v>
                  </c:pt>
                  <c:pt idx="56">
                    <c:v>887</c:v>
                  </c:pt>
                  <c:pt idx="57">
                    <c:v>888</c:v>
                  </c:pt>
                  <c:pt idx="58">
                    <c:v>889</c:v>
                  </c:pt>
                  <c:pt idx="59">
                    <c:v>890</c:v>
                  </c:pt>
                  <c:pt idx="60">
                    <c:v>891</c:v>
                  </c:pt>
                  <c:pt idx="61">
                    <c:v>892</c:v>
                  </c:pt>
                  <c:pt idx="62">
                    <c:v>893</c:v>
                  </c:pt>
                  <c:pt idx="63">
                    <c:v>894</c:v>
                  </c:pt>
                  <c:pt idx="64">
                    <c:v>895</c:v>
                  </c:pt>
                  <c:pt idx="65">
                    <c:v>896</c:v>
                  </c:pt>
                  <c:pt idx="66">
                    <c:v>897</c:v>
                  </c:pt>
                  <c:pt idx="67">
                    <c:v>898</c:v>
                  </c:pt>
                  <c:pt idx="68">
                    <c:v>899</c:v>
                  </c:pt>
                  <c:pt idx="69">
                    <c:v>900</c:v>
                  </c:pt>
                </c:lvl>
              </c:multiLvlStrCache>
            </c:multiLvlStrRef>
          </c:cat>
          <c:val>
            <c:numRef>
              <c:f>Sheet1!$B$2:$B$71</c:f>
              <c:numCache>
                <c:formatCode>General</c:formatCode>
                <c:ptCount val="7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0.2223</c:v>
                </c:pt>
                <c:pt idx="21">
                  <c:v>0.8582</c:v>
                </c:pt>
                <c:pt idx="22">
                  <c:v>0.433</c:v>
                </c:pt>
                <c:pt idx="23">
                  <c:v>0</c:v>
                </c:pt>
                <c:pt idx="24">
                  <c:v>0.3055</c:v>
                </c:pt>
                <c:pt idx="25">
                  <c:v>0</c:v>
                </c:pt>
                <c:pt idx="26">
                  <c:v>0.0722</c:v>
                </c:pt>
                <c:pt idx="27">
                  <c:v>0.3006</c:v>
                </c:pt>
                <c:pt idx="28">
                  <c:v>0</c:v>
                </c:pt>
                <c:pt idx="29">
                  <c:v>0.1867</c:v>
                </c:pt>
                <c:pt idx="30">
                  <c:v>0</c:v>
                </c:pt>
                <c:pt idx="31">
                  <c:v>0</c:v>
                </c:pt>
                <c:pt idx="32">
                  <c:v>0.0592</c:v>
                </c:pt>
                <c:pt idx="33">
                  <c:v>0</c:v>
                </c:pt>
                <c:pt idx="34">
                  <c:v>0.2251</c:v>
                </c:pt>
                <c:pt idx="35">
                  <c:v>0</c:v>
                </c:pt>
                <c:pt idx="36">
                  <c:v>0</c:v>
                </c:pt>
                <c:pt idx="37">
                  <c:v>0.1307</c:v>
                </c:pt>
                <c:pt idx="38">
                  <c:v>0</c:v>
                </c:pt>
                <c:pt idx="39">
                  <c:v>0.0594</c:v>
                </c:pt>
                <c:pt idx="40">
                  <c:v>0.2287</c:v>
                </c:pt>
                <c:pt idx="41">
                  <c:v>0.0744</c:v>
                </c:pt>
                <c:pt idx="42">
                  <c:v>0.1666</c:v>
                </c:pt>
                <c:pt idx="43">
                  <c:v>0</c:v>
                </c:pt>
                <c:pt idx="44">
                  <c:v>0</c:v>
                </c:pt>
                <c:pt idx="45">
                  <c:v>0</c:v>
                </c:pt>
                <c:pt idx="46">
                  <c:v>0.0806</c:v>
                </c:pt>
                <c:pt idx="47">
                  <c:v>0</c:v>
                </c:pt>
                <c:pt idx="48">
                  <c:v>0</c:v>
                </c:pt>
                <c:pt idx="49">
                  <c:v>0.0914</c:v>
                </c:pt>
                <c:pt idx="50">
                  <c:v>0</c:v>
                </c:pt>
                <c:pt idx="51">
                  <c:v>0.0856</c:v>
                </c:pt>
                <c:pt idx="52">
                  <c:v>0</c:v>
                </c:pt>
                <c:pt idx="53">
                  <c:v>0.0903</c:v>
                </c:pt>
                <c:pt idx="54">
                  <c:v>0</c:v>
                </c:pt>
                <c:pt idx="55">
                  <c:v>0</c:v>
                </c:pt>
                <c:pt idx="56">
                  <c:v>0.1174</c:v>
                </c:pt>
                <c:pt idx="57">
                  <c:v>0.1613</c:v>
                </c:pt>
                <c:pt idx="58">
                  <c:v>0</c:v>
                </c:pt>
                <c:pt idx="59">
                  <c:v>0</c:v>
                </c:pt>
                <c:pt idx="60">
                  <c:v>0.2455</c:v>
                </c:pt>
                <c:pt idx="61">
                  <c:v>0</c:v>
                </c:pt>
                <c:pt idx="62">
                  <c:v>0</c:v>
                </c:pt>
                <c:pt idx="63">
                  <c:v>0.0987</c:v>
                </c:pt>
                <c:pt idx="64">
                  <c:v>0</c:v>
                </c:pt>
                <c:pt idx="65">
                  <c:v>0</c:v>
                </c:pt>
                <c:pt idx="66">
                  <c:v>0</c:v>
                </c:pt>
                <c:pt idx="67">
                  <c:v>0</c:v>
                </c:pt>
                <c:pt idx="68">
                  <c:v>0</c:v>
                </c:pt>
                <c:pt idx="69">
                  <c:v>0.1719</c:v>
                </c:pt>
              </c:numCache>
            </c:numRef>
          </c:val>
        </c:ser>
        <c:ser>
          <c:idx val="1"/>
          <c:order val="1"/>
          <c:tx>
            <c:strRef>
              <c:f>Sheet1!$C$1</c:f>
              <c:strCache>
                <c:ptCount val="1"/>
                <c:pt idx="0">
                  <c:v>Short</c:v>
                </c:pt>
              </c:strCache>
            </c:strRef>
          </c:tx>
          <c:spPr>
            <a:solidFill>
              <a:srgbClr val="EF4B4B"/>
            </a:solidFill>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cat>
            <c:multiLvlStrRef>
              <c:f>Sheet1!$A$2:$A$71</c:f>
              <c:multiLvlStrCache>
                <c:ptCount val="70"/>
                <c:lvl>
                  <c:pt idx="0">
                    <c:v>831</c:v>
                  </c:pt>
                  <c:pt idx="1">
                    <c:v>832</c:v>
                  </c:pt>
                  <c:pt idx="2">
                    <c:v>833</c:v>
                  </c:pt>
                  <c:pt idx="3">
                    <c:v>834</c:v>
                  </c:pt>
                  <c:pt idx="4">
                    <c:v>835</c:v>
                  </c:pt>
                  <c:pt idx="5">
                    <c:v>836</c:v>
                  </c:pt>
                  <c:pt idx="6">
                    <c:v>837</c:v>
                  </c:pt>
                  <c:pt idx="7">
                    <c:v>838</c:v>
                  </c:pt>
                  <c:pt idx="8">
                    <c:v>839</c:v>
                  </c:pt>
                  <c:pt idx="9">
                    <c:v>840</c:v>
                  </c:pt>
                  <c:pt idx="10">
                    <c:v>841</c:v>
                  </c:pt>
                  <c:pt idx="11">
                    <c:v>842</c:v>
                  </c:pt>
                  <c:pt idx="12">
                    <c:v>843</c:v>
                  </c:pt>
                  <c:pt idx="13">
                    <c:v>844</c:v>
                  </c:pt>
                  <c:pt idx="14">
                    <c:v>845</c:v>
                  </c:pt>
                  <c:pt idx="15">
                    <c:v>846</c:v>
                  </c:pt>
                  <c:pt idx="16">
                    <c:v>847</c:v>
                  </c:pt>
                  <c:pt idx="17">
                    <c:v>848</c:v>
                  </c:pt>
                  <c:pt idx="18">
                    <c:v>849</c:v>
                  </c:pt>
                  <c:pt idx="19">
                    <c:v>850</c:v>
                  </c:pt>
                  <c:pt idx="20">
                    <c:v>851</c:v>
                  </c:pt>
                  <c:pt idx="21">
                    <c:v>852</c:v>
                  </c:pt>
                  <c:pt idx="22">
                    <c:v>853</c:v>
                  </c:pt>
                  <c:pt idx="23">
                    <c:v>854</c:v>
                  </c:pt>
                  <c:pt idx="24">
                    <c:v>855</c:v>
                  </c:pt>
                  <c:pt idx="25">
                    <c:v>856</c:v>
                  </c:pt>
                  <c:pt idx="26">
                    <c:v>857</c:v>
                  </c:pt>
                  <c:pt idx="27">
                    <c:v>858</c:v>
                  </c:pt>
                  <c:pt idx="28">
                    <c:v>859</c:v>
                  </c:pt>
                  <c:pt idx="29">
                    <c:v>860</c:v>
                  </c:pt>
                  <c:pt idx="30">
                    <c:v>861</c:v>
                  </c:pt>
                  <c:pt idx="31">
                    <c:v>862</c:v>
                  </c:pt>
                  <c:pt idx="32">
                    <c:v>863</c:v>
                  </c:pt>
                  <c:pt idx="33">
                    <c:v>864</c:v>
                  </c:pt>
                  <c:pt idx="34">
                    <c:v>865</c:v>
                  </c:pt>
                  <c:pt idx="35">
                    <c:v>866</c:v>
                  </c:pt>
                  <c:pt idx="36">
                    <c:v>867</c:v>
                  </c:pt>
                  <c:pt idx="37">
                    <c:v>868</c:v>
                  </c:pt>
                  <c:pt idx="38">
                    <c:v>869</c:v>
                  </c:pt>
                  <c:pt idx="39">
                    <c:v>870</c:v>
                  </c:pt>
                  <c:pt idx="40">
                    <c:v>871</c:v>
                  </c:pt>
                  <c:pt idx="41">
                    <c:v>872</c:v>
                  </c:pt>
                  <c:pt idx="42">
                    <c:v>873</c:v>
                  </c:pt>
                  <c:pt idx="43">
                    <c:v>874</c:v>
                  </c:pt>
                  <c:pt idx="44">
                    <c:v>875</c:v>
                  </c:pt>
                  <c:pt idx="45">
                    <c:v>876</c:v>
                  </c:pt>
                  <c:pt idx="46">
                    <c:v>877</c:v>
                  </c:pt>
                  <c:pt idx="47">
                    <c:v>878</c:v>
                  </c:pt>
                  <c:pt idx="48">
                    <c:v>879</c:v>
                  </c:pt>
                  <c:pt idx="49">
                    <c:v>880</c:v>
                  </c:pt>
                  <c:pt idx="50">
                    <c:v>881</c:v>
                  </c:pt>
                  <c:pt idx="51">
                    <c:v>882</c:v>
                  </c:pt>
                  <c:pt idx="52">
                    <c:v>883</c:v>
                  </c:pt>
                  <c:pt idx="53">
                    <c:v>884</c:v>
                  </c:pt>
                  <c:pt idx="54">
                    <c:v>885</c:v>
                  </c:pt>
                  <c:pt idx="55">
                    <c:v>886</c:v>
                  </c:pt>
                  <c:pt idx="56">
                    <c:v>887</c:v>
                  </c:pt>
                  <c:pt idx="57">
                    <c:v>888</c:v>
                  </c:pt>
                  <c:pt idx="58">
                    <c:v>889</c:v>
                  </c:pt>
                  <c:pt idx="59">
                    <c:v>890</c:v>
                  </c:pt>
                  <c:pt idx="60">
                    <c:v>891</c:v>
                  </c:pt>
                  <c:pt idx="61">
                    <c:v>892</c:v>
                  </c:pt>
                  <c:pt idx="62">
                    <c:v>893</c:v>
                  </c:pt>
                  <c:pt idx="63">
                    <c:v>894</c:v>
                  </c:pt>
                  <c:pt idx="64">
                    <c:v>895</c:v>
                  </c:pt>
                  <c:pt idx="65">
                    <c:v>896</c:v>
                  </c:pt>
                  <c:pt idx="66">
                    <c:v>897</c:v>
                  </c:pt>
                  <c:pt idx="67">
                    <c:v>898</c:v>
                  </c:pt>
                  <c:pt idx="68">
                    <c:v>899</c:v>
                  </c:pt>
                  <c:pt idx="69">
                    <c:v>900</c:v>
                  </c:pt>
                </c:lvl>
              </c:multiLvlStrCache>
            </c:multiLvlStrRef>
          </c:cat>
          <c:val>
            <c:numRef>
              <c:f>Sheet1!$C$2:$C$71</c:f>
              <c:numCache>
                <c:formatCode>General</c:formatCode>
                <c:ptCount val="7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-0.1583</c:v>
                </c:pt>
                <c:pt idx="29">
                  <c:v>0</c:v>
                </c:pt>
                <c:pt idx="30">
                  <c:v>-0.1903</c:v>
                </c:pt>
                <c:pt idx="31">
                  <c:v>0</c:v>
                </c:pt>
                <c:pt idx="32">
                  <c:v>0</c:v>
                </c:pt>
                <c:pt idx="33">
                  <c:v>-0.2224</c:v>
                </c:pt>
                <c:pt idx="34">
                  <c:v>0</c:v>
                </c:pt>
                <c:pt idx="35">
                  <c:v>0</c:v>
                </c:pt>
                <c:pt idx="36">
                  <c:v>0</c:v>
                </c:pt>
                <c:pt idx="37">
                  <c:v>0</c:v>
                </c:pt>
                <c:pt idx="38">
                  <c:v>0</c:v>
                </c:pt>
                <c:pt idx="39">
                  <c:v>0</c:v>
                </c:pt>
                <c:pt idx="40">
                  <c:v>0</c:v>
                </c:pt>
                <c:pt idx="41">
                  <c:v>0</c:v>
                </c:pt>
                <c:pt idx="42">
                  <c:v>0</c:v>
                </c:pt>
                <c:pt idx="43">
                  <c:v>0</c:v>
                </c:pt>
                <c:pt idx="44">
                  <c:v>0</c:v>
                </c:pt>
                <c:pt idx="45">
                  <c:v>-0.0614</c:v>
                </c:pt>
                <c:pt idx="46">
                  <c:v>0</c:v>
                </c:pt>
                <c:pt idx="47">
                  <c:v>0</c:v>
                </c:pt>
                <c:pt idx="48">
                  <c:v>0</c:v>
                </c:pt>
                <c:pt idx="49">
                  <c:v>0</c:v>
                </c:pt>
                <c:pt idx="50">
                  <c:v>0</c:v>
                </c:pt>
                <c:pt idx="51">
                  <c:v>0</c:v>
                </c:pt>
                <c:pt idx="52">
                  <c:v>0</c:v>
                </c:pt>
                <c:pt idx="53">
                  <c:v>0</c:v>
                </c:pt>
                <c:pt idx="54">
                  <c:v>-0.0513</c:v>
                </c:pt>
                <c:pt idx="55">
                  <c:v>-0.0781</c:v>
                </c:pt>
                <c:pt idx="56">
                  <c:v>0</c:v>
                </c:pt>
                <c:pt idx="57">
                  <c:v>0</c:v>
                </c:pt>
                <c:pt idx="58">
                  <c:v>0</c:v>
                </c:pt>
                <c:pt idx="59">
                  <c:v>-0.2049</c:v>
                </c:pt>
                <c:pt idx="60">
                  <c:v>0</c:v>
                </c:pt>
                <c:pt idx="61">
                  <c:v>-0.0934</c:v>
                </c:pt>
                <c:pt idx="62">
                  <c:v>-0.3272</c:v>
                </c:pt>
                <c:pt idx="63">
                  <c:v>0</c:v>
                </c:pt>
                <c:pt idx="64">
                  <c:v>-0.1755</c:v>
                </c:pt>
                <c:pt idx="65">
                  <c:v>-0.1526</c:v>
                </c:pt>
                <c:pt idx="66">
                  <c:v>0</c:v>
                </c:pt>
                <c:pt idx="67">
                  <c:v>-0.3055</c:v>
                </c:pt>
                <c:pt idx="68">
                  <c:v>-0.0716</c:v>
                </c:pt>
                <c:pt idx="69">
                  <c:v>0</c:v>
                </c:pt>
              </c:numCache>
            </c:numRef>
          </c:val>
        </c:ser>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4324F"/>
            </a:solidFill>
            <a:prstDash val="solid"/>
            <a:round/>
          </a:ln>
        </c:spPr>
        <c:txPr>
          <a:bodyPr/>
          <a:lstStyle/>
          <a:p>
            <a:pPr>
              <a:defRPr sz="1100" b="0" i="0" u="none" strike="noStrike">
                <a:solidFill>
                  <a:srgbClr val="A9B6CC"/>
                </a:solidFill>
                <a:latin typeface="+mn-lt"/>
              </a:defRPr>
            </a:pPr>
            <a:endParaRPr lang="en-US"/>
          </a:p>
        </c:txPr>
        <c:crossAx val="2094734552"/>
        <c:crosses val="autoZero"/>
        <c:auto val="1"/>
        <c:lblAlgn val="ctr"/>
        <c:noMultiLvlLbl val="1"/>
        <c:tickLblSkip val="10"/>
      </c:catAx>
      <c:valAx>
        <c:axId val="2094734552"/>
        <c:scaling>
          <c:orientation val="minMax"/>
          <c:max val="0.4"/>
          <c:min val="-0.4"/>
        </c:scaling>
        <c:delete val="0"/>
        <c:axPos val="l"/>
        <c:majorGridlines>
          <c:spPr>
            <a:ln w="6350" cap="flat">
              <a:solidFill>
                <a:srgbClr val="24324F"/>
              </a:solidFill>
              <a:prstDash val="solid"/>
              <a:round/>
            </a:ln>
          </c:spPr>
        </c:majorGridlines>
        <c:numFmt formatCode="0.0" sourceLinked="0"/>
        <c:majorTickMark val="out"/>
        <c:minorTickMark val="none"/>
        <c:tickLblPos val="nextTo"/>
        <c:spPr>
          <a:ln w="12700" cap="flat">
            <a:solidFill>
              <a:srgbClr val="24324F"/>
            </a:solidFill>
            <a:prstDash val="solid"/>
            <a:round/>
          </a:ln>
        </c:spPr>
        <c:txPr>
          <a:bodyPr/>
          <a:lstStyle/>
          <a:p>
            <a:pPr>
              <a:defRPr sz="1100" b="0" i="0" u="none" strike="noStrike">
                <a:solidFill>
                  <a:srgbClr val="A9B6CC"/>
                </a:solidFill>
                <a:latin typeface="+mn-lt"/>
              </a:defRPr>
            </a:pPr>
            <a:endParaRPr lang="en-US"/>
          </a:p>
        </c:txPr>
        <c:crossAx val="2094734554"/>
        <c:crosses val="autoZero"/>
        <c:crossBetween val="between"/>
      </c:valAx>
      <c:spPr>
        <a:solidFill>
          <a:srgbClr val="0A1222"/>
        </a:solidFill>
        <a:ln>
          <a:noFill/>
        </a:ln>
        <a:effectLst/>
      </c:spPr>
    </c:plotArea>
    <c:legend>
      <c:legendPos val="r"/>
      <c:overlay val="0"/>
      <c:txPr>
        <a:bodyPr/>
        <a:lstStyle/>
        <a:p>
          <a:pPr>
            <a:defRPr sz="1100">
              <a:solidFill>
                <a:srgbClr val="A9B6CC"/>
              </a:solidFill>
              <a:latin typeface="+mn-lt"/>
              <a:cs typeface="+mn-lt"/>
            </a:defRPr>
          </a:pPr>
          <a:endParaRPr lang="en-US"/>
        </a:p>
      </c:txPr>
    </c:legend>
    <c:plotVisOnly val="1"/>
    <c:dispBlanksAs val="span"/>
  </c:chart>
  <c:spPr>
    <a:solidFill>
      <a:srgbClr val="0A122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mn-lt"/>
              </a:defRPr>
            </a:pPr>
            <a:r>
              <a:rPr sz="1300" b="0" i="0" u="none" strike="noStrike">
                <a:solidFill>
                  <a:srgbClr val="FFFFFF"/>
                </a:solidFill>
                <a:latin typeface="+mn-lt"/>
              </a:rPr>
              <a:t>Cumulative return, days 852–900 (%), net of 10 bps</a:t>
            </a:r>
          </a:p>
        </c:rich>
      </c:tx>
      <c:layout/>
      <c:overlay val="0"/>
    </c:title>
    <c:autoTitleDeleted val="0"/>
    <c:plotArea>
      <c:layout/>
      <c:lineChart>
        <c:varyColors val="0"/>
        <c:ser>
          <c:idx val="0"/>
          <c:order val="0"/>
          <c:tx>
            <c:strRef>
              <c:f>Sheet1!$B$1</c:f>
              <c:strCache>
                <c:ptCount val="1"/>
                <c:pt idx="0">
                  <c:v>v3 (53.0)</c:v>
                </c:pt>
              </c:strCache>
            </c:strRef>
          </c:tx>
          <c:spPr>
            <a:solidFill>
              <a:srgbClr val="21C17A"/>
            </a:solidFill>
            <a:ln w="25400" cap="flat">
              <a:solidFill>
                <a:srgbClr val="21C17A"/>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21C17A"/>
              </a:solidFill>
              <a:ln w="9525" cap="flat">
                <a:solidFill>
                  <a:srgbClr val="21C17A"/>
                </a:solidFill>
                <a:prstDash val="solid"/>
                <a:round/>
              </a:ln>
              <a:effectLst/>
            </c:spPr>
          </c:marker>
          <c:cat>
            <c:multiLvlStrRef>
              <c:f>Sheet1!$A$2:$A$50</c:f>
              <c:multiLvlStrCache>
                <c:ptCount val="49"/>
                <c:lvl>
                  <c:pt idx="0">
                    <c:v>852</c:v>
                  </c:pt>
                  <c:pt idx="1">
                    <c:v>853</c:v>
                  </c:pt>
                  <c:pt idx="2">
                    <c:v>854</c:v>
                  </c:pt>
                  <c:pt idx="3">
                    <c:v>855</c:v>
                  </c:pt>
                  <c:pt idx="4">
                    <c:v>856</c:v>
                  </c:pt>
                  <c:pt idx="5">
                    <c:v>857</c:v>
                  </c:pt>
                  <c:pt idx="6">
                    <c:v>858</c:v>
                  </c:pt>
                  <c:pt idx="7">
                    <c:v>859</c:v>
                  </c:pt>
                  <c:pt idx="8">
                    <c:v>860</c:v>
                  </c:pt>
                  <c:pt idx="9">
                    <c:v>861</c:v>
                  </c:pt>
                  <c:pt idx="10">
                    <c:v>862</c:v>
                  </c:pt>
                  <c:pt idx="11">
                    <c:v>863</c:v>
                  </c:pt>
                  <c:pt idx="12">
                    <c:v>864</c:v>
                  </c:pt>
                  <c:pt idx="13">
                    <c:v>865</c:v>
                  </c:pt>
                  <c:pt idx="14">
                    <c:v>866</c:v>
                  </c:pt>
                  <c:pt idx="15">
                    <c:v>867</c:v>
                  </c:pt>
                  <c:pt idx="16">
                    <c:v>868</c:v>
                  </c:pt>
                  <c:pt idx="17">
                    <c:v>869</c:v>
                  </c:pt>
                  <c:pt idx="18">
                    <c:v>870</c:v>
                  </c:pt>
                  <c:pt idx="19">
                    <c:v>871</c:v>
                  </c:pt>
                  <c:pt idx="20">
                    <c:v>872</c:v>
                  </c:pt>
                  <c:pt idx="21">
                    <c:v>873</c:v>
                  </c:pt>
                  <c:pt idx="22">
                    <c:v>874</c:v>
                  </c:pt>
                  <c:pt idx="23">
                    <c:v>875</c:v>
                  </c:pt>
                  <c:pt idx="24">
                    <c:v>876</c:v>
                  </c:pt>
                  <c:pt idx="25">
                    <c:v>877</c:v>
                  </c:pt>
                  <c:pt idx="26">
                    <c:v>878</c:v>
                  </c:pt>
                  <c:pt idx="27">
                    <c:v>879</c:v>
                  </c:pt>
                  <c:pt idx="28">
                    <c:v>880</c:v>
                  </c:pt>
                  <c:pt idx="29">
                    <c:v>881</c:v>
                  </c:pt>
                  <c:pt idx="30">
                    <c:v>882</c:v>
                  </c:pt>
                  <c:pt idx="31">
                    <c:v>883</c:v>
                  </c:pt>
                  <c:pt idx="32">
                    <c:v>884</c:v>
                  </c:pt>
                  <c:pt idx="33">
                    <c:v>885</c:v>
                  </c:pt>
                  <c:pt idx="34">
                    <c:v>886</c:v>
                  </c:pt>
                  <c:pt idx="35">
                    <c:v>887</c:v>
                  </c:pt>
                  <c:pt idx="36">
                    <c:v>888</c:v>
                  </c:pt>
                  <c:pt idx="37">
                    <c:v>889</c:v>
                  </c:pt>
                  <c:pt idx="38">
                    <c:v>890</c:v>
                  </c:pt>
                  <c:pt idx="39">
                    <c:v>891</c:v>
                  </c:pt>
                  <c:pt idx="40">
                    <c:v>892</c:v>
                  </c:pt>
                  <c:pt idx="41">
                    <c:v>893</c:v>
                  </c:pt>
                  <c:pt idx="42">
                    <c:v>894</c:v>
                  </c:pt>
                  <c:pt idx="43">
                    <c:v>895</c:v>
                  </c:pt>
                  <c:pt idx="44">
                    <c:v>896</c:v>
                  </c:pt>
                  <c:pt idx="45">
                    <c:v>897</c:v>
                  </c:pt>
                  <c:pt idx="46">
                    <c:v>898</c:v>
                  </c:pt>
                  <c:pt idx="47">
                    <c:v>899</c:v>
                  </c:pt>
                  <c:pt idx="48">
                    <c:v>900</c:v>
                  </c:pt>
                </c:lvl>
              </c:multiLvlStrCache>
            </c:multiLvlStrRef>
          </c:cat>
          <c:val>
            <c:numRef>
              <c:f>Sheet1!$B$2:$B$50</c:f>
              <c:numCache>
                <c:formatCode>General</c:formatCode>
                <c:ptCount val="49"/>
                <c:pt idx="0">
                  <c:v>0.9</c:v>
                </c:pt>
                <c:pt idx="1">
                  <c:v>5.98</c:v>
                </c:pt>
                <c:pt idx="2">
                  <c:v>5.81</c:v>
                </c:pt>
                <c:pt idx="3">
                  <c:v>5.8</c:v>
                </c:pt>
                <c:pt idx="4">
                  <c:v>4.79</c:v>
                </c:pt>
                <c:pt idx="5">
                  <c:v>4.78</c:v>
                </c:pt>
                <c:pt idx="6">
                  <c:v>5.07</c:v>
                </c:pt>
                <c:pt idx="7">
                  <c:v>4.03</c:v>
                </c:pt>
                <c:pt idx="8">
                  <c:v>4.08</c:v>
                </c:pt>
                <c:pt idx="9">
                  <c:v>4.76</c:v>
                </c:pt>
                <c:pt idx="10">
                  <c:v>5.55</c:v>
                </c:pt>
                <c:pt idx="11">
                  <c:v>5.67</c:v>
                </c:pt>
                <c:pt idx="12">
                  <c:v>5.66</c:v>
                </c:pt>
                <c:pt idx="13">
                  <c:v>6.46</c:v>
                </c:pt>
                <c:pt idx="14">
                  <c:v>6.4</c:v>
                </c:pt>
                <c:pt idx="15">
                  <c:v>6.57</c:v>
                </c:pt>
                <c:pt idx="16">
                  <c:v>6.57</c:v>
                </c:pt>
                <c:pt idx="17">
                  <c:v>7.07</c:v>
                </c:pt>
                <c:pt idx="18">
                  <c:v>7.11</c:v>
                </c:pt>
                <c:pt idx="19">
                  <c:v>7.11</c:v>
                </c:pt>
                <c:pt idx="20">
                  <c:v>7.05</c:v>
                </c:pt>
                <c:pt idx="21">
                  <c:v>7.21</c:v>
                </c:pt>
                <c:pt idx="22">
                  <c:v>7.2</c:v>
                </c:pt>
                <c:pt idx="23">
                  <c:v>7.17</c:v>
                </c:pt>
                <c:pt idx="24">
                  <c:v>7.27</c:v>
                </c:pt>
                <c:pt idx="25">
                  <c:v>7.23</c:v>
                </c:pt>
                <c:pt idx="26">
                  <c:v>7.4</c:v>
                </c:pt>
                <c:pt idx="27">
                  <c:v>7.43</c:v>
                </c:pt>
                <c:pt idx="28">
                  <c:v>7.42</c:v>
                </c:pt>
                <c:pt idx="29">
                  <c:v>6.82</c:v>
                </c:pt>
                <c:pt idx="30">
                  <c:v>6.83</c:v>
                </c:pt>
                <c:pt idx="31">
                  <c:v>6.98</c:v>
                </c:pt>
                <c:pt idx="32">
                  <c:v>7.02</c:v>
                </c:pt>
                <c:pt idx="33">
                  <c:v>7.42</c:v>
                </c:pt>
                <c:pt idx="34">
                  <c:v>7.44</c:v>
                </c:pt>
                <c:pt idx="35">
                  <c:v>7.44</c:v>
                </c:pt>
                <c:pt idx="36">
                  <c:v>7.51</c:v>
                </c:pt>
                <c:pt idx="37">
                  <c:v>7.95</c:v>
                </c:pt>
                <c:pt idx="38">
                  <c:v>7.98</c:v>
                </c:pt>
                <c:pt idx="39">
                  <c:v>8.82</c:v>
                </c:pt>
                <c:pt idx="40">
                  <c:v>10.67</c:v>
                </c:pt>
                <c:pt idx="41">
                  <c:v>10.7</c:v>
                </c:pt>
                <c:pt idx="42">
                  <c:v>11.1</c:v>
                </c:pt>
                <c:pt idx="43">
                  <c:v>10.98</c:v>
                </c:pt>
                <c:pt idx="44">
                  <c:v>11.76</c:v>
                </c:pt>
                <c:pt idx="45">
                  <c:v>11.37</c:v>
                </c:pt>
                <c:pt idx="46">
                  <c:v>11.5</c:v>
                </c:pt>
                <c:pt idx="47">
                  <c:v>12.49</c:v>
                </c:pt>
                <c:pt idx="48">
                  <c:v>12.68</c:v>
                </c:pt>
              </c:numCache>
            </c:numRef>
          </c:val>
          <c:smooth val="0"/>
        </c:ser>
        <c:ser>
          <c:idx val="1"/>
          <c:order val="1"/>
          <c:tx>
            <c:strRef>
              <c:f>Sheet1!$C$1</c:f>
              <c:strCache>
                <c:ptCount val="1"/>
                <c:pt idx="0">
                  <c:v>v1 (35.8)</c:v>
                </c:pt>
              </c:strCache>
            </c:strRef>
          </c:tx>
          <c:spPr>
            <a:solidFill>
              <a:srgbClr val="D9B44A"/>
            </a:solidFill>
            <a:ln w="25400" cap="flat">
              <a:solidFill>
                <a:srgbClr val="D9B44A"/>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D9B44A"/>
              </a:solidFill>
              <a:ln w="9525" cap="flat">
                <a:solidFill>
                  <a:srgbClr val="D9B44A"/>
                </a:solidFill>
                <a:prstDash val="solid"/>
                <a:round/>
              </a:ln>
              <a:effectLst/>
            </c:spPr>
          </c:marker>
          <c:cat>
            <c:multiLvlStrRef>
              <c:f>Sheet1!$A$2:$A$50</c:f>
              <c:multiLvlStrCache>
                <c:ptCount val="49"/>
                <c:lvl>
                  <c:pt idx="0">
                    <c:v>852</c:v>
                  </c:pt>
                  <c:pt idx="1">
                    <c:v>853</c:v>
                  </c:pt>
                  <c:pt idx="2">
                    <c:v>854</c:v>
                  </c:pt>
                  <c:pt idx="3">
                    <c:v>855</c:v>
                  </c:pt>
                  <c:pt idx="4">
                    <c:v>856</c:v>
                  </c:pt>
                  <c:pt idx="5">
                    <c:v>857</c:v>
                  </c:pt>
                  <c:pt idx="6">
                    <c:v>858</c:v>
                  </c:pt>
                  <c:pt idx="7">
                    <c:v>859</c:v>
                  </c:pt>
                  <c:pt idx="8">
                    <c:v>860</c:v>
                  </c:pt>
                  <c:pt idx="9">
                    <c:v>861</c:v>
                  </c:pt>
                  <c:pt idx="10">
                    <c:v>862</c:v>
                  </c:pt>
                  <c:pt idx="11">
                    <c:v>863</c:v>
                  </c:pt>
                  <c:pt idx="12">
                    <c:v>864</c:v>
                  </c:pt>
                  <c:pt idx="13">
                    <c:v>865</c:v>
                  </c:pt>
                  <c:pt idx="14">
                    <c:v>866</c:v>
                  </c:pt>
                  <c:pt idx="15">
                    <c:v>867</c:v>
                  </c:pt>
                  <c:pt idx="16">
                    <c:v>868</c:v>
                  </c:pt>
                  <c:pt idx="17">
                    <c:v>869</c:v>
                  </c:pt>
                  <c:pt idx="18">
                    <c:v>870</c:v>
                  </c:pt>
                  <c:pt idx="19">
                    <c:v>871</c:v>
                  </c:pt>
                  <c:pt idx="20">
                    <c:v>872</c:v>
                  </c:pt>
                  <c:pt idx="21">
                    <c:v>873</c:v>
                  </c:pt>
                  <c:pt idx="22">
                    <c:v>874</c:v>
                  </c:pt>
                  <c:pt idx="23">
                    <c:v>875</c:v>
                  </c:pt>
                  <c:pt idx="24">
                    <c:v>876</c:v>
                  </c:pt>
                  <c:pt idx="25">
                    <c:v>877</c:v>
                  </c:pt>
                  <c:pt idx="26">
                    <c:v>878</c:v>
                  </c:pt>
                  <c:pt idx="27">
                    <c:v>879</c:v>
                  </c:pt>
                  <c:pt idx="28">
                    <c:v>880</c:v>
                  </c:pt>
                  <c:pt idx="29">
                    <c:v>881</c:v>
                  </c:pt>
                  <c:pt idx="30">
                    <c:v>882</c:v>
                  </c:pt>
                  <c:pt idx="31">
                    <c:v>883</c:v>
                  </c:pt>
                  <c:pt idx="32">
                    <c:v>884</c:v>
                  </c:pt>
                  <c:pt idx="33">
                    <c:v>885</c:v>
                  </c:pt>
                  <c:pt idx="34">
                    <c:v>886</c:v>
                  </c:pt>
                  <c:pt idx="35">
                    <c:v>887</c:v>
                  </c:pt>
                  <c:pt idx="36">
                    <c:v>888</c:v>
                  </c:pt>
                  <c:pt idx="37">
                    <c:v>889</c:v>
                  </c:pt>
                  <c:pt idx="38">
                    <c:v>890</c:v>
                  </c:pt>
                  <c:pt idx="39">
                    <c:v>891</c:v>
                  </c:pt>
                  <c:pt idx="40">
                    <c:v>892</c:v>
                  </c:pt>
                  <c:pt idx="41">
                    <c:v>893</c:v>
                  </c:pt>
                  <c:pt idx="42">
                    <c:v>894</c:v>
                  </c:pt>
                  <c:pt idx="43">
                    <c:v>895</c:v>
                  </c:pt>
                  <c:pt idx="44">
                    <c:v>896</c:v>
                  </c:pt>
                  <c:pt idx="45">
                    <c:v>897</c:v>
                  </c:pt>
                  <c:pt idx="46">
                    <c:v>898</c:v>
                  </c:pt>
                  <c:pt idx="47">
                    <c:v>899</c:v>
                  </c:pt>
                  <c:pt idx="48">
                    <c:v>900</c:v>
                  </c:pt>
                </c:lvl>
              </c:multiLvlStrCache>
            </c:multiLvlStrRef>
          </c:cat>
          <c:val>
            <c:numRef>
              <c:f>Sheet1!$C$2:$C$50</c:f>
              <c:numCache>
                <c:formatCode>General</c:formatCode>
                <c:ptCount val="49"/>
                <c:pt idx="0">
                  <c:v>9</c:v>
                </c:pt>
                <c:pt idx="1">
                  <c:v>16.02</c:v>
                </c:pt>
                <c:pt idx="2">
                  <c:v>15.74</c:v>
                </c:pt>
                <c:pt idx="3">
                  <c:v>14.57</c:v>
                </c:pt>
                <c:pt idx="4">
                  <c:v>12.17</c:v>
                </c:pt>
                <c:pt idx="5">
                  <c:v>11.48</c:v>
                </c:pt>
                <c:pt idx="6">
                  <c:v>14.15</c:v>
                </c:pt>
                <c:pt idx="7">
                  <c:v>12.03</c:v>
                </c:pt>
                <c:pt idx="8">
                  <c:v>11.76</c:v>
                </c:pt>
                <c:pt idx="9">
                  <c:v>13.88</c:v>
                </c:pt>
                <c:pt idx="10">
                  <c:v>11.56</c:v>
                </c:pt>
                <c:pt idx="11">
                  <c:v>12.84</c:v>
                </c:pt>
                <c:pt idx="12">
                  <c:v>12.8</c:v>
                </c:pt>
                <c:pt idx="13">
                  <c:v>11.04</c:v>
                </c:pt>
                <c:pt idx="14">
                  <c:v>10.96</c:v>
                </c:pt>
                <c:pt idx="15">
                  <c:v>9.15</c:v>
                </c:pt>
                <c:pt idx="16">
                  <c:v>9.11</c:v>
                </c:pt>
                <c:pt idx="17">
                  <c:v>10.75</c:v>
                </c:pt>
                <c:pt idx="18">
                  <c:v>8.93</c:v>
                </c:pt>
                <c:pt idx="19">
                  <c:v>8.96</c:v>
                </c:pt>
                <c:pt idx="20">
                  <c:v>8.88</c:v>
                </c:pt>
                <c:pt idx="21">
                  <c:v>9.78</c:v>
                </c:pt>
                <c:pt idx="22">
                  <c:v>9.77</c:v>
                </c:pt>
                <c:pt idx="23">
                  <c:v>10.81</c:v>
                </c:pt>
                <c:pt idx="24">
                  <c:v>11.73</c:v>
                </c:pt>
                <c:pt idx="25">
                  <c:v>11.97</c:v>
                </c:pt>
                <c:pt idx="26">
                  <c:v>13.01</c:v>
                </c:pt>
                <c:pt idx="27">
                  <c:v>12.61</c:v>
                </c:pt>
                <c:pt idx="28">
                  <c:v>13.05</c:v>
                </c:pt>
                <c:pt idx="29">
                  <c:v>9.72</c:v>
                </c:pt>
                <c:pt idx="30">
                  <c:v>9.05</c:v>
                </c:pt>
                <c:pt idx="31">
                  <c:v>9.87</c:v>
                </c:pt>
                <c:pt idx="32">
                  <c:v>9.29</c:v>
                </c:pt>
                <c:pt idx="33">
                  <c:v>11.49</c:v>
                </c:pt>
                <c:pt idx="34">
                  <c:v>11.28</c:v>
                </c:pt>
                <c:pt idx="35">
                  <c:v>11.23</c:v>
                </c:pt>
                <c:pt idx="36">
                  <c:v>11.55</c:v>
                </c:pt>
                <c:pt idx="37">
                  <c:v>12.95</c:v>
                </c:pt>
                <c:pt idx="38">
                  <c:v>11.83</c:v>
                </c:pt>
                <c:pt idx="39">
                  <c:v>9.5</c:v>
                </c:pt>
                <c:pt idx="40">
                  <c:v>13.31</c:v>
                </c:pt>
                <c:pt idx="41">
                  <c:v>13.09</c:v>
                </c:pt>
                <c:pt idx="42">
                  <c:v>12.54</c:v>
                </c:pt>
                <c:pt idx="43">
                  <c:v>12.09</c:v>
                </c:pt>
                <c:pt idx="44">
                  <c:v>10.15</c:v>
                </c:pt>
                <c:pt idx="45">
                  <c:v>11.16</c:v>
                </c:pt>
                <c:pt idx="46">
                  <c:v>12.23</c:v>
                </c:pt>
                <c:pt idx="47">
                  <c:v>10.92</c:v>
                </c:pt>
                <c:pt idx="48">
                  <c:v>9.83</c:v>
                </c:pt>
              </c:numCache>
            </c:numRef>
          </c:val>
          <c:smooth val="0"/>
        </c:ser>
        <c:ser>
          <c:idx val="2"/>
          <c:order val="2"/>
          <c:tx>
            <c:strRef>
              <c:f>Sheet1!$D$1</c:f>
              <c:strCache>
                <c:ptCount val="1"/>
                <c:pt idx="0">
                  <c:v>v4 (36.4)</c:v>
                </c:pt>
              </c:strCache>
            </c:strRef>
          </c:tx>
          <c:spPr>
            <a:solidFill>
              <a:srgbClr val="8FB3E8"/>
            </a:solidFill>
            <a:ln w="25400" cap="flat">
              <a:solidFill>
                <a:srgbClr val="8FB3E8"/>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8FB3E8"/>
              </a:solidFill>
              <a:ln w="9525" cap="flat">
                <a:solidFill>
                  <a:srgbClr val="8FB3E8"/>
                </a:solidFill>
                <a:prstDash val="solid"/>
                <a:round/>
              </a:ln>
              <a:effectLst/>
            </c:spPr>
          </c:marker>
          <c:cat>
            <c:multiLvlStrRef>
              <c:f>Sheet1!$A$2:$A$50</c:f>
              <c:multiLvlStrCache>
                <c:ptCount val="49"/>
                <c:lvl>
                  <c:pt idx="0">
                    <c:v>852</c:v>
                  </c:pt>
                  <c:pt idx="1">
                    <c:v>853</c:v>
                  </c:pt>
                  <c:pt idx="2">
                    <c:v>854</c:v>
                  </c:pt>
                  <c:pt idx="3">
                    <c:v>855</c:v>
                  </c:pt>
                  <c:pt idx="4">
                    <c:v>856</c:v>
                  </c:pt>
                  <c:pt idx="5">
                    <c:v>857</c:v>
                  </c:pt>
                  <c:pt idx="6">
                    <c:v>858</c:v>
                  </c:pt>
                  <c:pt idx="7">
                    <c:v>859</c:v>
                  </c:pt>
                  <c:pt idx="8">
                    <c:v>860</c:v>
                  </c:pt>
                  <c:pt idx="9">
                    <c:v>861</c:v>
                  </c:pt>
                  <c:pt idx="10">
                    <c:v>862</c:v>
                  </c:pt>
                  <c:pt idx="11">
                    <c:v>863</c:v>
                  </c:pt>
                  <c:pt idx="12">
                    <c:v>864</c:v>
                  </c:pt>
                  <c:pt idx="13">
                    <c:v>865</c:v>
                  </c:pt>
                  <c:pt idx="14">
                    <c:v>866</c:v>
                  </c:pt>
                  <c:pt idx="15">
                    <c:v>867</c:v>
                  </c:pt>
                  <c:pt idx="16">
                    <c:v>868</c:v>
                  </c:pt>
                  <c:pt idx="17">
                    <c:v>869</c:v>
                  </c:pt>
                  <c:pt idx="18">
                    <c:v>870</c:v>
                  </c:pt>
                  <c:pt idx="19">
                    <c:v>871</c:v>
                  </c:pt>
                  <c:pt idx="20">
                    <c:v>872</c:v>
                  </c:pt>
                  <c:pt idx="21">
                    <c:v>873</c:v>
                  </c:pt>
                  <c:pt idx="22">
                    <c:v>874</c:v>
                  </c:pt>
                  <c:pt idx="23">
                    <c:v>875</c:v>
                  </c:pt>
                  <c:pt idx="24">
                    <c:v>876</c:v>
                  </c:pt>
                  <c:pt idx="25">
                    <c:v>877</c:v>
                  </c:pt>
                  <c:pt idx="26">
                    <c:v>878</c:v>
                  </c:pt>
                  <c:pt idx="27">
                    <c:v>879</c:v>
                  </c:pt>
                  <c:pt idx="28">
                    <c:v>880</c:v>
                  </c:pt>
                  <c:pt idx="29">
                    <c:v>881</c:v>
                  </c:pt>
                  <c:pt idx="30">
                    <c:v>882</c:v>
                  </c:pt>
                  <c:pt idx="31">
                    <c:v>883</c:v>
                  </c:pt>
                  <c:pt idx="32">
                    <c:v>884</c:v>
                  </c:pt>
                  <c:pt idx="33">
                    <c:v>885</c:v>
                  </c:pt>
                  <c:pt idx="34">
                    <c:v>886</c:v>
                  </c:pt>
                  <c:pt idx="35">
                    <c:v>887</c:v>
                  </c:pt>
                  <c:pt idx="36">
                    <c:v>888</c:v>
                  </c:pt>
                  <c:pt idx="37">
                    <c:v>889</c:v>
                  </c:pt>
                  <c:pt idx="38">
                    <c:v>890</c:v>
                  </c:pt>
                  <c:pt idx="39">
                    <c:v>891</c:v>
                  </c:pt>
                  <c:pt idx="40">
                    <c:v>892</c:v>
                  </c:pt>
                  <c:pt idx="41">
                    <c:v>893</c:v>
                  </c:pt>
                  <c:pt idx="42">
                    <c:v>894</c:v>
                  </c:pt>
                  <c:pt idx="43">
                    <c:v>895</c:v>
                  </c:pt>
                  <c:pt idx="44">
                    <c:v>896</c:v>
                  </c:pt>
                  <c:pt idx="45">
                    <c:v>897</c:v>
                  </c:pt>
                  <c:pt idx="46">
                    <c:v>898</c:v>
                  </c:pt>
                  <c:pt idx="47">
                    <c:v>899</c:v>
                  </c:pt>
                  <c:pt idx="48">
                    <c:v>900</c:v>
                  </c:pt>
                </c:lvl>
              </c:multiLvlStrCache>
            </c:multiLvlStrRef>
          </c:cat>
          <c:val>
            <c:numRef>
              <c:f>Sheet1!$D$2:$D$50</c:f>
              <c:numCache>
                <c:formatCode>General</c:formatCode>
                <c:ptCount val="49"/>
                <c:pt idx="0">
                  <c:v>0.45</c:v>
                </c:pt>
                <c:pt idx="1">
                  <c:v>3.31</c:v>
                </c:pt>
                <c:pt idx="2">
                  <c:v>3.15</c:v>
                </c:pt>
                <c:pt idx="3">
                  <c:v>2.8</c:v>
                </c:pt>
                <c:pt idx="4">
                  <c:v>1.96</c:v>
                </c:pt>
                <c:pt idx="5">
                  <c:v>1.82</c:v>
                </c:pt>
                <c:pt idx="6">
                  <c:v>2.22</c:v>
                </c:pt>
                <c:pt idx="7">
                  <c:v>1.54</c:v>
                </c:pt>
                <c:pt idx="8">
                  <c:v>1.53</c:v>
                </c:pt>
                <c:pt idx="9">
                  <c:v>1.9</c:v>
                </c:pt>
                <c:pt idx="10">
                  <c:v>2.07</c:v>
                </c:pt>
                <c:pt idx="11">
                  <c:v>2.08</c:v>
                </c:pt>
                <c:pt idx="12">
                  <c:v>2.07</c:v>
                </c:pt>
                <c:pt idx="13">
                  <c:v>2.4</c:v>
                </c:pt>
                <c:pt idx="14">
                  <c:v>2.38</c:v>
                </c:pt>
                <c:pt idx="15">
                  <c:v>2.35</c:v>
                </c:pt>
                <c:pt idx="16">
                  <c:v>2.35</c:v>
                </c:pt>
                <c:pt idx="17">
                  <c:v>2.59</c:v>
                </c:pt>
                <c:pt idx="18">
                  <c:v>2.47</c:v>
                </c:pt>
                <c:pt idx="19">
                  <c:v>2.47</c:v>
                </c:pt>
                <c:pt idx="20">
                  <c:v>2.44</c:v>
                </c:pt>
                <c:pt idx="21">
                  <c:v>2.66</c:v>
                </c:pt>
                <c:pt idx="22">
                  <c:v>2.66</c:v>
                </c:pt>
                <c:pt idx="23">
                  <c:v>2.79</c:v>
                </c:pt>
                <c:pt idx="24">
                  <c:v>2.9</c:v>
                </c:pt>
                <c:pt idx="25">
                  <c:v>2.89</c:v>
                </c:pt>
                <c:pt idx="26">
                  <c:v>2.97</c:v>
                </c:pt>
                <c:pt idx="27">
                  <c:v>2.97</c:v>
                </c:pt>
                <c:pt idx="28">
                  <c:v>2.97</c:v>
                </c:pt>
                <c:pt idx="29">
                  <c:v>2.69</c:v>
                </c:pt>
                <c:pt idx="30">
                  <c:v>2.66</c:v>
                </c:pt>
                <c:pt idx="31">
                  <c:v>2.74</c:v>
                </c:pt>
                <c:pt idx="32">
                  <c:v>2.73</c:v>
                </c:pt>
                <c:pt idx="33">
                  <c:v>2.94</c:v>
                </c:pt>
                <c:pt idx="34">
                  <c:v>2.94</c:v>
                </c:pt>
                <c:pt idx="35">
                  <c:v>2.95</c:v>
                </c:pt>
                <c:pt idx="36">
                  <c:v>2.96</c:v>
                </c:pt>
                <c:pt idx="37">
                  <c:v>3.23</c:v>
                </c:pt>
                <c:pt idx="38">
                  <c:v>3.14</c:v>
                </c:pt>
                <c:pt idx="39">
                  <c:v>3.46</c:v>
                </c:pt>
                <c:pt idx="40">
                  <c:v>4.04</c:v>
                </c:pt>
                <c:pt idx="41">
                  <c:v>4.04</c:v>
                </c:pt>
                <c:pt idx="42">
                  <c:v>4.23</c:v>
                </c:pt>
                <c:pt idx="43">
                  <c:v>4.26</c:v>
                </c:pt>
                <c:pt idx="44">
                  <c:v>4.71</c:v>
                </c:pt>
                <c:pt idx="45">
                  <c:v>4.4</c:v>
                </c:pt>
                <c:pt idx="46">
                  <c:v>4.29</c:v>
                </c:pt>
                <c:pt idx="47">
                  <c:v>4.82</c:v>
                </c:pt>
                <c:pt idx="48">
                  <c:v>5.15</c:v>
                </c:pt>
              </c:numCache>
            </c:numRef>
          </c:val>
          <c:smooth val="0"/>
        </c:ser>
        <c:ser>
          <c:idx val="3"/>
          <c:order val="3"/>
          <c:tx>
            <c:strRef>
              <c:f>Sheet1!$E$1</c:f>
              <c:strCache>
                <c:ptCount val="1"/>
                <c:pt idx="0">
                  <c:v>Buy &amp; hold</c:v>
                </c:pt>
              </c:strCache>
            </c:strRef>
          </c:tx>
          <c:spPr>
            <a:solidFill>
              <a:srgbClr val="EF4B4B"/>
            </a:solidFill>
            <a:ln w="25400" cap="flat">
              <a:solidFill>
                <a:srgbClr val="EF4B4B"/>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none"/>
            <c:size val="6"/>
            <c:spPr>
              <a:solidFill>
                <a:srgbClr val="EF4B4B"/>
              </a:solidFill>
              <a:ln w="9525" cap="flat">
                <a:solidFill>
                  <a:srgbClr val="EF4B4B"/>
                </a:solidFill>
                <a:prstDash val="solid"/>
                <a:round/>
              </a:ln>
              <a:effectLst/>
            </c:spPr>
          </c:marker>
          <c:cat>
            <c:multiLvlStrRef>
              <c:f>Sheet1!$A$2:$A$50</c:f>
              <c:multiLvlStrCache>
                <c:ptCount val="49"/>
                <c:lvl>
                  <c:pt idx="0">
                    <c:v>852</c:v>
                  </c:pt>
                  <c:pt idx="1">
                    <c:v>853</c:v>
                  </c:pt>
                  <c:pt idx="2">
                    <c:v>854</c:v>
                  </c:pt>
                  <c:pt idx="3">
                    <c:v>855</c:v>
                  </c:pt>
                  <c:pt idx="4">
                    <c:v>856</c:v>
                  </c:pt>
                  <c:pt idx="5">
                    <c:v>857</c:v>
                  </c:pt>
                  <c:pt idx="6">
                    <c:v>858</c:v>
                  </c:pt>
                  <c:pt idx="7">
                    <c:v>859</c:v>
                  </c:pt>
                  <c:pt idx="8">
                    <c:v>860</c:v>
                  </c:pt>
                  <c:pt idx="9">
                    <c:v>861</c:v>
                  </c:pt>
                  <c:pt idx="10">
                    <c:v>862</c:v>
                  </c:pt>
                  <c:pt idx="11">
                    <c:v>863</c:v>
                  </c:pt>
                  <c:pt idx="12">
                    <c:v>864</c:v>
                  </c:pt>
                  <c:pt idx="13">
                    <c:v>865</c:v>
                  </c:pt>
                  <c:pt idx="14">
                    <c:v>866</c:v>
                  </c:pt>
                  <c:pt idx="15">
                    <c:v>867</c:v>
                  </c:pt>
                  <c:pt idx="16">
                    <c:v>868</c:v>
                  </c:pt>
                  <c:pt idx="17">
                    <c:v>869</c:v>
                  </c:pt>
                  <c:pt idx="18">
                    <c:v>870</c:v>
                  </c:pt>
                  <c:pt idx="19">
                    <c:v>871</c:v>
                  </c:pt>
                  <c:pt idx="20">
                    <c:v>872</c:v>
                  </c:pt>
                  <c:pt idx="21">
                    <c:v>873</c:v>
                  </c:pt>
                  <c:pt idx="22">
                    <c:v>874</c:v>
                  </c:pt>
                  <c:pt idx="23">
                    <c:v>875</c:v>
                  </c:pt>
                  <c:pt idx="24">
                    <c:v>876</c:v>
                  </c:pt>
                  <c:pt idx="25">
                    <c:v>877</c:v>
                  </c:pt>
                  <c:pt idx="26">
                    <c:v>878</c:v>
                  </c:pt>
                  <c:pt idx="27">
                    <c:v>879</c:v>
                  </c:pt>
                  <c:pt idx="28">
                    <c:v>880</c:v>
                  </c:pt>
                  <c:pt idx="29">
                    <c:v>881</c:v>
                  </c:pt>
                  <c:pt idx="30">
                    <c:v>882</c:v>
                  </c:pt>
                  <c:pt idx="31">
                    <c:v>883</c:v>
                  </c:pt>
                  <c:pt idx="32">
                    <c:v>884</c:v>
                  </c:pt>
                  <c:pt idx="33">
                    <c:v>885</c:v>
                  </c:pt>
                  <c:pt idx="34">
                    <c:v>886</c:v>
                  </c:pt>
                  <c:pt idx="35">
                    <c:v>887</c:v>
                  </c:pt>
                  <c:pt idx="36">
                    <c:v>888</c:v>
                  </c:pt>
                  <c:pt idx="37">
                    <c:v>889</c:v>
                  </c:pt>
                  <c:pt idx="38">
                    <c:v>890</c:v>
                  </c:pt>
                  <c:pt idx="39">
                    <c:v>891</c:v>
                  </c:pt>
                  <c:pt idx="40">
                    <c:v>892</c:v>
                  </c:pt>
                  <c:pt idx="41">
                    <c:v>893</c:v>
                  </c:pt>
                  <c:pt idx="42">
                    <c:v>894</c:v>
                  </c:pt>
                  <c:pt idx="43">
                    <c:v>895</c:v>
                  </c:pt>
                  <c:pt idx="44">
                    <c:v>896</c:v>
                  </c:pt>
                  <c:pt idx="45">
                    <c:v>897</c:v>
                  </c:pt>
                  <c:pt idx="46">
                    <c:v>898</c:v>
                  </c:pt>
                  <c:pt idx="47">
                    <c:v>899</c:v>
                  </c:pt>
                  <c:pt idx="48">
                    <c:v>900</c:v>
                  </c:pt>
                </c:lvl>
              </c:multiLvlStrCache>
            </c:multiLvlStrRef>
          </c:cat>
          <c:val>
            <c:numRef>
              <c:f>Sheet1!$E$2:$E$50</c:f>
              <c:numCache>
                <c:formatCode>General</c:formatCode>
                <c:ptCount val="49"/>
                <c:pt idx="0">
                  <c:v>9.79</c:v>
                </c:pt>
                <c:pt idx="1">
                  <c:v>25.26</c:v>
                </c:pt>
                <c:pt idx="2">
                  <c:v>24.28</c:v>
                </c:pt>
                <c:pt idx="3">
                  <c:v>20</c:v>
                </c:pt>
                <c:pt idx="4">
                  <c:v>11.19</c:v>
                </c:pt>
                <c:pt idx="5">
                  <c:v>8.57</c:v>
                </c:pt>
                <c:pt idx="6">
                  <c:v>18.59</c:v>
                </c:pt>
                <c:pt idx="7">
                  <c:v>9.34</c:v>
                </c:pt>
                <c:pt idx="8">
                  <c:v>8.16</c:v>
                </c:pt>
                <c:pt idx="9">
                  <c:v>17.41</c:v>
                </c:pt>
                <c:pt idx="10">
                  <c:v>6.06</c:v>
                </c:pt>
                <c:pt idx="11">
                  <c:v>12.37</c:v>
                </c:pt>
                <c:pt idx="12">
                  <c:v>12.12</c:v>
                </c:pt>
                <c:pt idx="13">
                  <c:v>2.92</c:v>
                </c:pt>
                <c:pt idx="14">
                  <c:v>2.52</c:v>
                </c:pt>
                <c:pt idx="15">
                  <c:v>-6.77</c:v>
                </c:pt>
                <c:pt idx="16">
                  <c:v>-6.96</c:v>
                </c:pt>
                <c:pt idx="17">
                  <c:v>1.18</c:v>
                </c:pt>
                <c:pt idx="18">
                  <c:v>-8.88</c:v>
                </c:pt>
                <c:pt idx="19">
                  <c:v>-8.71</c:v>
                </c:pt>
                <c:pt idx="20">
                  <c:v>-9.15</c:v>
                </c:pt>
                <c:pt idx="21">
                  <c:v>-4.64</c:v>
                </c:pt>
                <c:pt idx="22">
                  <c:v>-4.67</c:v>
                </c:pt>
                <c:pt idx="23">
                  <c:v>0.16</c:v>
                </c:pt>
                <c:pt idx="24">
                  <c:v>4.67</c:v>
                </c:pt>
                <c:pt idx="25">
                  <c:v>5.91</c:v>
                </c:pt>
                <c:pt idx="26">
                  <c:v>11.15</c:v>
                </c:pt>
                <c:pt idx="27">
                  <c:v>9.16</c:v>
                </c:pt>
                <c:pt idx="28">
                  <c:v>11.23</c:v>
                </c:pt>
                <c:pt idx="29">
                  <c:v>-4.86</c:v>
                </c:pt>
                <c:pt idx="30">
                  <c:v>-7.99</c:v>
                </c:pt>
                <c:pt idx="31">
                  <c:v>-4.42</c:v>
                </c:pt>
                <c:pt idx="32">
                  <c:v>-6.94</c:v>
                </c:pt>
                <c:pt idx="33">
                  <c:v>2.49</c:v>
                </c:pt>
                <c:pt idx="34">
                  <c:v>1.49</c:v>
                </c:pt>
                <c:pt idx="35">
                  <c:v>1.25</c:v>
                </c:pt>
                <c:pt idx="36">
                  <c:v>2.65</c:v>
                </c:pt>
                <c:pt idx="37">
                  <c:v>8.96</c:v>
                </c:pt>
                <c:pt idx="38">
                  <c:v>3.84</c:v>
                </c:pt>
                <c:pt idx="39">
                  <c:v>-5.66</c:v>
                </c:pt>
                <c:pt idx="40">
                  <c:v>10.07</c:v>
                </c:pt>
                <c:pt idx="41">
                  <c:v>8.86</c:v>
                </c:pt>
                <c:pt idx="42">
                  <c:v>5.88</c:v>
                </c:pt>
                <c:pt idx="43">
                  <c:v>3.45</c:v>
                </c:pt>
                <c:pt idx="44">
                  <c:v>-6.69</c:v>
                </c:pt>
                <c:pt idx="45">
                  <c:v>-1.62</c:v>
                </c:pt>
                <c:pt idx="46">
                  <c:v>4.09</c:v>
                </c:pt>
                <c:pt idx="47">
                  <c:v>-3.27</c:v>
                </c:pt>
                <c:pt idx="48">
                  <c:v>-9.15</c:v>
                </c:pt>
              </c:numCache>
            </c:numRef>
          </c:val>
          <c:smooth val="0"/>
        </c:ser>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24324F"/>
            </a:solidFill>
            <a:prstDash val="solid"/>
            <a:round/>
          </a:ln>
        </c:spPr>
        <c:txPr>
          <a:bodyPr/>
          <a:lstStyle/>
          <a:p>
            <a:pPr>
              <a:defRPr sz="1100" b="0" i="0" u="none" strike="noStrike">
                <a:solidFill>
                  <a:srgbClr val="A9B6CC"/>
                </a:solidFill>
                <a:latin typeface="+mn-lt"/>
              </a:defRPr>
            </a:pPr>
            <a:endParaRPr lang="en-US"/>
          </a:p>
        </c:txPr>
        <c:crossAx val="2094734552"/>
        <c:crosses val="autoZero"/>
        <c:auto val="1"/>
        <c:lblAlgn val="ctr"/>
        <c:noMultiLvlLbl val="1"/>
        <c:tickLblSkip val="6"/>
      </c:catAx>
      <c:valAx>
        <c:axId val="2094734552"/>
        <c:scaling>
          <c:orientation val="minMax"/>
        </c:scaling>
        <c:delete val="0"/>
        <c:axPos val="l"/>
        <c:majorGridlines>
          <c:spPr>
            <a:ln w="6350" cap="flat">
              <a:solidFill>
                <a:srgbClr val="24324F"/>
              </a:solidFill>
              <a:prstDash val="solid"/>
              <a:round/>
            </a:ln>
          </c:spPr>
        </c:majorGridlines>
        <c:numFmt formatCode="0" sourceLinked="0"/>
        <c:majorTickMark val="out"/>
        <c:minorTickMark val="none"/>
        <c:tickLblPos val="nextTo"/>
        <c:spPr>
          <a:ln w="12700" cap="flat">
            <a:solidFill>
              <a:srgbClr val="24324F"/>
            </a:solidFill>
            <a:prstDash val="solid"/>
            <a:round/>
          </a:ln>
        </c:spPr>
        <c:txPr>
          <a:bodyPr/>
          <a:lstStyle/>
          <a:p>
            <a:pPr>
              <a:defRPr sz="1100" b="0" i="0" u="none" strike="noStrike">
                <a:solidFill>
                  <a:srgbClr val="A9B6CC"/>
                </a:solidFill>
                <a:latin typeface="+mn-lt"/>
              </a:defRPr>
            </a:pPr>
            <a:endParaRPr lang="en-US"/>
          </a:p>
        </c:txPr>
        <c:crossAx val="2094734554"/>
        <c:crosses val="autoZero"/>
        <c:crossBetween val="between"/>
      </c:valAx>
      <c:spPr>
        <a:solidFill>
          <a:srgbClr val="0A1222"/>
        </a:solidFill>
        <a:ln>
          <a:noFill/>
        </a:ln>
        <a:effectLst/>
      </c:spPr>
    </c:plotArea>
    <c:legend>
      <c:legendPos val="b"/>
      <c:overlay val="0"/>
      <c:txPr>
        <a:bodyPr/>
        <a:lstStyle/>
        <a:p>
          <a:pPr>
            <a:defRPr sz="1100">
              <a:solidFill>
                <a:srgbClr val="A9B6CC"/>
              </a:solidFill>
              <a:latin typeface="+mn-lt"/>
              <a:cs typeface="+mn-lt"/>
            </a:defRPr>
          </a:pPr>
          <a:endParaRPr lang="en-US"/>
        </a:p>
      </c:txPr>
    </c:legend>
    <c:plotVisOnly val="1"/>
    <c:dispBlanksAs val="span"/>
  </c:chart>
  <c:spPr>
    <a:solidFill>
      <a:srgbClr val="0A122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Divisha (25 s). Markets are uncertain, and the moments that matter most are regime breaks. In this competition the scored period is a crash: volatility rose to 6.4 times its normal level and far above anything in 850 days of labelled history (gold line). Most models are trained on calm data and fail exactly there. What we built: a crash-aware trading signal engine that forecasts, detects regime breaks, trains on simulated crashes and sizes a daily position for risk, cost and drawdown.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Divisha (15 s). Headline: 53.0 on the leaderboard; +12.7% while buy-and-hold lost 9.2%; 1.8% maximum drawdown. Return and drawdown come from a post-scoring analysis; nothing from the scored period was used to build the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Divisha (25 s). Left to right. The green layers (regimes, Monte Carlo crashes, robust losses) are our core contribution: the crash never appears in labelled history, so we manufactured crashes and optimised the worst regime instead of the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Friday (30 s). Rubric 1. The strongest inputs are volatility ratios: open-to-SMA gap and momentum divided by volatility. That normalisation keeps inputs in the training range at 6x volatility; without it standardised inputs reached |z| = 24. Standardise on training rows, clip at ±5. The close is rebuilt from the same row only; tomorrow's close is never reconstructed.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Navjyot (30 s). Rubric 2. Seven expanding folds plus a reserved block, never shuffled, one-row purge. Logistic regression, gradient boosting, Extra Trees and an attention LSTM compared under identical folds and metrics. Every selection rule was written before results, which guards against leaderboard overfitting; in round 2 the prior won, so we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Divisha (30 s). Five arms on identical folds, so differences come from the loss alone. B penalises the worst regime (Group-DRO style), solved exactly with an epigraph constraint. D adds Monte Carlo crashes; E combines both with the simulated crash as its own regime. Arm E was the best real-data model in round 2 and the LSTM we submitted in round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Navjyot (30 s). Labelled volatility never exceeds 0.0204; the scored block reaches 0.074. We simulate crashes from each fold's training rows only, with indicator formulas verified against the dataset. One seed trains, an independent seed stress-tests. The standard logistic regression blew up on crash inputs (1.22); MC-trained versions stayed near 0.69 to 0.70.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Friday (30 s). Rubric 3. When volatility leaves the training range we hand control to the crash-trained ensemble; positions scale inversely with volatility; every policy is judged net of costs with drawdown caps on real blocks and simulated crashes. Full long has the best calm-market Sharpe but loses in crashes; the regime switch is the only policy positive on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Divisha (25 s). Top: the price path; the crash starts at 851 with swings of 10% a day. Bottom: our final signal, v5: the v3 calls rescaled to a 15% risk target, with positions of 0.05 or less set exactly flat. Positions shrink as volatility explodes and flip direction with the daily reversals; probabilities stay in a sane 0.42 to 0.58 band. Prices shown are the visible open prices from the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Divisha (25 s). v3 scored 53.0. In the post-scoring analysis it made 12.7% while buy-and-hold lost 9.2%, with a 1.8% maximum drawdown and the right direction on 73% of days. These curves use closes rebuilt after scoring; nothing from the scored period was used to build any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Navjyot (25 s). Rubric 4: assumptions, limitations, failure cases. Our second submission smoothed v3 and dropped to 36.4: the crash reversed daily, smoothing pushed positions below the organizer's flat threshold, and the score rewards money made. Our backtest favoured smoothing because history and the simulator trend; fix: reversal scenarios and no smoothing at high volatility.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Friday (25 s). Three ways a desk could use this today: stress-test a book against simulated crashes, use the out-of-range volatility detector as an early warning, and put the volatility-scaling and crash-switch overlay on an existing strategy to cap drawdowns. The validation framework doubles as a model-risk template. It is a single-asset prototype: decision support, not autopilot.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Friday (25 s). Monte Carlo for risk: extend our simulator with regime-switching, jump and reversal paths and report VaR, CVaR and drawdown distributions. RL: training only on the 50 real crash rows would overfit and fail in normal markets, so the sound version uses our simulator as the environment with domain randomisation across regimes, with costs and drawdown in the reward and an overfitting test before use. 3 to 6 come from current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for Q&amp;A; not presented in the 3–5 minute slot.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ERO">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11064240" cy="1280160"/>
          </a:xfrm>
          <a:prstGeom prst="rect">
            <a:avLst/>
          </a:prstGeom>
          <a:noFill/>
          <a:ln/>
        </p:spPr>
        <p:txBody>
          <a:bodyPr wrap="square" rtlCol="0"/>
          <a:lstStyle>
            <a:lvl1pPr indent="0" marL="0">
              <a:buNone/>
              <a:defRPr lang="en-US" sz="4400" b="1" dirty="0">
                <a:solidFill>
                  <a:schemeClr val="bg1"/>
                </a:solidFill>
              </a:defRPr>
            </a:lvl1pPr>
          </a:lstStyle>
          <a:p>
            <a:pPr indent="0" marL="0">
              <a:buNone/>
            </a:pPr>
            <a:endParaRPr lang="en-US" sz="4400" dirty="0"/>
          </a:p>
        </p:txBody>
      </p:sp>
      <p:sp>
        <p:nvSpPr>
          <p:cNvPr id="3" name="Text 0"/>
          <p:cNvSpPr/>
          <p:nvPr>
            <p:ph idx="101" type="body" hasCustomPrompt="1"/>
          </p:nvPr>
        </p:nvSpPr>
        <p:spPr>
          <a:xfrm>
            <a:off x="548640" y="2514600"/>
            <a:ext cx="11064240" cy="822960"/>
          </a:xfrm>
          <a:prstGeom prst="rect">
            <a:avLst/>
          </a:prstGeom>
          <a:noFill/>
          <a:ln/>
        </p:spPr>
        <p:txBody>
          <a:bodyPr wrap="square" rtlCol="0"/>
          <a:lstStyle>
            <a:lvl1pPr indent="0" marL="0">
              <a:buNone/>
              <a:defRPr lang="en-US" sz="2000" dirty="0">
                <a:solidFill>
                  <a:schemeClr val="accent5"/>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3152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
        <p:nvSpPr>
          <p:cNvPr id="3" name="Text 0"/>
          <p:cNvSpPr/>
          <p:nvPr/>
        </p:nvSpPr>
        <p:spPr>
          <a:xfrm>
            <a:off x="457200" y="6446520"/>
            <a:ext cx="5486400" cy="274320"/>
          </a:xfrm>
          <a:prstGeom prst="rect">
            <a:avLst/>
          </a:prstGeom>
          <a:noFill/>
          <a:ln/>
        </p:spPr>
        <p:txBody>
          <a:bodyPr wrap="square" rtlCol="0" anchor="ctr"/>
          <a:lstStyle/>
          <a:p>
            <a:pPr indent="0" marL="0">
              <a:buNone/>
            </a:pPr>
            <a:r>
              <a:rPr lang="en-US" sz="1000" dirty="0">
                <a:solidFill>
                  <a:schemeClr val="accent6"/>
                </a:solidFill>
              </a:rPr>
              <a:t>KESTREL · BigShort Winners</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31520"/>
          </a:xfrm>
          <a:prstGeom prst="rect">
            <a:avLst/>
          </a:prstGeom>
          <a:noFill/>
          <a:ln/>
        </p:spPr>
        <p:txBody>
          <a:bodyPr wrap="square" rtlCol="0" anchor="ctr"/>
          <a:lstStyle/>
          <a:p>
            <a:pPr indent="0" marL="0">
              <a:buNone/>
            </a:pPr>
            <a:r>
              <a:rPr lang="en-US" sz="3200" b="1" dirty="0">
                <a:solidFill>
                  <a:schemeClr val="bg1"/>
                </a:solidFill>
              </a:rPr>
              <a:t>Markets are uncertain, and crashes are where models break</a:t>
            </a:r>
            <a:endParaRPr lang="en-US" sz="3200" dirty="0"/>
          </a:p>
        </p:txBody>
      </p:sp>
      <p:sp>
        <p:nvSpPr>
          <p:cNvPr id="3" name="intro-badge-0"/>
          <p:cNvSpPr/>
          <p:nvPr/>
        </p:nvSpPr>
        <p:spPr>
          <a:xfrm>
            <a:off x="457200" y="1280160"/>
            <a:ext cx="457200" cy="457200"/>
          </a:xfrm>
          <a:prstGeom prst="ellipse">
            <a:avLst/>
          </a:prstGeom>
          <a:solidFill>
            <a:srgbClr val="EF4B4B"/>
          </a:solidFill>
          <a:ln w="12700">
            <a:solidFill>
              <a:srgbClr val="EF4B4B"/>
            </a:solidFill>
            <a:prstDash val="solid"/>
          </a:ln>
        </p:spPr>
      </p:sp>
      <p:sp>
        <p:nvSpPr>
          <p:cNvPr id="4" name="Text 2"/>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5" name="Text 3"/>
          <p:cNvSpPr txBox="1"/>
          <p:nvPr/>
        </p:nvSpPr>
        <p:spPr>
          <a:xfrm>
            <a:off x="1051560" y="1234440"/>
            <a:ext cx="5120640" cy="384048"/>
          </a:xfrm>
          <a:prstGeom prst="rect">
            <a:avLst/>
          </a:prstGeom>
          <a:noFill/>
          <a:ln/>
        </p:spPr>
        <p:txBody>
          <a:bodyPr wrap="square" lIns="635" tIns="635" rIns="635" bIns="635" rtlCol="0" anchor="t"/>
          <a:lstStyle/>
          <a:p>
            <a:pPr indent="0" marL="0">
              <a:buNone/>
            </a:pPr>
            <a:r>
              <a:rPr lang="en-US" sz="1800" b="1" dirty="0">
                <a:solidFill>
                  <a:schemeClr val="bg1"/>
                </a:solidFill>
              </a:rPr>
              <a:t>Regimes shift without warning</a:t>
            </a:r>
            <a:endParaRPr lang="en-US" sz="1800" dirty="0"/>
          </a:p>
        </p:txBody>
      </p:sp>
      <p:sp>
        <p:nvSpPr>
          <p:cNvPr id="6" name="Text 4"/>
          <p:cNvSpPr txBox="1"/>
          <p:nvPr/>
        </p:nvSpPr>
        <p:spPr>
          <a:xfrm>
            <a:off x="1051560" y="1618488"/>
            <a:ext cx="5120640" cy="548640"/>
          </a:xfrm>
          <a:prstGeom prst="rect">
            <a:avLst/>
          </a:prstGeom>
          <a:noFill/>
          <a:ln/>
        </p:spPr>
        <p:txBody>
          <a:bodyPr wrap="square" lIns="635" tIns="635" rIns="635" bIns="635" rtlCol="0" anchor="t"/>
          <a:lstStyle/>
          <a:p>
            <a:pPr indent="0" marL="0">
              <a:buNone/>
            </a:pPr>
            <a:r>
              <a:rPr lang="en-US" sz="1400" dirty="0">
                <a:solidFill>
                  <a:schemeClr val="accent6"/>
                </a:solidFill>
              </a:rPr>
              <a:t>Volatility jumped from 0.012 to 0.074 (6.4× normal) within days</a:t>
            </a:r>
            <a:endParaRPr lang="en-US" sz="1400" dirty="0"/>
          </a:p>
        </p:txBody>
      </p:sp>
      <p:sp>
        <p:nvSpPr>
          <p:cNvPr id="7" name="intro-badge-1"/>
          <p:cNvSpPr/>
          <p:nvPr/>
        </p:nvSpPr>
        <p:spPr>
          <a:xfrm>
            <a:off x="457200" y="2286000"/>
            <a:ext cx="457200" cy="457200"/>
          </a:xfrm>
          <a:prstGeom prst="ellipse">
            <a:avLst/>
          </a:prstGeom>
          <a:solidFill>
            <a:srgbClr val="D9B44A"/>
          </a:solidFill>
          <a:ln w="12700">
            <a:solidFill>
              <a:srgbClr val="D9B44A"/>
            </a:solidFill>
            <a:prstDash val="solid"/>
          </a:ln>
        </p:spPr>
      </p:sp>
      <p:sp>
        <p:nvSpPr>
          <p:cNvPr id="8" name="Text 6"/>
          <p:cNvSpPr txBox="1"/>
          <p:nvPr/>
        </p:nvSpPr>
        <p:spPr>
          <a:xfrm>
            <a:off x="457200" y="22860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9" name="Text 7"/>
          <p:cNvSpPr txBox="1"/>
          <p:nvPr/>
        </p:nvSpPr>
        <p:spPr>
          <a:xfrm>
            <a:off x="1051560" y="2240280"/>
            <a:ext cx="5120640" cy="384048"/>
          </a:xfrm>
          <a:prstGeom prst="rect">
            <a:avLst/>
          </a:prstGeom>
          <a:noFill/>
          <a:ln/>
        </p:spPr>
        <p:txBody>
          <a:bodyPr wrap="square" lIns="635" tIns="635" rIns="635" bIns="635" rtlCol="0" anchor="t"/>
          <a:lstStyle/>
          <a:p>
            <a:pPr indent="0" marL="0">
              <a:buNone/>
            </a:pPr>
            <a:r>
              <a:rPr lang="en-US" sz="1800" b="1" dirty="0">
                <a:solidFill>
                  <a:schemeClr val="bg1"/>
                </a:solidFill>
              </a:rPr>
              <a:t>Models learn the calm</a:t>
            </a:r>
            <a:endParaRPr lang="en-US" sz="1800" dirty="0"/>
          </a:p>
        </p:txBody>
      </p:sp>
      <p:sp>
        <p:nvSpPr>
          <p:cNvPr id="10" name="Text 8"/>
          <p:cNvSpPr txBox="1"/>
          <p:nvPr/>
        </p:nvSpPr>
        <p:spPr>
          <a:xfrm>
            <a:off x="1051560" y="2624328"/>
            <a:ext cx="5120640" cy="548640"/>
          </a:xfrm>
          <a:prstGeom prst="rect">
            <a:avLst/>
          </a:prstGeom>
          <a:noFill/>
          <a:ln/>
        </p:spPr>
        <p:txBody>
          <a:bodyPr wrap="square" lIns="635" tIns="635" rIns="635" bIns="635" rtlCol="0" anchor="t"/>
          <a:lstStyle/>
          <a:p>
            <a:pPr indent="0" marL="0">
              <a:buNone/>
            </a:pPr>
            <a:r>
              <a:rPr lang="en-US" sz="1400" dirty="0">
                <a:solidFill>
                  <a:schemeClr val="accent6"/>
                </a:solidFill>
              </a:rPr>
              <a:t>850 days of labelled history contain no crash at all</a:t>
            </a:r>
            <a:endParaRPr lang="en-US" sz="1400" dirty="0"/>
          </a:p>
        </p:txBody>
      </p:sp>
      <p:sp>
        <p:nvSpPr>
          <p:cNvPr id="11" name="intro-badge-2"/>
          <p:cNvSpPr/>
          <p:nvPr/>
        </p:nvSpPr>
        <p:spPr>
          <a:xfrm>
            <a:off x="457200" y="3291840"/>
            <a:ext cx="457200" cy="457200"/>
          </a:xfrm>
          <a:prstGeom prst="ellipse">
            <a:avLst/>
          </a:prstGeom>
          <a:solidFill>
            <a:srgbClr val="D9B44A"/>
          </a:solidFill>
          <a:ln w="12700">
            <a:solidFill>
              <a:srgbClr val="D9B44A"/>
            </a:solidFill>
            <a:prstDash val="solid"/>
          </a:ln>
        </p:spPr>
      </p:sp>
      <p:sp>
        <p:nvSpPr>
          <p:cNvPr id="12" name="Text 10"/>
          <p:cNvSpPr txBox="1"/>
          <p:nvPr/>
        </p:nvSpPr>
        <p:spPr>
          <a:xfrm>
            <a:off x="457200" y="329184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3" name="Text 11"/>
          <p:cNvSpPr txBox="1"/>
          <p:nvPr/>
        </p:nvSpPr>
        <p:spPr>
          <a:xfrm>
            <a:off x="1051560" y="3246120"/>
            <a:ext cx="5120640" cy="384048"/>
          </a:xfrm>
          <a:prstGeom prst="rect">
            <a:avLst/>
          </a:prstGeom>
          <a:noFill/>
          <a:ln/>
        </p:spPr>
        <p:txBody>
          <a:bodyPr wrap="square" lIns="635" tIns="635" rIns="635" bIns="635" rtlCol="0" anchor="t"/>
          <a:lstStyle/>
          <a:p>
            <a:pPr indent="0" marL="0">
              <a:buNone/>
            </a:pPr>
            <a:r>
              <a:rPr lang="en-US" sz="1800" b="1" dirty="0">
                <a:solidFill>
                  <a:schemeClr val="bg1"/>
                </a:solidFill>
              </a:rPr>
              <a:t>Mistakes compound</a:t>
            </a:r>
            <a:endParaRPr lang="en-US" sz="1800" dirty="0"/>
          </a:p>
        </p:txBody>
      </p:sp>
      <p:sp>
        <p:nvSpPr>
          <p:cNvPr id="14" name="Text 12"/>
          <p:cNvSpPr txBox="1"/>
          <p:nvPr/>
        </p:nvSpPr>
        <p:spPr>
          <a:xfrm>
            <a:off x="1051560" y="3630168"/>
            <a:ext cx="5120640" cy="548640"/>
          </a:xfrm>
          <a:prstGeom prst="rect">
            <a:avLst/>
          </a:prstGeom>
          <a:noFill/>
          <a:ln/>
        </p:spPr>
        <p:txBody>
          <a:bodyPr wrap="square" lIns="635" tIns="635" rIns="635" bIns="635" rtlCol="0" anchor="t"/>
          <a:lstStyle/>
          <a:p>
            <a:pPr indent="0" marL="0">
              <a:buNone/>
            </a:pPr>
            <a:r>
              <a:rPr lang="en-US" sz="1400" dirty="0">
                <a:solidFill>
                  <a:schemeClr val="accent6"/>
                </a:solidFill>
              </a:rPr>
              <a:t>Wrong-way positions, flip-flopping costs and drawdowns wipe out returns</a:t>
            </a:r>
            <a:endParaRPr lang="en-US" sz="1400" dirty="0"/>
          </a:p>
        </p:txBody>
      </p:sp>
      <p:graphicFrame>
        <p:nvGraphicFramePr>
          <p:cNvPr id="15" name="Chart 0" descr=""/>
          <p:cNvGraphicFramePr/>
          <p:nvPr/>
        </p:nvGraphicFramePr>
        <p:xfrm>
          <a:off x="457200" y="4343400"/>
          <a:ext cx="5760720" cy="1965960"/>
        </p:xfrm>
        <a:graphic xmlns:a="http://schemas.openxmlformats.org/drawingml/2006/main">
          <a:graphicData uri="http://schemas.openxmlformats.org/drawingml/2006/chart">
            <c:chart xmlns:c="http://schemas.openxmlformats.org/drawingml/2006/chart" r:id="rId1"/>
          </a:graphicData>
        </a:graphic>
      </p:graphicFrame>
      <p:sp>
        <p:nvSpPr>
          <p:cNvPr id="16" name="building-card"/>
          <p:cNvSpPr/>
          <p:nvPr/>
        </p:nvSpPr>
        <p:spPr>
          <a:xfrm>
            <a:off x="6583680" y="1234440"/>
            <a:ext cx="5120640" cy="5074920"/>
          </a:xfrm>
          <a:prstGeom prst="roundRect">
            <a:avLst>
              <a:gd name="adj" fmla="val 1441"/>
            </a:avLst>
          </a:prstGeom>
          <a:solidFill>
            <a:srgbClr val="14213A"/>
          </a:solidFill>
          <a:ln w="12700">
            <a:solidFill>
              <a:srgbClr val="D9B44A"/>
            </a:solidFill>
            <a:prstDash val="solid"/>
          </a:ln>
        </p:spPr>
      </p:sp>
      <p:sp>
        <p:nvSpPr>
          <p:cNvPr id="17" name="Text 14"/>
          <p:cNvSpPr txBox="1"/>
          <p:nvPr/>
        </p:nvSpPr>
        <p:spPr>
          <a:xfrm>
            <a:off x="6858000" y="1417320"/>
            <a:ext cx="4572000" cy="365760"/>
          </a:xfrm>
          <a:prstGeom prst="rect">
            <a:avLst/>
          </a:prstGeom>
          <a:noFill/>
          <a:ln/>
        </p:spPr>
        <p:txBody>
          <a:bodyPr wrap="square" lIns="635" tIns="635" rIns="635" bIns="635" rtlCol="0" anchor="t"/>
          <a:lstStyle/>
          <a:p>
            <a:pPr indent="0" marL="0">
              <a:buNone/>
            </a:pPr>
            <a:r>
              <a:rPr lang="en-US" sz="1300" b="1" spc="200" kern="0" dirty="0">
                <a:solidFill>
                  <a:schemeClr val="accent3"/>
                </a:solidFill>
              </a:rPr>
              <a:t>WHAT WE ARE BUILDING</a:t>
            </a:r>
            <a:endParaRPr lang="en-US" sz="1300" dirty="0"/>
          </a:p>
        </p:txBody>
      </p:sp>
      <p:sp>
        <p:nvSpPr>
          <p:cNvPr id="18" name="Text 15"/>
          <p:cNvSpPr txBox="1"/>
          <p:nvPr/>
        </p:nvSpPr>
        <p:spPr>
          <a:xfrm>
            <a:off x="6858000" y="1783080"/>
            <a:ext cx="4572000" cy="822960"/>
          </a:xfrm>
          <a:prstGeom prst="rect">
            <a:avLst/>
          </a:prstGeom>
          <a:noFill/>
          <a:ln/>
        </p:spPr>
        <p:txBody>
          <a:bodyPr wrap="square" lIns="635" tIns="635" rIns="635" bIns="635" rtlCol="0" anchor="t"/>
          <a:lstStyle/>
          <a:p>
            <a:pPr indent="0" marL="0">
              <a:buNone/>
            </a:pPr>
            <a:r>
              <a:rPr lang="en-US" sz="2400" b="1" dirty="0">
                <a:solidFill>
                  <a:schemeClr val="bg1"/>
                </a:solidFill>
                <a:latin typeface="Cambria" pitchFamily="34" charset="0"/>
                <a:ea typeface="Cambria" pitchFamily="34" charset="-122"/>
                <a:cs typeface="Cambria" pitchFamily="34" charset="-120"/>
              </a:rPr>
              <a:t>A crash-aware trading signal engine</a:t>
            </a:r>
            <a:endParaRPr lang="en-US" sz="2400" dirty="0"/>
          </a:p>
        </p:txBody>
      </p:sp>
      <p:sp>
        <p:nvSpPr>
          <p:cNvPr id="19" name="Text 16"/>
          <p:cNvSpPr txBox="1"/>
          <p:nvPr/>
        </p:nvSpPr>
        <p:spPr>
          <a:xfrm>
            <a:off x="6858000" y="2697480"/>
            <a:ext cx="4572000" cy="3383280"/>
          </a:xfrm>
          <a:prstGeom prst="rect">
            <a:avLst/>
          </a:prstGeom>
          <a:noFill/>
          <a:ln/>
        </p:spPr>
        <p:txBody>
          <a:bodyPr wrap="square" lIns="635" tIns="635" rIns="635" bIns="635" rtlCol="0" anchor="t"/>
          <a:lstStyle/>
          <a:p>
            <a:pPr marL="342900" indent="-342900">
              <a:spcAft>
                <a:spcPts val="1000"/>
              </a:spcAft>
              <a:buSzPct val="100000"/>
              <a:buChar char="•"/>
            </a:pPr>
            <a:r>
              <a:rPr lang="en-US" sz="1600" dirty="0">
                <a:solidFill>
                  <a:schemeClr val="bg1"/>
                </a:solidFill>
              </a:rPr>
              <a:t>Forecasts next-day direction from leak-free, volatility-normalised features</a:t>
            </a:r>
            <a:endParaRPr lang="en-US" sz="1600" dirty="0"/>
          </a:p>
          <a:p>
            <a:pPr marL="342900" indent="-342900">
              <a:spcAft>
                <a:spcPts val="1000"/>
              </a:spcAft>
              <a:buSzPct val="100000"/>
              <a:buChar char="•"/>
            </a:pPr>
            <a:r>
              <a:rPr lang="en-US" sz="1600" dirty="0">
                <a:solidFill>
                  <a:schemeClr val="bg1"/>
                </a:solidFill>
              </a:rPr>
              <a:t>Detects when the market leaves every regime it has seen</a:t>
            </a:r>
            <a:endParaRPr lang="en-US" sz="1600" dirty="0"/>
          </a:p>
          <a:p>
            <a:pPr marL="342900" indent="-342900">
              <a:spcAft>
                <a:spcPts val="1000"/>
              </a:spcAft>
              <a:buSzPct val="100000"/>
              <a:buChar char="•"/>
            </a:pPr>
            <a:r>
              <a:rPr lang="en-US" sz="1600" dirty="0">
                <a:solidFill>
                  <a:schemeClr val="bg1"/>
                </a:solidFill>
              </a:rPr>
              <a:t>Trains on, and stress-tests against, thousands of simulated crashes</a:t>
            </a:r>
            <a:endParaRPr lang="en-US" sz="1600" dirty="0"/>
          </a:p>
          <a:p>
            <a:pPr marL="342900" indent="-342900">
              <a:spcAft>
                <a:spcPts val="1000"/>
              </a:spcAft>
              <a:buSzPct val="100000"/>
              <a:buChar char="•"/>
            </a:pPr>
            <a:r>
              <a:rPr lang="en-US" sz="1600" dirty="0">
                <a:solidFill>
                  <a:schemeClr val="bg1"/>
                </a:solidFill>
              </a:rPr>
              <a:t>Outputs one daily position in [−1, +1], sized for risk, cost and drawdown</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11064240" cy="1280160"/>
          </a:xfrm>
          <a:prstGeom prst="rect">
            <a:avLst/>
          </a:prstGeom>
          <a:noFill/>
          <a:ln/>
        </p:spPr>
        <p:txBody>
          <a:bodyPr wrap="square" rtlCol="0" anchor="t"/>
          <a:lstStyle/>
          <a:p>
            <a:pPr indent="0" marL="0">
              <a:buNone/>
            </a:pPr>
            <a:r>
              <a:rPr lang="en-US" sz="4400" b="1" dirty="0">
                <a:solidFill>
                  <a:schemeClr val="bg1"/>
                </a:solidFill>
              </a:rPr>
              <a:t>Surviving a 6× volatility crash</a:t>
            </a:r>
            <a:endParaRPr lang="en-US" sz="4400" dirty="0"/>
          </a:p>
        </p:txBody>
      </p:sp>
      <p:sp>
        <p:nvSpPr>
          <p:cNvPr id="3" name="Text 0"/>
          <p:cNvSpPr/>
          <p:nvPr>
            <p:ph idx="101" type="body" hasCustomPrompt="1"/>
          </p:nvPr>
        </p:nvSpPr>
        <p:spPr>
          <a:xfrm>
            <a:off x="548640" y="2514600"/>
            <a:ext cx="11064240" cy="822960"/>
          </a:xfrm>
          <a:prstGeom prst="rect">
            <a:avLst/>
          </a:prstGeom>
          <a:noFill/>
          <a:ln/>
        </p:spPr>
        <p:txBody>
          <a:bodyPr wrap="square" rtlCol="0" anchor="t"/>
          <a:lstStyle/>
          <a:p>
            <a:pPr indent="0" marL="0">
              <a:buNone/>
            </a:pPr>
            <a:r>
              <a:rPr lang="en-US" sz="2000" dirty="0">
                <a:solidFill>
                  <a:schemeClr val="accent5"/>
                </a:solidFill>
              </a:rPr>
              <a:t>Leak-free features · Monte Carlo crashes · worst-regime losses · risk-sized positions</a:t>
            </a:r>
            <a:endParaRPr lang="en-US" sz="2000" dirty="0"/>
          </a:p>
        </p:txBody>
      </p:sp>
      <p:sp>
        <p:nvSpPr>
          <p:cNvPr id="4" name="hero-stat-0"/>
          <p:cNvSpPr/>
          <p:nvPr/>
        </p:nvSpPr>
        <p:spPr>
          <a:xfrm>
            <a:off x="548640" y="3749040"/>
            <a:ext cx="3383280" cy="1920240"/>
          </a:xfrm>
          <a:prstGeom prst="roundRect">
            <a:avLst>
              <a:gd name="adj" fmla="val 3810"/>
            </a:avLst>
          </a:prstGeom>
          <a:solidFill>
            <a:srgbClr val="14213A"/>
          </a:solidFill>
          <a:ln w="12700">
            <a:solidFill>
              <a:srgbClr val="D9B44A"/>
            </a:solidFill>
            <a:prstDash val="solid"/>
          </a:ln>
        </p:spPr>
      </p:sp>
      <p:sp>
        <p:nvSpPr>
          <p:cNvPr id="5" name="Text 3"/>
          <p:cNvSpPr txBox="1"/>
          <p:nvPr/>
        </p:nvSpPr>
        <p:spPr>
          <a:xfrm>
            <a:off x="777240" y="3886200"/>
            <a:ext cx="2926080" cy="91440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53.0</a:t>
            </a:r>
            <a:endParaRPr lang="en-US" sz="4800" dirty="0"/>
          </a:p>
        </p:txBody>
      </p:sp>
      <p:sp>
        <p:nvSpPr>
          <p:cNvPr id="6" name="Text 4"/>
          <p:cNvSpPr txBox="1"/>
          <p:nvPr/>
        </p:nvSpPr>
        <p:spPr>
          <a:xfrm>
            <a:off x="777240" y="4846320"/>
            <a:ext cx="2926080" cy="640080"/>
          </a:xfrm>
          <a:prstGeom prst="rect">
            <a:avLst/>
          </a:prstGeom>
          <a:noFill/>
          <a:ln/>
        </p:spPr>
        <p:txBody>
          <a:bodyPr wrap="square" lIns="0" tIns="0" rIns="0" bIns="0" rtlCol="0" anchor="ctr"/>
          <a:lstStyle/>
          <a:p>
            <a:pPr indent="0" marL="0">
              <a:buNone/>
            </a:pPr>
            <a:r>
              <a:rPr lang="en-US" sz="1500" dirty="0">
                <a:solidFill>
                  <a:schemeClr val="bg1"/>
                </a:solidFill>
              </a:rPr>
              <a:t>Round-3 leaderboard score</a:t>
            </a:r>
            <a:endParaRPr lang="en-US" sz="1500" dirty="0"/>
          </a:p>
        </p:txBody>
      </p:sp>
      <p:sp>
        <p:nvSpPr>
          <p:cNvPr id="7" name="hero-stat-1"/>
          <p:cNvSpPr/>
          <p:nvPr/>
        </p:nvSpPr>
        <p:spPr>
          <a:xfrm>
            <a:off x="4297680" y="3749040"/>
            <a:ext cx="3383280" cy="1920240"/>
          </a:xfrm>
          <a:prstGeom prst="roundRect">
            <a:avLst>
              <a:gd name="adj" fmla="val 3810"/>
            </a:avLst>
          </a:prstGeom>
          <a:solidFill>
            <a:srgbClr val="14213A"/>
          </a:solidFill>
          <a:ln w="12700">
            <a:solidFill>
              <a:srgbClr val="24324F"/>
            </a:solidFill>
            <a:prstDash val="solid"/>
          </a:ln>
        </p:spPr>
      </p:sp>
      <p:sp>
        <p:nvSpPr>
          <p:cNvPr id="8" name="Text 6"/>
          <p:cNvSpPr txBox="1"/>
          <p:nvPr/>
        </p:nvSpPr>
        <p:spPr>
          <a:xfrm>
            <a:off x="4526280" y="3886200"/>
            <a:ext cx="2926080" cy="91440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+12.7%</a:t>
            </a:r>
            <a:endParaRPr lang="en-US" sz="4800" dirty="0"/>
          </a:p>
        </p:txBody>
      </p:sp>
      <p:sp>
        <p:nvSpPr>
          <p:cNvPr id="9" name="Text 7"/>
          <p:cNvSpPr txBox="1"/>
          <p:nvPr/>
        </p:nvSpPr>
        <p:spPr>
          <a:xfrm>
            <a:off x="4526280" y="4846320"/>
            <a:ext cx="2926080" cy="640080"/>
          </a:xfrm>
          <a:prstGeom prst="rect">
            <a:avLst/>
          </a:prstGeom>
          <a:noFill/>
          <a:ln/>
        </p:spPr>
        <p:txBody>
          <a:bodyPr wrap="square" lIns="0" tIns="0" rIns="0" bIns="0" rtlCol="0" anchor="ctr"/>
          <a:lstStyle/>
          <a:p>
            <a:pPr indent="0" marL="0">
              <a:buNone/>
            </a:pPr>
            <a:r>
              <a:rPr lang="en-US" sz="1500" dirty="0">
                <a:solidFill>
                  <a:schemeClr val="bg1"/>
                </a:solidFill>
              </a:rPr>
              <a:t>Our return while the market fell 9.2%</a:t>
            </a:r>
            <a:endParaRPr lang="en-US" sz="1500" dirty="0"/>
          </a:p>
        </p:txBody>
      </p:sp>
      <p:sp>
        <p:nvSpPr>
          <p:cNvPr id="10" name="hero-stat-2"/>
          <p:cNvSpPr/>
          <p:nvPr/>
        </p:nvSpPr>
        <p:spPr>
          <a:xfrm>
            <a:off x="8046720" y="3749040"/>
            <a:ext cx="3383280" cy="1920240"/>
          </a:xfrm>
          <a:prstGeom prst="roundRect">
            <a:avLst>
              <a:gd name="adj" fmla="val 3810"/>
            </a:avLst>
          </a:prstGeom>
          <a:solidFill>
            <a:srgbClr val="14213A"/>
          </a:solidFill>
          <a:ln w="12700">
            <a:solidFill>
              <a:srgbClr val="24324F"/>
            </a:solidFill>
            <a:prstDash val="solid"/>
          </a:ln>
        </p:spPr>
      </p:sp>
      <p:sp>
        <p:nvSpPr>
          <p:cNvPr id="11" name="Text 9"/>
          <p:cNvSpPr txBox="1"/>
          <p:nvPr/>
        </p:nvSpPr>
        <p:spPr>
          <a:xfrm>
            <a:off x="8275320" y="3886200"/>
            <a:ext cx="2926080" cy="91440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1.8%</a:t>
            </a:r>
            <a:endParaRPr lang="en-US" sz="4800" dirty="0"/>
          </a:p>
        </p:txBody>
      </p:sp>
      <p:sp>
        <p:nvSpPr>
          <p:cNvPr id="12" name="Text 10"/>
          <p:cNvSpPr txBox="1"/>
          <p:nvPr/>
        </p:nvSpPr>
        <p:spPr>
          <a:xfrm>
            <a:off x="8275320" y="4846320"/>
            <a:ext cx="2926080" cy="640080"/>
          </a:xfrm>
          <a:prstGeom prst="rect">
            <a:avLst/>
          </a:prstGeom>
          <a:noFill/>
          <a:ln/>
        </p:spPr>
        <p:txBody>
          <a:bodyPr wrap="square" lIns="0" tIns="0" rIns="0" bIns="0" rtlCol="0" anchor="ctr"/>
          <a:lstStyle/>
          <a:p>
            <a:pPr indent="0" marL="0">
              <a:buNone/>
            </a:pPr>
            <a:r>
              <a:rPr lang="en-US" sz="1500" dirty="0">
                <a:solidFill>
                  <a:schemeClr val="bg1"/>
                </a:solidFill>
              </a:rPr>
              <a:t>Maximum drawdown through the crash</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31520"/>
          </a:xfrm>
          <a:prstGeom prst="rect">
            <a:avLst/>
          </a:prstGeom>
          <a:noFill/>
          <a:ln/>
        </p:spPr>
        <p:txBody>
          <a:bodyPr wrap="square" rtlCol="0" anchor="ctr"/>
          <a:lstStyle/>
          <a:p>
            <a:pPr indent="0" marL="0">
              <a:buNone/>
            </a:pPr>
            <a:r>
              <a:rPr lang="en-US" sz="3200" b="1" dirty="0">
                <a:solidFill>
                  <a:schemeClr val="bg1"/>
                </a:solidFill>
              </a:rPr>
              <a:t>One question drives every layer: what happens at 6× volatility?</a:t>
            </a:r>
            <a:endParaRPr lang="en-US" sz="3200" dirty="0"/>
          </a:p>
        </p:txBody>
      </p:sp>
      <p:sp>
        <p:nvSpPr>
          <p:cNvPr id="3" name="arch-box-0"/>
          <p:cNvSpPr/>
          <p:nvPr/>
        </p:nvSpPr>
        <p:spPr>
          <a:xfrm>
            <a:off x="457200" y="1417320"/>
            <a:ext cx="1691640" cy="1143000"/>
          </a:xfrm>
          <a:prstGeom prst="roundRect">
            <a:avLst>
              <a:gd name="adj" fmla="val 6400"/>
            </a:avLst>
          </a:prstGeom>
          <a:solidFill>
            <a:srgbClr val="14213A"/>
          </a:solidFill>
          <a:ln w="12700">
            <a:solidFill>
              <a:srgbClr val="24324F"/>
            </a:solidFill>
            <a:prstDash val="solid"/>
          </a:ln>
        </p:spPr>
      </p:sp>
      <p:sp>
        <p:nvSpPr>
          <p:cNvPr id="4" name="Text 2"/>
          <p:cNvSpPr txBox="1"/>
          <p:nvPr/>
        </p:nvSpPr>
        <p:spPr>
          <a:xfrm>
            <a:off x="548640" y="1463040"/>
            <a:ext cx="1508760" cy="1051560"/>
          </a:xfrm>
          <a:prstGeom prst="rect">
            <a:avLst/>
          </a:prstGeom>
          <a:noFill/>
          <a:ln/>
        </p:spPr>
        <p:txBody>
          <a:bodyPr wrap="square" lIns="0" tIns="0" rIns="0" bIns="0" rtlCol="0" anchor="ctr"/>
          <a:lstStyle/>
          <a:p>
            <a:pPr algn="ctr" indent="0" marL="0">
              <a:buNone/>
            </a:pPr>
            <a:r>
              <a:rPr lang="en-US" sz="1600" b="1" dirty="0">
                <a:solidFill>
                  <a:schemeClr val="bg1"/>
                </a:solidFill>
              </a:rPr>
              <a:t>Data contract</a:t>
            </a:r>
            <a:endParaRPr lang="en-US" sz="1600" dirty="0"/>
          </a:p>
        </p:txBody>
      </p:sp>
      <p:sp>
        <p:nvSpPr>
          <p:cNvPr id="5" name="Text 3"/>
          <p:cNvSpPr txBox="1"/>
          <p:nvPr/>
        </p:nvSpPr>
        <p:spPr>
          <a:xfrm>
            <a:off x="457200" y="2697480"/>
            <a:ext cx="1691640" cy="1371600"/>
          </a:xfrm>
          <a:prstGeom prst="rect">
            <a:avLst/>
          </a:prstGeom>
          <a:noFill/>
          <a:ln/>
        </p:spPr>
        <p:txBody>
          <a:bodyPr wrap="square" lIns="635" tIns="635" rIns="635" bIns="635" rtlCol="0" anchor="t"/>
          <a:lstStyle/>
          <a:p>
            <a:pPr indent="0" marL="0">
              <a:buNone/>
            </a:pPr>
            <a:r>
              <a:rPr lang="en-US" sz="1400" dirty="0">
                <a:solidFill>
                  <a:schemeClr val="accent6"/>
                </a:solidFill>
              </a:rPr>
              <a:t>Hash-checked; rows ≤ t only; 76 leakage tests</a:t>
            </a:r>
            <a:endParaRPr lang="en-US" sz="1400" dirty="0"/>
          </a:p>
        </p:txBody>
      </p:sp>
      <p:sp>
        <p:nvSpPr>
          <p:cNvPr id="6" name="arch-arrow-0"/>
          <p:cNvSpPr/>
          <p:nvPr/>
        </p:nvSpPr>
        <p:spPr>
          <a:xfrm>
            <a:off x="2167128" y="1988820"/>
            <a:ext cx="182880" cy="0"/>
          </a:xfrm>
          <a:prstGeom prst="line">
            <a:avLst/>
          </a:prstGeom>
          <a:noFill/>
          <a:ln w="19050">
            <a:solidFill>
              <a:srgbClr val="D9B44A"/>
            </a:solidFill>
            <a:prstDash val="solid"/>
            <a:tailEnd type="triangle"/>
          </a:ln>
        </p:spPr>
      </p:sp>
      <p:sp>
        <p:nvSpPr>
          <p:cNvPr id="7" name="arch-box-1"/>
          <p:cNvSpPr/>
          <p:nvPr/>
        </p:nvSpPr>
        <p:spPr>
          <a:xfrm>
            <a:off x="2368296" y="1417320"/>
            <a:ext cx="1691640" cy="1143000"/>
          </a:xfrm>
          <a:prstGeom prst="roundRect">
            <a:avLst>
              <a:gd name="adj" fmla="val 6400"/>
            </a:avLst>
          </a:prstGeom>
          <a:solidFill>
            <a:srgbClr val="14213A"/>
          </a:solidFill>
          <a:ln w="12700">
            <a:solidFill>
              <a:srgbClr val="24324F"/>
            </a:solidFill>
            <a:prstDash val="solid"/>
          </a:ln>
        </p:spPr>
      </p:sp>
      <p:sp>
        <p:nvSpPr>
          <p:cNvPr id="8" name="Text 6"/>
          <p:cNvSpPr txBox="1"/>
          <p:nvPr/>
        </p:nvSpPr>
        <p:spPr>
          <a:xfrm>
            <a:off x="2459736" y="1463040"/>
            <a:ext cx="1508760" cy="1051560"/>
          </a:xfrm>
          <a:prstGeom prst="rect">
            <a:avLst/>
          </a:prstGeom>
          <a:noFill/>
          <a:ln/>
        </p:spPr>
        <p:txBody>
          <a:bodyPr wrap="square" lIns="0" tIns="0" rIns="0" bIns="0" rtlCol="0" anchor="ctr"/>
          <a:lstStyle/>
          <a:p>
            <a:pPr algn="ctr" indent="0" marL="0">
              <a:buNone/>
            </a:pPr>
            <a:r>
              <a:rPr lang="en-US" sz="1600" b="1" dirty="0">
                <a:solidFill>
                  <a:schemeClr val="bg1"/>
                </a:solidFill>
              </a:rPr>
              <a:t>Causal features</a:t>
            </a:r>
            <a:endParaRPr lang="en-US" sz="1600" dirty="0"/>
          </a:p>
        </p:txBody>
      </p:sp>
      <p:sp>
        <p:nvSpPr>
          <p:cNvPr id="9" name="Text 7"/>
          <p:cNvSpPr txBox="1"/>
          <p:nvPr/>
        </p:nvSpPr>
        <p:spPr>
          <a:xfrm>
            <a:off x="2368296" y="2697480"/>
            <a:ext cx="1691640" cy="1371600"/>
          </a:xfrm>
          <a:prstGeom prst="rect">
            <a:avLst/>
          </a:prstGeom>
          <a:noFill/>
          <a:ln/>
        </p:spPr>
        <p:txBody>
          <a:bodyPr wrap="square" lIns="635" tIns="635" rIns="635" bIns="635" rtlCol="0" anchor="t"/>
          <a:lstStyle/>
          <a:p>
            <a:pPr indent="0" marL="0">
              <a:buNone/>
            </a:pPr>
            <a:r>
              <a:rPr lang="en-US" sz="1400" dirty="0">
                <a:solidFill>
                  <a:schemeClr val="accent6"/>
                </a:solidFill>
              </a:rPr>
              <a:t>Scale-free, vol-normalised, clipped at ±5σ</a:t>
            </a:r>
            <a:endParaRPr lang="en-US" sz="1400" dirty="0"/>
          </a:p>
        </p:txBody>
      </p:sp>
      <p:sp>
        <p:nvSpPr>
          <p:cNvPr id="10" name="arch-arrow-1"/>
          <p:cNvSpPr/>
          <p:nvPr/>
        </p:nvSpPr>
        <p:spPr>
          <a:xfrm>
            <a:off x="4078224" y="1988820"/>
            <a:ext cx="182880" cy="0"/>
          </a:xfrm>
          <a:prstGeom prst="line">
            <a:avLst/>
          </a:prstGeom>
          <a:noFill/>
          <a:ln w="19050">
            <a:solidFill>
              <a:srgbClr val="D9B44A"/>
            </a:solidFill>
            <a:prstDash val="solid"/>
            <a:tailEnd type="triangle"/>
          </a:ln>
        </p:spPr>
      </p:sp>
      <p:sp>
        <p:nvSpPr>
          <p:cNvPr id="11" name="arch-box-2"/>
          <p:cNvSpPr/>
          <p:nvPr/>
        </p:nvSpPr>
        <p:spPr>
          <a:xfrm>
            <a:off x="4279392" y="1417320"/>
            <a:ext cx="1691640" cy="1143000"/>
          </a:xfrm>
          <a:prstGeom prst="roundRect">
            <a:avLst>
              <a:gd name="adj" fmla="val 6400"/>
            </a:avLst>
          </a:prstGeom>
          <a:solidFill>
            <a:srgbClr val="0F3329"/>
          </a:solidFill>
          <a:ln w="12700">
            <a:solidFill>
              <a:srgbClr val="21C17A"/>
            </a:solidFill>
            <a:prstDash val="solid"/>
          </a:ln>
        </p:spPr>
      </p:sp>
      <p:sp>
        <p:nvSpPr>
          <p:cNvPr id="12" name="Text 10"/>
          <p:cNvSpPr txBox="1"/>
          <p:nvPr/>
        </p:nvSpPr>
        <p:spPr>
          <a:xfrm>
            <a:off x="4370832" y="1463040"/>
            <a:ext cx="1508760" cy="1051560"/>
          </a:xfrm>
          <a:prstGeom prst="rect">
            <a:avLst/>
          </a:prstGeom>
          <a:noFill/>
          <a:ln/>
        </p:spPr>
        <p:txBody>
          <a:bodyPr wrap="square" lIns="0" tIns="0" rIns="0" bIns="0" rtlCol="0" anchor="ctr"/>
          <a:lstStyle/>
          <a:p>
            <a:pPr algn="ctr" indent="0" marL="0">
              <a:buNone/>
            </a:pPr>
            <a:r>
              <a:rPr lang="en-US" sz="1600" b="1" dirty="0">
                <a:solidFill>
                  <a:schemeClr val="accent1"/>
                </a:solidFill>
              </a:rPr>
              <a:t>Regimes + MC crashes</a:t>
            </a:r>
            <a:endParaRPr lang="en-US" sz="1600" dirty="0"/>
          </a:p>
        </p:txBody>
      </p:sp>
      <p:sp>
        <p:nvSpPr>
          <p:cNvPr id="13" name="Text 11"/>
          <p:cNvSpPr txBox="1"/>
          <p:nvPr/>
        </p:nvSpPr>
        <p:spPr>
          <a:xfrm>
            <a:off x="4279392" y="2697480"/>
            <a:ext cx="1691640" cy="1371600"/>
          </a:xfrm>
          <a:prstGeom prst="rect">
            <a:avLst/>
          </a:prstGeom>
          <a:noFill/>
          <a:ln/>
        </p:spPr>
        <p:txBody>
          <a:bodyPr wrap="square" lIns="635" tIns="635" rIns="635" bIns="635" rtlCol="0" anchor="t"/>
          <a:lstStyle/>
          <a:p>
            <a:pPr indent="0" marL="0">
              <a:buNone/>
            </a:pPr>
            <a:r>
              <a:rPr lang="en-US" sz="1400" dirty="0">
                <a:solidFill>
                  <a:schemeClr val="accent6"/>
                </a:solidFill>
              </a:rPr>
              <a:t>Vol/RSI regimes; 10,000 simulated crash rows per fold</a:t>
            </a:r>
            <a:endParaRPr lang="en-US" sz="1400" dirty="0"/>
          </a:p>
        </p:txBody>
      </p:sp>
      <p:sp>
        <p:nvSpPr>
          <p:cNvPr id="14" name="arch-arrow-2"/>
          <p:cNvSpPr/>
          <p:nvPr/>
        </p:nvSpPr>
        <p:spPr>
          <a:xfrm>
            <a:off x="5989320" y="1988820"/>
            <a:ext cx="182880" cy="0"/>
          </a:xfrm>
          <a:prstGeom prst="line">
            <a:avLst/>
          </a:prstGeom>
          <a:noFill/>
          <a:ln w="19050">
            <a:solidFill>
              <a:srgbClr val="D9B44A"/>
            </a:solidFill>
            <a:prstDash val="solid"/>
            <a:tailEnd type="triangle"/>
          </a:ln>
        </p:spPr>
      </p:sp>
      <p:sp>
        <p:nvSpPr>
          <p:cNvPr id="15" name="arch-box-3"/>
          <p:cNvSpPr/>
          <p:nvPr/>
        </p:nvSpPr>
        <p:spPr>
          <a:xfrm>
            <a:off x="6190488" y="1417320"/>
            <a:ext cx="1691640" cy="1143000"/>
          </a:xfrm>
          <a:prstGeom prst="roundRect">
            <a:avLst>
              <a:gd name="adj" fmla="val 6400"/>
            </a:avLst>
          </a:prstGeom>
          <a:solidFill>
            <a:srgbClr val="0F3329"/>
          </a:solidFill>
          <a:ln w="12700">
            <a:solidFill>
              <a:srgbClr val="21C17A"/>
            </a:solidFill>
            <a:prstDash val="solid"/>
          </a:ln>
        </p:spPr>
      </p:sp>
      <p:sp>
        <p:nvSpPr>
          <p:cNvPr id="16" name="Text 14"/>
          <p:cNvSpPr txBox="1"/>
          <p:nvPr/>
        </p:nvSpPr>
        <p:spPr>
          <a:xfrm>
            <a:off x="6281928" y="1463040"/>
            <a:ext cx="1508760" cy="1051560"/>
          </a:xfrm>
          <a:prstGeom prst="rect">
            <a:avLst/>
          </a:prstGeom>
          <a:noFill/>
          <a:ln/>
        </p:spPr>
        <p:txBody>
          <a:bodyPr wrap="square" lIns="0" tIns="0" rIns="0" bIns="0" rtlCol="0" anchor="ctr"/>
          <a:lstStyle/>
          <a:p>
            <a:pPr algn="ctr" indent="0" marL="0">
              <a:buNone/>
            </a:pPr>
            <a:r>
              <a:rPr lang="en-US" sz="1600" b="1" dirty="0">
                <a:solidFill>
                  <a:schemeClr val="accent1"/>
                </a:solidFill>
              </a:rPr>
              <a:t>Robust losses</a:t>
            </a:r>
            <a:endParaRPr lang="en-US" sz="1600" dirty="0"/>
          </a:p>
        </p:txBody>
      </p:sp>
      <p:sp>
        <p:nvSpPr>
          <p:cNvPr id="17" name="Text 15"/>
          <p:cNvSpPr txBox="1"/>
          <p:nvPr/>
        </p:nvSpPr>
        <p:spPr>
          <a:xfrm>
            <a:off x="6190488" y="2697480"/>
            <a:ext cx="1691640" cy="1371600"/>
          </a:xfrm>
          <a:prstGeom prst="rect">
            <a:avLst/>
          </a:prstGeom>
          <a:noFill/>
          <a:ln/>
        </p:spPr>
        <p:txBody>
          <a:bodyPr wrap="square" lIns="635" tIns="635" rIns="635" bIns="635" rtlCol="0" anchor="t"/>
          <a:lstStyle/>
          <a:p>
            <a:pPr indent="0" marL="0">
              <a:buNone/>
            </a:pPr>
            <a:r>
              <a:rPr lang="en-US" sz="1400" dirty="0">
                <a:solidFill>
                  <a:schemeClr val="accent6"/>
                </a:solidFill>
              </a:rPr>
              <a:t>Worst-regime (exact max) + MC augmentation</a:t>
            </a:r>
            <a:endParaRPr lang="en-US" sz="1400" dirty="0"/>
          </a:p>
        </p:txBody>
      </p:sp>
      <p:sp>
        <p:nvSpPr>
          <p:cNvPr id="18" name="arch-arrow-3"/>
          <p:cNvSpPr/>
          <p:nvPr/>
        </p:nvSpPr>
        <p:spPr>
          <a:xfrm>
            <a:off x="7900416" y="1988820"/>
            <a:ext cx="182880" cy="0"/>
          </a:xfrm>
          <a:prstGeom prst="line">
            <a:avLst/>
          </a:prstGeom>
          <a:noFill/>
          <a:ln w="19050">
            <a:solidFill>
              <a:srgbClr val="D9B44A"/>
            </a:solidFill>
            <a:prstDash val="solid"/>
            <a:tailEnd type="triangle"/>
          </a:ln>
        </p:spPr>
      </p:sp>
      <p:sp>
        <p:nvSpPr>
          <p:cNvPr id="19" name="arch-box-4"/>
          <p:cNvSpPr/>
          <p:nvPr/>
        </p:nvSpPr>
        <p:spPr>
          <a:xfrm>
            <a:off x="8101584" y="1417320"/>
            <a:ext cx="1691640" cy="1143000"/>
          </a:xfrm>
          <a:prstGeom prst="roundRect">
            <a:avLst>
              <a:gd name="adj" fmla="val 6400"/>
            </a:avLst>
          </a:prstGeom>
          <a:solidFill>
            <a:srgbClr val="14213A"/>
          </a:solidFill>
          <a:ln w="12700">
            <a:solidFill>
              <a:srgbClr val="24324F"/>
            </a:solidFill>
            <a:prstDash val="solid"/>
          </a:ln>
        </p:spPr>
      </p:sp>
      <p:sp>
        <p:nvSpPr>
          <p:cNvPr id="20" name="Text 18"/>
          <p:cNvSpPr txBox="1"/>
          <p:nvPr/>
        </p:nvSpPr>
        <p:spPr>
          <a:xfrm>
            <a:off x="8193024" y="1463040"/>
            <a:ext cx="1508760" cy="1051560"/>
          </a:xfrm>
          <a:prstGeom prst="rect">
            <a:avLst/>
          </a:prstGeom>
          <a:noFill/>
          <a:ln/>
        </p:spPr>
        <p:txBody>
          <a:bodyPr wrap="square" lIns="0" tIns="0" rIns="0" bIns="0" rtlCol="0" anchor="ctr"/>
          <a:lstStyle/>
          <a:p>
            <a:pPr algn="ctr" indent="0" marL="0">
              <a:buNone/>
            </a:pPr>
            <a:r>
              <a:rPr lang="en-US" sz="1600" b="1" dirty="0">
                <a:solidFill>
                  <a:schemeClr val="bg1"/>
                </a:solidFill>
              </a:rPr>
              <a:t>Crash-aware hybrid</a:t>
            </a:r>
            <a:endParaRPr lang="en-US" sz="1600" dirty="0"/>
          </a:p>
        </p:txBody>
      </p:sp>
      <p:sp>
        <p:nvSpPr>
          <p:cNvPr id="21" name="Text 19"/>
          <p:cNvSpPr txBox="1"/>
          <p:nvPr/>
        </p:nvSpPr>
        <p:spPr>
          <a:xfrm>
            <a:off x="8101584" y="2697480"/>
            <a:ext cx="1691640" cy="1371600"/>
          </a:xfrm>
          <a:prstGeom prst="rect">
            <a:avLst/>
          </a:prstGeom>
          <a:noFill/>
          <a:ln/>
        </p:spPr>
        <p:txBody>
          <a:bodyPr wrap="square" lIns="635" tIns="635" rIns="635" bIns="635" rtlCol="0" anchor="t"/>
          <a:lstStyle/>
          <a:p>
            <a:pPr indent="0" marL="0">
              <a:buNone/>
            </a:pPr>
            <a:r>
              <a:rPr lang="en-US" sz="1400" dirty="0">
                <a:solidFill>
                  <a:schemeClr val="accent6"/>
                </a:solidFill>
              </a:rPr>
              <a:t>LR + boosting + attention LSTM</a:t>
            </a:r>
            <a:endParaRPr lang="en-US" sz="1400" dirty="0"/>
          </a:p>
        </p:txBody>
      </p:sp>
      <p:sp>
        <p:nvSpPr>
          <p:cNvPr id="22" name="arch-arrow-4"/>
          <p:cNvSpPr/>
          <p:nvPr/>
        </p:nvSpPr>
        <p:spPr>
          <a:xfrm>
            <a:off x="9811512" y="1988820"/>
            <a:ext cx="182880" cy="0"/>
          </a:xfrm>
          <a:prstGeom prst="line">
            <a:avLst/>
          </a:prstGeom>
          <a:noFill/>
          <a:ln w="19050">
            <a:solidFill>
              <a:srgbClr val="D9B44A"/>
            </a:solidFill>
            <a:prstDash val="solid"/>
            <a:tailEnd type="triangle"/>
          </a:ln>
        </p:spPr>
      </p:sp>
      <p:sp>
        <p:nvSpPr>
          <p:cNvPr id="23" name="arch-box-5"/>
          <p:cNvSpPr/>
          <p:nvPr/>
        </p:nvSpPr>
        <p:spPr>
          <a:xfrm>
            <a:off x="10012680" y="1417320"/>
            <a:ext cx="1691640" cy="1143000"/>
          </a:xfrm>
          <a:prstGeom prst="roundRect">
            <a:avLst>
              <a:gd name="adj" fmla="val 6400"/>
            </a:avLst>
          </a:prstGeom>
          <a:solidFill>
            <a:srgbClr val="14213A"/>
          </a:solidFill>
          <a:ln w="12700">
            <a:solidFill>
              <a:srgbClr val="24324F"/>
            </a:solidFill>
            <a:prstDash val="solid"/>
          </a:ln>
        </p:spPr>
      </p:sp>
      <p:sp>
        <p:nvSpPr>
          <p:cNvPr id="24" name="Text 22"/>
          <p:cNvSpPr txBox="1"/>
          <p:nvPr/>
        </p:nvSpPr>
        <p:spPr>
          <a:xfrm>
            <a:off x="10104120" y="1463040"/>
            <a:ext cx="1508760" cy="1051560"/>
          </a:xfrm>
          <a:prstGeom prst="rect">
            <a:avLst/>
          </a:prstGeom>
          <a:noFill/>
          <a:ln/>
        </p:spPr>
        <p:txBody>
          <a:bodyPr wrap="square" lIns="0" tIns="0" rIns="0" bIns="0" rtlCol="0" anchor="ctr"/>
          <a:lstStyle/>
          <a:p>
            <a:pPr algn="ctr" indent="0" marL="0">
              <a:buNone/>
            </a:pPr>
            <a:r>
              <a:rPr lang="en-US" sz="1600" b="1" dirty="0">
                <a:solidFill>
                  <a:schemeClr val="bg1"/>
                </a:solidFill>
              </a:rPr>
              <a:t>Risk-sized signal</a:t>
            </a:r>
            <a:endParaRPr lang="en-US" sz="1600" dirty="0"/>
          </a:p>
        </p:txBody>
      </p:sp>
      <p:sp>
        <p:nvSpPr>
          <p:cNvPr id="25" name="Text 23"/>
          <p:cNvSpPr txBox="1"/>
          <p:nvPr/>
        </p:nvSpPr>
        <p:spPr>
          <a:xfrm>
            <a:off x="10012680" y="2697480"/>
            <a:ext cx="1691640" cy="1371600"/>
          </a:xfrm>
          <a:prstGeom prst="rect">
            <a:avLst/>
          </a:prstGeom>
          <a:noFill/>
          <a:ln/>
        </p:spPr>
        <p:txBody>
          <a:bodyPr wrap="square" lIns="635" tIns="635" rIns="635" bIns="635" rtlCol="0" anchor="t"/>
          <a:lstStyle/>
          <a:p>
            <a:pPr indent="0" marL="0">
              <a:buNone/>
            </a:pPr>
            <a:r>
              <a:rPr lang="en-US" sz="1400" dirty="0">
                <a:solidFill>
                  <a:schemeClr val="accent6"/>
                </a:solidFill>
              </a:rPr>
              <a:t>Regime switch, vol scaling, cost-aware</a:t>
            </a:r>
            <a:endParaRPr lang="en-US" sz="1400" dirty="0"/>
          </a:p>
        </p:txBody>
      </p:sp>
      <p:sp>
        <p:nvSpPr>
          <p:cNvPr id="26" name="arch-callout"/>
          <p:cNvSpPr/>
          <p:nvPr/>
        </p:nvSpPr>
        <p:spPr>
          <a:xfrm>
            <a:off x="457200" y="4343400"/>
            <a:ext cx="11247120" cy="1691640"/>
          </a:xfrm>
          <a:prstGeom prst="roundRect">
            <a:avLst>
              <a:gd name="adj" fmla="val 4324"/>
            </a:avLst>
          </a:prstGeom>
          <a:solidFill>
            <a:srgbClr val="14213A"/>
          </a:solidFill>
          <a:ln w="12700">
            <a:solidFill>
              <a:srgbClr val="24324F"/>
            </a:solidFill>
            <a:prstDash val="solid"/>
          </a:ln>
        </p:spPr>
      </p:sp>
      <p:sp>
        <p:nvSpPr>
          <p:cNvPr id="27" name="Text 25"/>
          <p:cNvSpPr txBox="1"/>
          <p:nvPr/>
        </p:nvSpPr>
        <p:spPr>
          <a:xfrm>
            <a:off x="731520" y="4526280"/>
            <a:ext cx="10698480" cy="1371600"/>
          </a:xfrm>
          <a:prstGeom prst="rect">
            <a:avLst/>
          </a:prstGeom>
          <a:noFill/>
          <a:ln/>
        </p:spPr>
        <p:txBody>
          <a:bodyPr wrap="square" lIns="635" tIns="635" rIns="635" bIns="635" rtlCol="0" anchor="t"/>
          <a:lstStyle/>
          <a:p>
            <a:pPr indent="0" marL="0">
              <a:spcAft>
                <a:spcPts val="800"/>
              </a:spcAft>
              <a:buNone/>
            </a:pPr>
            <a:r>
              <a:rPr lang="en-US" sz="1600" b="1" dirty="0">
                <a:solidFill>
                  <a:schemeClr val="accent3"/>
                </a:solidFill>
              </a:rPr>
              <a:t>Rounds 1–2: </a:t>
            </a:r>
            <a:pPr indent="0" marL="0">
              <a:spcAft>
                <a:spcPts val="800"/>
              </a:spcAft>
              <a:buNone/>
            </a:pPr>
            <a:r>
              <a:rPr lang="en-US" sz="1600" dirty="0">
                <a:solidFill>
                  <a:schemeClr val="bg1"/>
                </a:solidFill>
              </a:rPr>
              <a:t>next-day direction. No model beat the prior on real data, but MC-trained models stopped blowing up on crash inputs.</a:t>
            </a:r>
            <a:endParaRPr lang="en-US" sz="1600" dirty="0"/>
          </a:p>
          <a:p>
            <a:pPr indent="0" marL="0">
              <a:spcAft>
                <a:spcPts val="800"/>
              </a:spcAft>
              <a:buNone/>
            </a:pPr>
            <a:r>
              <a:rPr lang="en-US" sz="1600" b="1" dirty="0">
                <a:solidFill>
                  <a:schemeClr val="accent3"/>
                </a:solidFill>
              </a:rPr>
              <a:t>Round 3: </a:t>
            </a:r>
            <a:pPr indent="0" marL="0">
              <a:spcAft>
                <a:spcPts val="800"/>
              </a:spcAft>
              <a:buNone/>
            </a:pPr>
            <a:r>
              <a:rPr lang="en-US" sz="1600" dirty="0">
                <a:solidFill>
                  <a:schemeClr val="bg1"/>
                </a:solidFill>
              </a:rPr>
              <a:t>daily signal in [−1, 1] scored as a portfolio (Sharpe, money made, drawdown, cost). Robustness became the edge.</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31520"/>
          </a:xfrm>
          <a:prstGeom prst="rect">
            <a:avLst/>
          </a:prstGeom>
          <a:noFill/>
          <a:ln/>
        </p:spPr>
        <p:txBody>
          <a:bodyPr wrap="square" rtlCol="0" anchor="ctr"/>
          <a:lstStyle/>
          <a:p>
            <a:pPr indent="0" marL="0">
              <a:buNone/>
            </a:pPr>
            <a:r>
              <a:rPr lang="en-US" sz="3200" b="1" dirty="0">
                <a:solidFill>
                  <a:schemeClr val="bg1"/>
                </a:solidFill>
              </a:rPr>
              <a:t>Features: volatility ratios carry the signal, with zero lookahead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6035040" cy="914400"/>
        </p:xfrm>
        <a:graphic>
          <a:graphicData uri="http://schemas.openxmlformats.org/drawingml/2006/table">
            <a:tbl>
              <a:tblPr/>
              <a:tblGrid>
                <a:gridCol w="1417320"/>
                <a:gridCol w="2743200"/>
                <a:gridCol w="1874520"/>
              </a:tblGrid>
              <a:tr h="566928">
                <a:tc>
                  <a:txBody>
                    <a:bodyPr/>
                    <a:lstStyle/>
                    <a:p>
                      <a:pPr indent="0" marL="0">
                        <a:buNone/>
                      </a:pPr>
                      <a:r>
                        <a:rPr lang="en-US" sz="1300" b="1" dirty="0">
                          <a:solidFill>
                            <a:srgbClr val="0A1222"/>
                          </a:solidFill>
                          <a:latin typeface="Calibri" pitchFamily="34" charset="0"/>
                          <a:ea typeface="Calibri" pitchFamily="34" charset="-122"/>
                          <a:cs typeface="Calibri" pitchFamily="34" charset="-120"/>
                        </a:rPr>
                        <a:t>Group</a:t>
                      </a:r>
                      <a:endParaRPr lang="en-US" sz="1300" dirty="0">
                        <a:latin typeface="Calibri" charset="0"/>
                        <a:ea typeface="Calibri" charset="0"/>
                        <a:cs typeface="Calibri" charset="0"/>
                      </a:endParaRPr>
                    </a:p>
                  </a:txBody>
                  <a:tcPr marL="91440" marR="91440" marT="45720" marB="45720">
                    <a:lnL w="6350" cap="flat" cmpd="sng" algn="ctr">
                      <a:solidFill>
                        <a:srgbClr val="24324F"/>
                      </a:solidFill>
                      <a:prstDash val="solid"/>
                      <a:round/>
                      <a:headEnd type="none" w="med" len="med"/>
                      <a:tailEnd type="none" w="med" len="med"/>
                    </a:lnL>
                    <a:lnR w="6350" cap="flat" cmpd="sng" algn="ctr">
                      <a:solidFill>
                        <a:srgbClr val="24324F"/>
                      </a:solidFill>
                      <a:prstDash val="solid"/>
                      <a:round/>
                      <a:headEnd type="none" w="med" len="med"/>
                      <a:tailEnd type="none" w="med" len="med"/>
                    </a:lnR>
                    <a:lnT w="6350" cap="flat" cmpd="sng" algn="ctr">
                      <a:solidFill>
                        <a:srgbClr val="24324F"/>
                      </a:solidFill>
                      <a:prstDash val="solid"/>
                      <a:round/>
                      <a:headEnd type="none" w="med" len="med"/>
                      <a:tailEnd type="none" w="med" len="med"/>
                    </a:lnT>
                    <a:lnB w="6350" cap="flat" cmpd="sng" algn="ctr">
                      <a:solidFill>
                        <a:srgbClr val="24324F"/>
                      </a:solidFill>
                      <a:prstDash val="solid"/>
                      <a:round/>
                      <a:headEnd type="none" w="med" len="med"/>
                      <a:tailEnd type="none" w="med" len="med"/>
                    </a:lnB>
                    <a:solidFill>
                      <a:srgbClr val="D9B44A"/>
                    </a:solidFill>
                  </a:tcPr>
                </a:tc>
                <a:tc>
                  <a:txBody>
                    <a:bodyPr/>
                    <a:lstStyle/>
                    <a:p>
                      <a:pPr indent="0" marL="0">
                        <a:buNone/>
                      </a:pPr>
                      <a:r>
                        <a:rPr lang="en-US" sz="1300" b="1" dirty="0">
                          <a:solidFill>
                            <a:srgbClr val="0A1222"/>
                          </a:solidFill>
                          <a:latin typeface="Calibri" pitchFamily="34" charset="0"/>
                          <a:ea typeface="Calibri" pitchFamily="34" charset="-122"/>
                          <a:cs typeface="Calibri" pitchFamily="34" charset="-120"/>
                        </a:rPr>
                        <a:t>Examples</a:t>
                      </a:r>
                      <a:endParaRPr lang="en-US" sz="1300" dirty="0">
                        <a:latin typeface="Calibri" charset="0"/>
                        <a:ea typeface="Calibri" charset="0"/>
                        <a:cs typeface="Calibri" charset="0"/>
                      </a:endParaRPr>
                    </a:p>
                  </a:txBody>
                  <a:tcPr marL="91440" marR="91440" marT="45720" marB="45720">
                    <a:lnL w="6350" cap="flat" cmpd="sng" algn="ctr">
                      <a:solidFill>
                        <a:srgbClr val="24324F"/>
                      </a:solidFill>
                      <a:prstDash val="solid"/>
                      <a:round/>
                      <a:headEnd type="none" w="med" len="med"/>
                      <a:tailEnd type="none" w="med" len="med"/>
                    </a:lnL>
                    <a:lnR w="6350" cap="flat" cmpd="sng" algn="ctr">
                      <a:solidFill>
                        <a:srgbClr val="24324F"/>
                      </a:solidFill>
                      <a:prstDash val="solid"/>
                      <a:round/>
                      <a:headEnd type="none" w="med" len="med"/>
                      <a:tailEnd type="none" w="med" len="med"/>
                    </a:lnR>
                    <a:lnT w="6350" cap="flat" cmpd="sng" algn="ctr">
                      <a:solidFill>
                        <a:srgbClr val="24324F"/>
                      </a:solidFill>
                      <a:prstDash val="solid"/>
                      <a:round/>
                      <a:headEnd type="none" w="med" len="med"/>
                      <a:tailEnd type="none" w="med" len="med"/>
                    </a:lnT>
                    <a:lnB w="6350" cap="flat" cmpd="sng" algn="ctr">
                      <a:solidFill>
                        <a:srgbClr val="24324F"/>
                      </a:solidFill>
                      <a:prstDash val="solid"/>
                      <a:round/>
                      <a:headEnd type="none" w="med" len="med"/>
                      <a:tailEnd type="none" w="med" len="med"/>
                    </a:lnB>
                    <a:solidFill>
                      <a:srgbClr val="D9B44A"/>
                    </a:solidFill>
                  </a:tcPr>
                </a:tc>
                <a:tc>
                  <a:txBody>
                    <a:bodyPr/>
                    <a:lstStyle/>
                    <a:p>
                      <a:pPr indent="0" marL="0">
                        <a:buNone/>
                      </a:pPr>
                      <a:r>
                        <a:rPr lang="en-US" sz="1300" b="1" dirty="0">
                          <a:solidFill>
                            <a:srgbClr val="0A1222"/>
                          </a:solidFill>
                          <a:latin typeface="Calibri" pitchFamily="34" charset="0"/>
                          <a:ea typeface="Calibri" pitchFamily="34" charset="-122"/>
                          <a:cs typeface="Calibri" pitchFamily="34" charset="-120"/>
                        </a:rPr>
                        <a:t>Why</a:t>
                      </a:r>
                      <a:endParaRPr lang="en-US" sz="1300" dirty="0">
                        <a:latin typeface="Calibri" charset="0"/>
                        <a:ea typeface="Calibri" charset="0"/>
                        <a:cs typeface="Calibri" charset="0"/>
                      </a:endParaRPr>
                    </a:p>
                  </a:txBody>
                  <a:tcPr marL="91440" marR="91440" marT="45720" marB="45720">
                    <a:lnL w="6350" cap="flat" cmpd="sng" algn="ctr">
                      <a:solidFill>
                        <a:srgbClr val="24324F"/>
                      </a:solidFill>
                      <a:prstDash val="solid"/>
                      <a:round/>
                      <a:headEnd type="none" w="med" len="med"/>
                      <a:tailEnd type="none" w="med" len="med"/>
                    </a:lnL>
                    <a:lnR w="6350" cap="flat" cmpd="sng" algn="ctr">
                      <a:solidFill>
                        <a:srgbClr val="24324F"/>
                      </a:solidFill>
                      <a:prstDash val="solid"/>
                      <a:round/>
                      <a:headEnd type="none" w="med" len="med"/>
                      <a:tailEnd type="none" w="med" len="med"/>
                    </a:lnR>
                    <a:lnT w="6350" cap="flat" cmpd="sng" algn="ctr">
                      <a:solidFill>
                        <a:srgbClr val="24324F"/>
                      </a:solidFill>
                      <a:prstDash val="solid"/>
                      <a:round/>
                      <a:headEnd type="none" w="med" len="med"/>
                      <a:tailEnd type="none" w="med" len="med"/>
                    </a:lnT>
                    <a:lnB w="6350" cap="flat" cmpd="sng" algn="ctr">
                      <a:solidFill>
                        <a:srgbClr val="24324F"/>
                      </a:solidFill>
                      <a:prstDash val="solid"/>
                      <a:round/>
                      <a:headEnd type="none" w="med" len="med"/>
                      <a:tailEnd type="none" w="med" len="med"/>
                    </a:lnB>
                    <a:solidFill>
                      <a:srgbClr val="D9B44A"/>
                    </a:solidFill>
                  </a:tcPr>
                </a:tc>
              </a:tr>
              <a:tr h="566928">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Vol ratios</a:t>
                      </a:r>
                      <a:endParaRPr lang="en-US" sz="1300" dirty="0">
                        <a:latin typeface="Calibri" charset="0"/>
                        <a:ea typeface="Calibri" charset="0"/>
                        <a:cs typeface="Calibri" charset="0"/>
                      </a:endParaRPr>
                    </a:p>
                  </a:txBody>
                  <a:tcPr marL="91440" marR="91440" marT="45720" marB="45720">
                    <a:lnL w="6350" cap="flat" cmpd="sng" algn="ctr">
                      <a:solidFill>
                        <a:srgbClr val="24324F"/>
                      </a:solidFill>
                      <a:prstDash val="solid"/>
                      <a:round/>
                      <a:headEnd type="none" w="med" len="med"/>
                      <a:tailEnd type="none" w="med" len="med"/>
                    </a:lnL>
                    <a:lnR w="6350" cap="flat" cmpd="sng" algn="ctr">
                      <a:solidFill>
                        <a:srgbClr val="24324F"/>
                      </a:solidFill>
                      <a:prstDash val="solid"/>
                      <a:round/>
                      <a:headEnd type="none" w="med" len="med"/>
                      <a:tailEnd type="none" w="med" len="med"/>
                    </a:lnR>
                    <a:lnT w="6350" cap="flat" cmpd="sng" algn="ctr">
                      <a:solidFill>
                        <a:srgbClr val="24324F"/>
                      </a:solidFill>
                      <a:prstDash val="solid"/>
                      <a:round/>
                      <a:headEnd type="none" w="med" len="med"/>
                      <a:tailEnd type="none" w="med" len="med"/>
                    </a:lnT>
                    <a:lnB w="6350" cap="flat" cmpd="sng" algn="ctr">
                      <a:solidFill>
                        <a:srgbClr val="24324F"/>
                      </a:solidFill>
                      <a:prstDash val="solid"/>
                      <a:round/>
                      <a:headEnd type="none" w="med" len="med"/>
                      <a:tailEnd type="none" w="med" len="med"/>
                    </a:lnB>
                    <a:solidFill>
                      <a:srgbClr val="14213A"/>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return ÷ σ, momentum ÷ σ√5, range ÷ σ</a:t>
                      </a:r>
                      <a:endParaRPr lang="en-US" sz="1300" dirty="0">
                        <a:latin typeface="Calibri" charset="0"/>
                        <a:ea typeface="Calibri" charset="0"/>
                        <a:cs typeface="Calibri" charset="0"/>
                      </a:endParaRPr>
                    </a:p>
                  </a:txBody>
                  <a:tcPr marL="91440" marR="91440" marT="45720" marB="45720">
                    <a:lnL w="6350" cap="flat" cmpd="sng" algn="ctr">
                      <a:solidFill>
                        <a:srgbClr val="24324F"/>
                      </a:solidFill>
                      <a:prstDash val="solid"/>
                      <a:round/>
                      <a:headEnd type="none" w="med" len="med"/>
                      <a:tailEnd type="none" w="med" len="med"/>
                    </a:lnL>
                    <a:lnR w="6350" cap="flat" cmpd="sng" algn="ctr">
                      <a:solidFill>
                        <a:srgbClr val="24324F"/>
                      </a:solidFill>
                      <a:prstDash val="solid"/>
                      <a:round/>
                      <a:headEnd type="none" w="med" len="med"/>
                      <a:tailEnd type="none" w="med" len="med"/>
                    </a:lnR>
                    <a:lnT w="6350" cap="flat" cmpd="sng" algn="ctr">
                      <a:solidFill>
                        <a:srgbClr val="24324F"/>
                      </a:solidFill>
                      <a:prstDash val="solid"/>
                      <a:round/>
                      <a:headEnd type="none" w="med" len="med"/>
                      <a:tailEnd type="none" w="med" len="med"/>
                    </a:lnT>
                    <a:lnB w="6350" cap="flat" cmpd="sng" algn="ctr">
                      <a:solidFill>
                        <a:srgbClr val="24324F"/>
                      </a:solidFill>
                      <a:prstDash val="solid"/>
                      <a:round/>
                      <a:headEnd type="none" w="med" len="med"/>
                      <a:tailEnd type="none" w="med" len="med"/>
                    </a:lnB>
                    <a:solidFill>
                      <a:srgbClr val="14213A"/>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Same scale in calm and crash</a:t>
                      </a:r>
                      <a:endParaRPr lang="en-US" sz="1300" dirty="0">
                        <a:latin typeface="Calibri" charset="0"/>
                        <a:ea typeface="Calibri" charset="0"/>
                        <a:cs typeface="Calibri" charset="0"/>
                      </a:endParaRPr>
                    </a:p>
                  </a:txBody>
                  <a:tcPr marL="91440" marR="91440" marT="45720" marB="45720">
                    <a:lnL w="6350" cap="flat" cmpd="sng" algn="ctr">
                      <a:solidFill>
                        <a:srgbClr val="24324F"/>
                      </a:solidFill>
                      <a:prstDash val="solid"/>
                      <a:round/>
                      <a:headEnd type="none" w="med" len="med"/>
                      <a:tailEnd type="none" w="med" len="med"/>
                    </a:lnL>
                    <a:lnR w="6350" cap="flat" cmpd="sng" algn="ctr">
                      <a:solidFill>
                        <a:srgbClr val="24324F"/>
                      </a:solidFill>
                      <a:prstDash val="solid"/>
                      <a:round/>
                      <a:headEnd type="none" w="med" len="med"/>
                      <a:tailEnd type="none" w="med" len="med"/>
                    </a:lnR>
                    <a:lnT w="6350" cap="flat" cmpd="sng" algn="ctr">
                      <a:solidFill>
                        <a:srgbClr val="24324F"/>
                      </a:solidFill>
                      <a:prstDash val="solid"/>
                      <a:round/>
                      <a:headEnd type="none" w="med" len="med"/>
                      <a:tailEnd type="none" w="med" len="med"/>
                    </a:lnT>
                    <a:lnB w="6350" cap="flat" cmpd="sng" algn="ctr">
                      <a:solidFill>
                        <a:srgbClr val="24324F"/>
                      </a:solidFill>
                      <a:prstDash val="solid"/>
                      <a:round/>
                      <a:headEnd type="none" w="med" len="med"/>
                      <a:tailEnd type="none" w="med" len="med"/>
                    </a:lnB>
                    <a:solidFill>
                      <a:srgbClr val="14213A"/>
                    </a:solidFill>
                  </a:tcPr>
                </a:tc>
              </a:tr>
              <a:tr h="566928">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Momentum / trend</a:t>
                      </a:r>
                      <a:endParaRPr lang="en-US" sz="1300" dirty="0">
                        <a:latin typeface="Calibri" charset="0"/>
                        <a:ea typeface="Calibri" charset="0"/>
                        <a:cs typeface="Calibri" charset="0"/>
                      </a:endParaRPr>
                    </a:p>
                  </a:txBody>
                  <a:tcPr marL="91440" marR="91440" marT="45720" marB="45720">
                    <a:lnL w="6350" cap="flat" cmpd="sng" algn="ctr">
                      <a:solidFill>
                        <a:srgbClr val="24324F"/>
                      </a:solidFill>
                      <a:prstDash val="solid"/>
                      <a:round/>
                      <a:headEnd type="none" w="med" len="med"/>
                      <a:tailEnd type="none" w="med" len="med"/>
                    </a:lnL>
                    <a:lnR w="6350" cap="flat" cmpd="sng" algn="ctr">
                      <a:solidFill>
                        <a:srgbClr val="24324F"/>
                      </a:solidFill>
                      <a:prstDash val="solid"/>
                      <a:round/>
                      <a:headEnd type="none" w="med" len="med"/>
                      <a:tailEnd type="none" w="med" len="med"/>
                    </a:lnR>
                    <a:lnT w="6350" cap="flat" cmpd="sng" algn="ctr">
                      <a:solidFill>
                        <a:srgbClr val="24324F"/>
                      </a:solidFill>
                      <a:prstDash val="solid"/>
                      <a:round/>
                      <a:headEnd type="none" w="med" len="med"/>
                      <a:tailEnd type="none" w="med" len="med"/>
                    </a:lnT>
                    <a:lnB w="6350" cap="flat" cmpd="sng" algn="ctr">
                      <a:solidFill>
                        <a:srgbClr val="24324F"/>
                      </a:solidFill>
                      <a:prstDash val="solid"/>
                      <a:round/>
                      <a:headEnd type="none" w="med" len="med"/>
                      <a:tailEnd type="none" w="med" len="med"/>
                    </a:lnB>
                    <a:solidFill>
                      <a:srgbClr val="101B30"/>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open/SMA10, SMA10/SMA30, momentum_5</a:t>
                      </a:r>
                      <a:endParaRPr lang="en-US" sz="1300" dirty="0">
                        <a:latin typeface="Calibri" charset="0"/>
                        <a:ea typeface="Calibri" charset="0"/>
                        <a:cs typeface="Calibri" charset="0"/>
                      </a:endParaRPr>
                    </a:p>
                  </a:txBody>
                  <a:tcPr marL="91440" marR="91440" marT="45720" marB="45720">
                    <a:lnL w="6350" cap="flat" cmpd="sng" algn="ctr">
                      <a:solidFill>
                        <a:srgbClr val="24324F"/>
                      </a:solidFill>
                      <a:prstDash val="solid"/>
                      <a:round/>
                      <a:headEnd type="none" w="med" len="med"/>
                      <a:tailEnd type="none" w="med" len="med"/>
                    </a:lnL>
                    <a:lnR w="6350" cap="flat" cmpd="sng" algn="ctr">
                      <a:solidFill>
                        <a:srgbClr val="24324F"/>
                      </a:solidFill>
                      <a:prstDash val="solid"/>
                      <a:round/>
                      <a:headEnd type="none" w="med" len="med"/>
                      <a:tailEnd type="none" w="med" len="med"/>
                    </a:lnR>
                    <a:lnT w="6350" cap="flat" cmpd="sng" algn="ctr">
                      <a:solidFill>
                        <a:srgbClr val="24324F"/>
                      </a:solidFill>
                      <a:prstDash val="solid"/>
                      <a:round/>
                      <a:headEnd type="none" w="med" len="med"/>
                      <a:tailEnd type="none" w="med" len="med"/>
                    </a:lnT>
                    <a:lnB w="6350" cap="flat" cmpd="sng" algn="ctr">
                      <a:solidFill>
                        <a:srgbClr val="24324F"/>
                      </a:solidFill>
                      <a:prstDash val="solid"/>
                      <a:round/>
                      <a:headEnd type="none" w="med" len="med"/>
                      <a:tailEnd type="none" w="med" len="med"/>
                    </a:lnB>
                    <a:solidFill>
                      <a:srgbClr val="101B30"/>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Trend state, scale-free</a:t>
                      </a:r>
                      <a:endParaRPr lang="en-US" sz="1300" dirty="0">
                        <a:latin typeface="Calibri" charset="0"/>
                        <a:ea typeface="Calibri" charset="0"/>
                        <a:cs typeface="Calibri" charset="0"/>
                      </a:endParaRPr>
                    </a:p>
                  </a:txBody>
                  <a:tcPr marL="91440" marR="91440" marT="45720" marB="45720">
                    <a:lnL w="6350" cap="flat" cmpd="sng" algn="ctr">
                      <a:solidFill>
                        <a:srgbClr val="24324F"/>
                      </a:solidFill>
                      <a:prstDash val="solid"/>
                      <a:round/>
                      <a:headEnd type="none" w="med" len="med"/>
                      <a:tailEnd type="none" w="med" len="med"/>
                    </a:lnL>
                    <a:lnR w="6350" cap="flat" cmpd="sng" algn="ctr">
                      <a:solidFill>
                        <a:srgbClr val="24324F"/>
                      </a:solidFill>
                      <a:prstDash val="solid"/>
                      <a:round/>
                      <a:headEnd type="none" w="med" len="med"/>
                      <a:tailEnd type="none" w="med" len="med"/>
                    </a:lnR>
                    <a:lnT w="6350" cap="flat" cmpd="sng" algn="ctr">
                      <a:solidFill>
                        <a:srgbClr val="24324F"/>
                      </a:solidFill>
                      <a:prstDash val="solid"/>
                      <a:round/>
                      <a:headEnd type="none" w="med" len="med"/>
                      <a:tailEnd type="none" w="med" len="med"/>
                    </a:lnT>
                    <a:lnB w="6350" cap="flat" cmpd="sng" algn="ctr">
                      <a:solidFill>
                        <a:srgbClr val="24324F"/>
                      </a:solidFill>
                      <a:prstDash val="solid"/>
                      <a:round/>
                      <a:headEnd type="none" w="med" len="med"/>
                      <a:tailEnd type="none" w="med" len="med"/>
                    </a:lnB>
                    <a:solidFill>
                      <a:srgbClr val="101B30"/>
                    </a:solidFill>
                  </a:tcPr>
                </a:tc>
              </a:tr>
              <a:tr h="566928">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Lag returns</a:t>
                      </a:r>
                      <a:endParaRPr lang="en-US" sz="1300" dirty="0">
                        <a:latin typeface="Calibri" charset="0"/>
                        <a:ea typeface="Calibri" charset="0"/>
                        <a:cs typeface="Calibri" charset="0"/>
                      </a:endParaRPr>
                    </a:p>
                  </a:txBody>
                  <a:tcPr marL="91440" marR="91440" marT="45720" marB="45720">
                    <a:lnL w="6350" cap="flat" cmpd="sng" algn="ctr">
                      <a:solidFill>
                        <a:srgbClr val="24324F"/>
                      </a:solidFill>
                      <a:prstDash val="solid"/>
                      <a:round/>
                      <a:headEnd type="none" w="med" len="med"/>
                      <a:tailEnd type="none" w="med" len="med"/>
                    </a:lnL>
                    <a:lnR w="6350" cap="flat" cmpd="sng" algn="ctr">
                      <a:solidFill>
                        <a:srgbClr val="24324F"/>
                      </a:solidFill>
                      <a:prstDash val="solid"/>
                      <a:round/>
                      <a:headEnd type="none" w="med" len="med"/>
                      <a:tailEnd type="none" w="med" len="med"/>
                    </a:lnR>
                    <a:lnT w="6350" cap="flat" cmpd="sng" algn="ctr">
                      <a:solidFill>
                        <a:srgbClr val="24324F"/>
                      </a:solidFill>
                      <a:prstDash val="solid"/>
                      <a:round/>
                      <a:headEnd type="none" w="med" len="med"/>
                      <a:tailEnd type="none" w="med" len="med"/>
                    </a:lnT>
                    <a:lnB w="6350" cap="flat" cmpd="sng" algn="ctr">
                      <a:solidFill>
                        <a:srgbClr val="24324F"/>
                      </a:solidFill>
                      <a:prstDash val="solid"/>
                      <a:round/>
                      <a:headEnd type="none" w="med" len="med"/>
                      <a:tailEnd type="none" w="med" len="med"/>
                    </a:lnB>
                    <a:solidFill>
                      <a:srgbClr val="14213A"/>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open-to-open 1, 3, 5 days; flow and volume lags</a:t>
                      </a:r>
                      <a:endParaRPr lang="en-US" sz="1300" dirty="0">
                        <a:latin typeface="Calibri" charset="0"/>
                        <a:ea typeface="Calibri" charset="0"/>
                        <a:cs typeface="Calibri" charset="0"/>
                      </a:endParaRPr>
                    </a:p>
                  </a:txBody>
                  <a:tcPr marL="91440" marR="91440" marT="45720" marB="45720">
                    <a:lnL w="6350" cap="flat" cmpd="sng" algn="ctr">
                      <a:solidFill>
                        <a:srgbClr val="24324F"/>
                      </a:solidFill>
                      <a:prstDash val="solid"/>
                      <a:round/>
                      <a:headEnd type="none" w="med" len="med"/>
                      <a:tailEnd type="none" w="med" len="med"/>
                    </a:lnL>
                    <a:lnR w="6350" cap="flat" cmpd="sng" algn="ctr">
                      <a:solidFill>
                        <a:srgbClr val="24324F"/>
                      </a:solidFill>
                      <a:prstDash val="solid"/>
                      <a:round/>
                      <a:headEnd type="none" w="med" len="med"/>
                      <a:tailEnd type="none" w="med" len="med"/>
                    </a:lnR>
                    <a:lnT w="6350" cap="flat" cmpd="sng" algn="ctr">
                      <a:solidFill>
                        <a:srgbClr val="24324F"/>
                      </a:solidFill>
                      <a:prstDash val="solid"/>
                      <a:round/>
                      <a:headEnd type="none" w="med" len="med"/>
                      <a:tailEnd type="none" w="med" len="med"/>
                    </a:lnT>
                    <a:lnB w="6350" cap="flat" cmpd="sng" algn="ctr">
                      <a:solidFill>
                        <a:srgbClr val="24324F"/>
                      </a:solidFill>
                      <a:prstDash val="solid"/>
                      <a:round/>
                      <a:headEnd type="none" w="med" len="med"/>
                      <a:tailEnd type="none" w="med" len="med"/>
                    </a:lnB>
                    <a:solidFill>
                      <a:srgbClr val="14213A"/>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Short memory</a:t>
                      </a:r>
                      <a:endParaRPr lang="en-US" sz="1300" dirty="0">
                        <a:latin typeface="Calibri" charset="0"/>
                        <a:ea typeface="Calibri" charset="0"/>
                        <a:cs typeface="Calibri" charset="0"/>
                      </a:endParaRPr>
                    </a:p>
                  </a:txBody>
                  <a:tcPr marL="91440" marR="91440" marT="45720" marB="45720">
                    <a:lnL w="6350" cap="flat" cmpd="sng" algn="ctr">
                      <a:solidFill>
                        <a:srgbClr val="24324F"/>
                      </a:solidFill>
                      <a:prstDash val="solid"/>
                      <a:round/>
                      <a:headEnd type="none" w="med" len="med"/>
                      <a:tailEnd type="none" w="med" len="med"/>
                    </a:lnL>
                    <a:lnR w="6350" cap="flat" cmpd="sng" algn="ctr">
                      <a:solidFill>
                        <a:srgbClr val="24324F"/>
                      </a:solidFill>
                      <a:prstDash val="solid"/>
                      <a:round/>
                      <a:headEnd type="none" w="med" len="med"/>
                      <a:tailEnd type="none" w="med" len="med"/>
                    </a:lnR>
                    <a:lnT w="6350" cap="flat" cmpd="sng" algn="ctr">
                      <a:solidFill>
                        <a:srgbClr val="24324F"/>
                      </a:solidFill>
                      <a:prstDash val="solid"/>
                      <a:round/>
                      <a:headEnd type="none" w="med" len="med"/>
                      <a:tailEnd type="none" w="med" len="med"/>
                    </a:lnT>
                    <a:lnB w="6350" cap="flat" cmpd="sng" algn="ctr">
                      <a:solidFill>
                        <a:srgbClr val="24324F"/>
                      </a:solidFill>
                      <a:prstDash val="solid"/>
                      <a:round/>
                      <a:headEnd type="none" w="med" len="med"/>
                      <a:tailEnd type="none" w="med" len="med"/>
                    </a:lnB>
                    <a:solidFill>
                      <a:srgbClr val="14213A"/>
                    </a:solidFill>
                  </a:tcPr>
                </a:tc>
              </a:tr>
              <a:tr h="566928">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Bar shape</a:t>
                      </a:r>
                      <a:endParaRPr lang="en-US" sz="1300" dirty="0">
                        <a:latin typeface="Calibri" charset="0"/>
                        <a:ea typeface="Calibri" charset="0"/>
                        <a:cs typeface="Calibri" charset="0"/>
                      </a:endParaRPr>
                    </a:p>
                  </a:txBody>
                  <a:tcPr marL="91440" marR="91440" marT="45720" marB="45720">
                    <a:lnL w="6350" cap="flat" cmpd="sng" algn="ctr">
                      <a:solidFill>
                        <a:srgbClr val="24324F"/>
                      </a:solidFill>
                      <a:prstDash val="solid"/>
                      <a:round/>
                      <a:headEnd type="none" w="med" len="med"/>
                      <a:tailEnd type="none" w="med" len="med"/>
                    </a:lnL>
                    <a:lnR w="6350" cap="flat" cmpd="sng" algn="ctr">
                      <a:solidFill>
                        <a:srgbClr val="24324F"/>
                      </a:solidFill>
                      <a:prstDash val="solid"/>
                      <a:round/>
                      <a:headEnd type="none" w="med" len="med"/>
                      <a:tailEnd type="none" w="med" len="med"/>
                    </a:lnR>
                    <a:lnT w="6350" cap="flat" cmpd="sng" algn="ctr">
                      <a:solidFill>
                        <a:srgbClr val="24324F"/>
                      </a:solidFill>
                      <a:prstDash val="solid"/>
                      <a:round/>
                      <a:headEnd type="none" w="med" len="med"/>
                      <a:tailEnd type="none" w="med" len="med"/>
                    </a:lnT>
                    <a:lnB w="6350" cap="flat" cmpd="sng" algn="ctr">
                      <a:solidFill>
                        <a:srgbClr val="24324F"/>
                      </a:solidFill>
                      <a:prstDash val="solid"/>
                      <a:round/>
                      <a:headEnd type="none" w="med" len="med"/>
                      <a:tailEnd type="none" w="med" len="med"/>
                    </a:lnB>
                    <a:solidFill>
                      <a:srgbClr val="101B30"/>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(high−low)/open, wicks, close location</a:t>
                      </a:r>
                      <a:endParaRPr lang="en-US" sz="1300" dirty="0">
                        <a:latin typeface="Calibri" charset="0"/>
                        <a:ea typeface="Calibri" charset="0"/>
                        <a:cs typeface="Calibri" charset="0"/>
                      </a:endParaRPr>
                    </a:p>
                  </a:txBody>
                  <a:tcPr marL="91440" marR="91440" marT="45720" marB="45720">
                    <a:lnL w="6350" cap="flat" cmpd="sng" algn="ctr">
                      <a:solidFill>
                        <a:srgbClr val="24324F"/>
                      </a:solidFill>
                      <a:prstDash val="solid"/>
                      <a:round/>
                      <a:headEnd type="none" w="med" len="med"/>
                      <a:tailEnd type="none" w="med" len="med"/>
                    </a:lnL>
                    <a:lnR w="6350" cap="flat" cmpd="sng" algn="ctr">
                      <a:solidFill>
                        <a:srgbClr val="24324F"/>
                      </a:solidFill>
                      <a:prstDash val="solid"/>
                      <a:round/>
                      <a:headEnd type="none" w="med" len="med"/>
                      <a:tailEnd type="none" w="med" len="med"/>
                    </a:lnR>
                    <a:lnT w="6350" cap="flat" cmpd="sng" algn="ctr">
                      <a:solidFill>
                        <a:srgbClr val="24324F"/>
                      </a:solidFill>
                      <a:prstDash val="solid"/>
                      <a:round/>
                      <a:headEnd type="none" w="med" len="med"/>
                      <a:tailEnd type="none" w="med" len="med"/>
                    </a:lnT>
                    <a:lnB w="6350" cap="flat" cmpd="sng" algn="ctr">
                      <a:solidFill>
                        <a:srgbClr val="24324F"/>
                      </a:solidFill>
                      <a:prstDash val="solid"/>
                      <a:round/>
                      <a:headEnd type="none" w="med" len="med"/>
                      <a:tailEnd type="none" w="med" len="med"/>
                    </a:lnB>
                    <a:solidFill>
                      <a:srgbClr val="101B30"/>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Intraday pressure</a:t>
                      </a:r>
                      <a:endParaRPr lang="en-US" sz="1300" dirty="0">
                        <a:latin typeface="Calibri" charset="0"/>
                        <a:ea typeface="Calibri" charset="0"/>
                        <a:cs typeface="Calibri" charset="0"/>
                      </a:endParaRPr>
                    </a:p>
                  </a:txBody>
                  <a:tcPr marL="91440" marR="91440" marT="45720" marB="45720">
                    <a:lnL w="6350" cap="flat" cmpd="sng" algn="ctr">
                      <a:solidFill>
                        <a:srgbClr val="24324F"/>
                      </a:solidFill>
                      <a:prstDash val="solid"/>
                      <a:round/>
                      <a:headEnd type="none" w="med" len="med"/>
                      <a:tailEnd type="none" w="med" len="med"/>
                    </a:lnL>
                    <a:lnR w="6350" cap="flat" cmpd="sng" algn="ctr">
                      <a:solidFill>
                        <a:srgbClr val="24324F"/>
                      </a:solidFill>
                      <a:prstDash val="solid"/>
                      <a:round/>
                      <a:headEnd type="none" w="med" len="med"/>
                      <a:tailEnd type="none" w="med" len="med"/>
                    </a:lnR>
                    <a:lnT w="6350" cap="flat" cmpd="sng" algn="ctr">
                      <a:solidFill>
                        <a:srgbClr val="24324F"/>
                      </a:solidFill>
                      <a:prstDash val="solid"/>
                      <a:round/>
                      <a:headEnd type="none" w="med" len="med"/>
                      <a:tailEnd type="none" w="med" len="med"/>
                    </a:lnT>
                    <a:lnB w="6350" cap="flat" cmpd="sng" algn="ctr">
                      <a:solidFill>
                        <a:srgbClr val="24324F"/>
                      </a:solidFill>
                      <a:prstDash val="solid"/>
                      <a:round/>
                      <a:headEnd type="none" w="med" len="med"/>
                      <a:tailEnd type="none" w="med" len="med"/>
                    </a:lnB>
                    <a:solidFill>
                      <a:srgbClr val="101B30"/>
                    </a:solidFill>
                  </a:tcPr>
                </a:tc>
              </a:tr>
              <a:tr h="566928">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Same-row close</a:t>
                      </a:r>
                      <a:endParaRPr lang="en-US" sz="1300" dirty="0">
                        <a:latin typeface="Calibri" charset="0"/>
                        <a:ea typeface="Calibri" charset="0"/>
                        <a:cs typeface="Calibri" charset="0"/>
                      </a:endParaRPr>
                    </a:p>
                  </a:txBody>
                  <a:tcPr marL="91440" marR="91440" marT="45720" marB="45720">
                    <a:lnL w="6350" cap="flat" cmpd="sng" algn="ctr">
                      <a:solidFill>
                        <a:srgbClr val="24324F"/>
                      </a:solidFill>
                      <a:prstDash val="solid"/>
                      <a:round/>
                      <a:headEnd type="none" w="med" len="med"/>
                      <a:tailEnd type="none" w="med" len="med"/>
                    </a:lnL>
                    <a:lnR w="6350" cap="flat" cmpd="sng" algn="ctr">
                      <a:solidFill>
                        <a:srgbClr val="24324F"/>
                      </a:solidFill>
                      <a:prstDash val="solid"/>
                      <a:round/>
                      <a:headEnd type="none" w="med" len="med"/>
                      <a:tailEnd type="none" w="med" len="med"/>
                    </a:lnR>
                    <a:lnT w="6350" cap="flat" cmpd="sng" algn="ctr">
                      <a:solidFill>
                        <a:srgbClr val="24324F"/>
                      </a:solidFill>
                      <a:prstDash val="solid"/>
                      <a:round/>
                      <a:headEnd type="none" w="med" len="med"/>
                      <a:tailEnd type="none" w="med" len="med"/>
                    </a:lnT>
                    <a:lnB w="6350" cap="flat" cmpd="sng" algn="ctr">
                      <a:solidFill>
                        <a:srgbClr val="24324F"/>
                      </a:solidFill>
                      <a:prstDash val="solid"/>
                      <a:round/>
                      <a:headEnd type="none" w="med" len="med"/>
                      <a:tailEnd type="none" w="med" len="med"/>
                    </a:lnB>
                    <a:solidFill>
                      <a:srgbClr val="14213A"/>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close[t] = close[t−5]·(1+mom5[t])</a:t>
                      </a:r>
                      <a:endParaRPr lang="en-US" sz="1300" dirty="0">
                        <a:latin typeface="Calibri" charset="0"/>
                        <a:ea typeface="Calibri" charset="0"/>
                        <a:cs typeface="Calibri" charset="0"/>
                      </a:endParaRPr>
                    </a:p>
                  </a:txBody>
                  <a:tcPr marL="91440" marR="91440" marT="45720" marB="45720">
                    <a:lnL w="6350" cap="flat" cmpd="sng" algn="ctr">
                      <a:solidFill>
                        <a:srgbClr val="24324F"/>
                      </a:solidFill>
                      <a:prstDash val="solid"/>
                      <a:round/>
                      <a:headEnd type="none" w="med" len="med"/>
                      <a:tailEnd type="none" w="med" len="med"/>
                    </a:lnL>
                    <a:lnR w="6350" cap="flat" cmpd="sng" algn="ctr">
                      <a:solidFill>
                        <a:srgbClr val="24324F"/>
                      </a:solidFill>
                      <a:prstDash val="solid"/>
                      <a:round/>
                      <a:headEnd type="none" w="med" len="med"/>
                      <a:tailEnd type="none" w="med" len="med"/>
                    </a:lnR>
                    <a:lnT w="6350" cap="flat" cmpd="sng" algn="ctr">
                      <a:solidFill>
                        <a:srgbClr val="24324F"/>
                      </a:solidFill>
                      <a:prstDash val="solid"/>
                      <a:round/>
                      <a:headEnd type="none" w="med" len="med"/>
                      <a:tailEnd type="none" w="med" len="med"/>
                    </a:lnT>
                    <a:lnB w="6350" cap="flat" cmpd="sng" algn="ctr">
                      <a:solidFill>
                        <a:srgbClr val="24324F"/>
                      </a:solidFill>
                      <a:prstDash val="solid"/>
                      <a:round/>
                      <a:headEnd type="none" w="med" len="med"/>
                      <a:tailEnd type="none" w="med" len="med"/>
                    </a:lnB>
                    <a:solidFill>
                      <a:srgbClr val="14213A"/>
                    </a:solidFill>
                  </a:tcPr>
                </a:tc>
                <a:tc>
                  <a:txBody>
                    <a:bodyPr/>
                    <a:lstStyle/>
                    <a:p>
                      <a:pPr indent="0" marL="0">
                        <a:buNone/>
                      </a:pPr>
                      <a:r>
                        <a:rPr lang="en-US" sz="1300" dirty="0">
                          <a:solidFill>
                            <a:srgbClr val="FFFFFF"/>
                          </a:solidFill>
                          <a:latin typeface="Calibri" pitchFamily="34" charset="0"/>
                          <a:ea typeface="Calibri" pitchFamily="34" charset="-122"/>
                          <a:cs typeface="Calibri" pitchFamily="34" charset="-120"/>
                        </a:rPr>
                        <a:t>Rows ≤ t only; 0.013% error</a:t>
                      </a:r>
                      <a:endParaRPr lang="en-US" sz="1300" dirty="0">
                        <a:latin typeface="Calibri" charset="0"/>
                        <a:ea typeface="Calibri" charset="0"/>
                        <a:cs typeface="Calibri" charset="0"/>
                      </a:endParaRPr>
                    </a:p>
                  </a:txBody>
                  <a:tcPr marL="91440" marR="91440" marT="45720" marB="45720">
                    <a:lnL w="6350" cap="flat" cmpd="sng" algn="ctr">
                      <a:solidFill>
                        <a:srgbClr val="24324F"/>
                      </a:solidFill>
                      <a:prstDash val="solid"/>
                      <a:round/>
                      <a:headEnd type="none" w="med" len="med"/>
                      <a:tailEnd type="none" w="med" len="med"/>
                    </a:lnL>
                    <a:lnR w="6350" cap="flat" cmpd="sng" algn="ctr">
                      <a:solidFill>
                        <a:srgbClr val="24324F"/>
                      </a:solidFill>
                      <a:prstDash val="solid"/>
                      <a:round/>
                      <a:headEnd type="none" w="med" len="med"/>
                      <a:tailEnd type="none" w="med" len="med"/>
                    </a:lnR>
                    <a:lnT w="6350" cap="flat" cmpd="sng" algn="ctr">
                      <a:solidFill>
                        <a:srgbClr val="24324F"/>
                      </a:solidFill>
                      <a:prstDash val="solid"/>
                      <a:round/>
                      <a:headEnd type="none" w="med" len="med"/>
                      <a:tailEnd type="none" w="med" len="med"/>
                    </a:lnT>
                    <a:lnB w="6350" cap="flat" cmpd="sng" algn="ctr">
                      <a:solidFill>
                        <a:srgbClr val="24324F"/>
                      </a:solidFill>
                      <a:prstDash val="solid"/>
                      <a:round/>
                      <a:headEnd type="none" w="med" len="med"/>
                      <a:tailEnd type="none" w="med" len="med"/>
                    </a:lnB>
                    <a:solidFill>
                      <a:srgbClr val="14213A"/>
                    </a:solidFill>
                  </a:tcPr>
                </a:tc>
              </a:tr>
            </a:tbl>
          </a:graphicData>
        </a:graphic>
      </p:graphicFrame>
      <p:sp>
        <p:nvSpPr>
          <p:cNvPr id="4" name="Text 1"/>
          <p:cNvSpPr txBox="1"/>
          <p:nvPr/>
        </p:nvSpPr>
        <p:spPr>
          <a:xfrm>
            <a:off x="457200" y="4937760"/>
            <a:ext cx="6035040" cy="1005840"/>
          </a:xfrm>
          <a:prstGeom prst="rect">
            <a:avLst/>
          </a:prstGeom>
          <a:noFill/>
          <a:ln/>
        </p:spPr>
        <p:txBody>
          <a:bodyPr wrap="square" lIns="635" tIns="635" rIns="635" bIns="635" rtlCol="0" anchor="t"/>
          <a:lstStyle/>
          <a:p>
            <a:pPr indent="0" marL="0">
              <a:buNone/>
            </a:pPr>
            <a:r>
              <a:rPr lang="en-US" sz="1400" b="1" dirty="0">
                <a:solidFill>
                  <a:schemeClr val="accent3"/>
                </a:solidFill>
              </a:rPr>
              <a:t>No lookahead: </a:t>
            </a:r>
            <a:pPr indent="0" marL="0">
              <a:buNone/>
            </a:pPr>
            <a:r>
              <a:rPr lang="en-US" sz="1400" dirty="0">
                <a:solidFill>
                  <a:schemeClr val="bg1"/>
                </a:solidFill>
              </a:rPr>
              <a:t>scaler and cutoffs fit on training rows only; tests prove perturbing any later row never changes a feature at t.</a:t>
            </a:r>
            <a:endParaRPr lang="en-US" sz="1400" dirty="0"/>
          </a:p>
        </p:txBody>
      </p:sp>
      <p:graphicFrame>
        <p:nvGraphicFramePr>
          <p:cNvPr id="5" name="Chart 0" descr=""/>
          <p:cNvGraphicFramePr/>
          <p:nvPr/>
        </p:nvGraphicFramePr>
        <p:xfrm>
          <a:off x="6766560" y="1188720"/>
          <a:ext cx="4937760" cy="502920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31520"/>
          </a:xfrm>
          <a:prstGeom prst="rect">
            <a:avLst/>
          </a:prstGeom>
          <a:noFill/>
          <a:ln/>
        </p:spPr>
        <p:txBody>
          <a:bodyPr wrap="square" rtlCol="0" anchor="ctr"/>
          <a:lstStyle/>
          <a:p>
            <a:pPr indent="0" marL="0">
              <a:buNone/>
            </a:pPr>
            <a:r>
              <a:rPr lang="en-US" sz="3200" b="1" dirty="0">
                <a:solidFill>
                  <a:schemeClr val="bg1"/>
                </a:solidFill>
              </a:rPr>
              <a:t>Validation: chronological, purged, rules fixed before results</a:t>
            </a:r>
            <a:endParaRPr lang="en-US" sz="3200" dirty="0"/>
          </a:p>
        </p:txBody>
      </p:sp>
      <p:sp>
        <p:nvSpPr>
          <p:cNvPr id="3" name="fold-train-0"/>
          <p:cNvSpPr/>
          <p:nvPr/>
        </p:nvSpPr>
        <p:spPr>
          <a:xfrm>
            <a:off x="822960" y="1325880"/>
            <a:ext cx="2968717" cy="256032"/>
          </a:xfrm>
          <a:prstGeom prst="rect">
            <a:avLst/>
          </a:prstGeom>
          <a:solidFill>
            <a:srgbClr val="6B7A99"/>
          </a:solidFill>
          <a:ln w="12700">
            <a:solidFill>
              <a:srgbClr val="6B7A99"/>
            </a:solidFill>
            <a:prstDash val="solid"/>
          </a:ln>
        </p:spPr>
      </p:sp>
      <p:sp>
        <p:nvSpPr>
          <p:cNvPr id="4" name="fold-val-0"/>
          <p:cNvSpPr/>
          <p:nvPr/>
        </p:nvSpPr>
        <p:spPr>
          <a:xfrm>
            <a:off x="3805681" y="1325880"/>
            <a:ext cx="343083" cy="256032"/>
          </a:xfrm>
          <a:prstGeom prst="rect">
            <a:avLst/>
          </a:prstGeom>
          <a:solidFill>
            <a:srgbClr val="D9B44A"/>
          </a:solidFill>
          <a:ln w="12700">
            <a:solidFill>
              <a:srgbClr val="D9B44A"/>
            </a:solidFill>
            <a:prstDash val="solid"/>
          </a:ln>
        </p:spPr>
      </p:sp>
      <p:sp>
        <p:nvSpPr>
          <p:cNvPr id="5" name="fold-train-1"/>
          <p:cNvSpPr/>
          <p:nvPr/>
        </p:nvSpPr>
        <p:spPr>
          <a:xfrm>
            <a:off x="822960" y="1709928"/>
            <a:ext cx="3318802" cy="256032"/>
          </a:xfrm>
          <a:prstGeom prst="rect">
            <a:avLst/>
          </a:prstGeom>
          <a:solidFill>
            <a:srgbClr val="6B7A99"/>
          </a:solidFill>
          <a:ln w="12700">
            <a:solidFill>
              <a:srgbClr val="6B7A99"/>
            </a:solidFill>
            <a:prstDash val="solid"/>
          </a:ln>
        </p:spPr>
      </p:sp>
      <p:sp>
        <p:nvSpPr>
          <p:cNvPr id="6" name="fold-val-1"/>
          <p:cNvSpPr/>
          <p:nvPr/>
        </p:nvSpPr>
        <p:spPr>
          <a:xfrm>
            <a:off x="4155765" y="1709928"/>
            <a:ext cx="343083" cy="256032"/>
          </a:xfrm>
          <a:prstGeom prst="rect">
            <a:avLst/>
          </a:prstGeom>
          <a:solidFill>
            <a:srgbClr val="D9B44A"/>
          </a:solidFill>
          <a:ln w="12700">
            <a:solidFill>
              <a:srgbClr val="D9B44A"/>
            </a:solidFill>
            <a:prstDash val="solid"/>
          </a:ln>
        </p:spPr>
      </p:sp>
      <p:sp>
        <p:nvSpPr>
          <p:cNvPr id="7" name="fold-train-2"/>
          <p:cNvSpPr/>
          <p:nvPr/>
        </p:nvSpPr>
        <p:spPr>
          <a:xfrm>
            <a:off x="822960" y="2093976"/>
            <a:ext cx="3668886" cy="256032"/>
          </a:xfrm>
          <a:prstGeom prst="rect">
            <a:avLst/>
          </a:prstGeom>
          <a:solidFill>
            <a:srgbClr val="6B7A99"/>
          </a:solidFill>
          <a:ln w="12700">
            <a:solidFill>
              <a:srgbClr val="6B7A99"/>
            </a:solidFill>
            <a:prstDash val="solid"/>
          </a:ln>
        </p:spPr>
      </p:sp>
      <p:sp>
        <p:nvSpPr>
          <p:cNvPr id="8" name="fold-val-2"/>
          <p:cNvSpPr/>
          <p:nvPr/>
        </p:nvSpPr>
        <p:spPr>
          <a:xfrm>
            <a:off x="4505850" y="2093976"/>
            <a:ext cx="343083" cy="256032"/>
          </a:xfrm>
          <a:prstGeom prst="rect">
            <a:avLst/>
          </a:prstGeom>
          <a:solidFill>
            <a:srgbClr val="D9B44A"/>
          </a:solidFill>
          <a:ln w="12700">
            <a:solidFill>
              <a:srgbClr val="D9B44A"/>
            </a:solidFill>
            <a:prstDash val="solid"/>
          </a:ln>
        </p:spPr>
      </p:sp>
      <p:sp>
        <p:nvSpPr>
          <p:cNvPr id="9" name="fold-train-3"/>
          <p:cNvSpPr/>
          <p:nvPr/>
        </p:nvSpPr>
        <p:spPr>
          <a:xfrm>
            <a:off x="822960" y="2478024"/>
            <a:ext cx="4018971" cy="256032"/>
          </a:xfrm>
          <a:prstGeom prst="rect">
            <a:avLst/>
          </a:prstGeom>
          <a:solidFill>
            <a:srgbClr val="6B7A99"/>
          </a:solidFill>
          <a:ln w="12700">
            <a:solidFill>
              <a:srgbClr val="6B7A99"/>
            </a:solidFill>
            <a:prstDash val="solid"/>
          </a:ln>
        </p:spPr>
      </p:sp>
      <p:sp>
        <p:nvSpPr>
          <p:cNvPr id="10" name="fold-val-3"/>
          <p:cNvSpPr/>
          <p:nvPr/>
        </p:nvSpPr>
        <p:spPr>
          <a:xfrm>
            <a:off x="4855934" y="2478024"/>
            <a:ext cx="343083" cy="256032"/>
          </a:xfrm>
          <a:prstGeom prst="rect">
            <a:avLst/>
          </a:prstGeom>
          <a:solidFill>
            <a:srgbClr val="D9B44A"/>
          </a:solidFill>
          <a:ln w="12700">
            <a:solidFill>
              <a:srgbClr val="D9B44A"/>
            </a:solidFill>
            <a:prstDash val="solid"/>
          </a:ln>
        </p:spPr>
      </p:sp>
      <p:sp>
        <p:nvSpPr>
          <p:cNvPr id="11" name="fold-train-4"/>
          <p:cNvSpPr/>
          <p:nvPr/>
        </p:nvSpPr>
        <p:spPr>
          <a:xfrm>
            <a:off x="822960" y="2862072"/>
            <a:ext cx="4369055" cy="256032"/>
          </a:xfrm>
          <a:prstGeom prst="rect">
            <a:avLst/>
          </a:prstGeom>
          <a:solidFill>
            <a:srgbClr val="6B7A99"/>
          </a:solidFill>
          <a:ln w="12700">
            <a:solidFill>
              <a:srgbClr val="6B7A99"/>
            </a:solidFill>
            <a:prstDash val="solid"/>
          </a:ln>
        </p:spPr>
      </p:sp>
      <p:sp>
        <p:nvSpPr>
          <p:cNvPr id="12" name="fold-val-4"/>
          <p:cNvSpPr/>
          <p:nvPr/>
        </p:nvSpPr>
        <p:spPr>
          <a:xfrm>
            <a:off x="5206019" y="2862072"/>
            <a:ext cx="343083" cy="256032"/>
          </a:xfrm>
          <a:prstGeom prst="rect">
            <a:avLst/>
          </a:prstGeom>
          <a:solidFill>
            <a:srgbClr val="D9B44A"/>
          </a:solidFill>
          <a:ln w="12700">
            <a:solidFill>
              <a:srgbClr val="D9B44A"/>
            </a:solidFill>
            <a:prstDash val="solid"/>
          </a:ln>
        </p:spPr>
      </p:sp>
      <p:sp>
        <p:nvSpPr>
          <p:cNvPr id="13" name="fold-train-5"/>
          <p:cNvSpPr/>
          <p:nvPr/>
        </p:nvSpPr>
        <p:spPr>
          <a:xfrm>
            <a:off x="822960" y="3246120"/>
            <a:ext cx="4719140" cy="256032"/>
          </a:xfrm>
          <a:prstGeom prst="rect">
            <a:avLst/>
          </a:prstGeom>
          <a:solidFill>
            <a:srgbClr val="6B7A99"/>
          </a:solidFill>
          <a:ln w="12700">
            <a:solidFill>
              <a:srgbClr val="6B7A99"/>
            </a:solidFill>
            <a:prstDash val="solid"/>
          </a:ln>
        </p:spPr>
      </p:sp>
      <p:sp>
        <p:nvSpPr>
          <p:cNvPr id="14" name="fold-val-5"/>
          <p:cNvSpPr/>
          <p:nvPr/>
        </p:nvSpPr>
        <p:spPr>
          <a:xfrm>
            <a:off x="5556103" y="3246120"/>
            <a:ext cx="343083" cy="256032"/>
          </a:xfrm>
          <a:prstGeom prst="rect">
            <a:avLst/>
          </a:prstGeom>
          <a:solidFill>
            <a:srgbClr val="D9B44A"/>
          </a:solidFill>
          <a:ln w="12700">
            <a:solidFill>
              <a:srgbClr val="D9B44A"/>
            </a:solidFill>
            <a:prstDash val="solid"/>
          </a:ln>
        </p:spPr>
      </p:sp>
      <p:sp>
        <p:nvSpPr>
          <p:cNvPr id="15" name="fold-train-6"/>
          <p:cNvSpPr/>
          <p:nvPr/>
        </p:nvSpPr>
        <p:spPr>
          <a:xfrm>
            <a:off x="822960" y="3630168"/>
            <a:ext cx="5069225" cy="256032"/>
          </a:xfrm>
          <a:prstGeom prst="rect">
            <a:avLst/>
          </a:prstGeom>
          <a:solidFill>
            <a:srgbClr val="6B7A99"/>
          </a:solidFill>
          <a:ln w="12700">
            <a:solidFill>
              <a:srgbClr val="6B7A99"/>
            </a:solidFill>
            <a:prstDash val="solid"/>
          </a:ln>
        </p:spPr>
      </p:sp>
      <p:sp>
        <p:nvSpPr>
          <p:cNvPr id="16" name="fold-val-6"/>
          <p:cNvSpPr/>
          <p:nvPr/>
        </p:nvSpPr>
        <p:spPr>
          <a:xfrm>
            <a:off x="5906188" y="3630168"/>
            <a:ext cx="343083" cy="256032"/>
          </a:xfrm>
          <a:prstGeom prst="rect">
            <a:avLst/>
          </a:prstGeom>
          <a:solidFill>
            <a:srgbClr val="D9B44A"/>
          </a:solidFill>
          <a:ln w="12700">
            <a:solidFill>
              <a:srgbClr val="D9B44A"/>
            </a:solidFill>
            <a:prstDash val="solid"/>
          </a:ln>
        </p:spPr>
      </p:sp>
      <p:sp>
        <p:nvSpPr>
          <p:cNvPr id="17" name="fold-train-7"/>
          <p:cNvSpPr/>
          <p:nvPr/>
        </p:nvSpPr>
        <p:spPr>
          <a:xfrm>
            <a:off x="822960" y="4014216"/>
            <a:ext cx="5419309" cy="256032"/>
          </a:xfrm>
          <a:prstGeom prst="rect">
            <a:avLst/>
          </a:prstGeom>
          <a:solidFill>
            <a:srgbClr val="6B7A99"/>
          </a:solidFill>
          <a:ln w="12700">
            <a:solidFill>
              <a:srgbClr val="6B7A99"/>
            </a:solidFill>
            <a:prstDash val="solid"/>
          </a:ln>
        </p:spPr>
      </p:sp>
      <p:sp>
        <p:nvSpPr>
          <p:cNvPr id="18" name="fold-val-7"/>
          <p:cNvSpPr/>
          <p:nvPr/>
        </p:nvSpPr>
        <p:spPr>
          <a:xfrm>
            <a:off x="6256273" y="4014216"/>
            <a:ext cx="343083" cy="256032"/>
          </a:xfrm>
          <a:prstGeom prst="rect">
            <a:avLst/>
          </a:prstGeom>
          <a:solidFill>
            <a:srgbClr val="EF4B4B"/>
          </a:solidFill>
          <a:ln w="12700">
            <a:solidFill>
              <a:srgbClr val="EF4B4B"/>
            </a:solidFill>
            <a:prstDash val="solid"/>
          </a:ln>
        </p:spPr>
      </p:sp>
      <p:sp>
        <p:nvSpPr>
          <p:cNvPr id="19" name="fold-predict"/>
          <p:cNvSpPr/>
          <p:nvPr/>
        </p:nvSpPr>
        <p:spPr>
          <a:xfrm>
            <a:off x="6606357" y="4398264"/>
            <a:ext cx="343083" cy="256032"/>
          </a:xfrm>
          <a:prstGeom prst="rect">
            <a:avLst/>
          </a:prstGeom>
          <a:solidFill>
            <a:srgbClr val="21C17A"/>
          </a:solidFill>
          <a:ln w="12700">
            <a:solidFill>
              <a:srgbClr val="21C17A"/>
            </a:solidFill>
            <a:prstDash val="solid"/>
          </a:ln>
        </p:spPr>
      </p:sp>
      <p:sp>
        <p:nvSpPr>
          <p:cNvPr id="20" name="Text 18"/>
          <p:cNvSpPr txBox="1"/>
          <p:nvPr/>
        </p:nvSpPr>
        <p:spPr>
          <a:xfrm>
            <a:off x="822960" y="4617720"/>
            <a:ext cx="914400" cy="320040"/>
          </a:xfrm>
          <a:prstGeom prst="rect">
            <a:avLst/>
          </a:prstGeom>
          <a:noFill/>
          <a:ln/>
        </p:spPr>
        <p:txBody>
          <a:bodyPr wrap="square" lIns="635" tIns="635" rIns="635" bIns="635" rtlCol="0" anchor="t"/>
          <a:lstStyle/>
          <a:p>
            <a:pPr indent="0" marL="0">
              <a:buNone/>
            </a:pPr>
            <a:r>
              <a:rPr lang="en-US" sz="1400" dirty="0">
                <a:solidFill>
                  <a:schemeClr val="accent4"/>
                </a:solidFill>
              </a:rPr>
              <a:t>Train</a:t>
            </a:r>
            <a:endParaRPr lang="en-US" sz="1400" dirty="0"/>
          </a:p>
        </p:txBody>
      </p:sp>
      <p:sp>
        <p:nvSpPr>
          <p:cNvPr id="21" name="Text 19"/>
          <p:cNvSpPr txBox="1"/>
          <p:nvPr/>
        </p:nvSpPr>
        <p:spPr>
          <a:xfrm>
            <a:off x="1737360" y="4617720"/>
            <a:ext cx="1097280" cy="320040"/>
          </a:xfrm>
          <a:prstGeom prst="rect">
            <a:avLst/>
          </a:prstGeom>
          <a:noFill/>
          <a:ln/>
        </p:spPr>
        <p:txBody>
          <a:bodyPr wrap="square" lIns="635" tIns="635" rIns="635" bIns="635" rtlCol="0" anchor="t"/>
          <a:lstStyle/>
          <a:p>
            <a:pPr indent="0" marL="0">
              <a:buNone/>
            </a:pPr>
            <a:r>
              <a:rPr lang="en-US" sz="1400" dirty="0">
                <a:solidFill>
                  <a:schemeClr val="accent3"/>
                </a:solidFill>
              </a:rPr>
              <a:t>Validate</a:t>
            </a:r>
            <a:endParaRPr lang="en-US" sz="1400" dirty="0"/>
          </a:p>
        </p:txBody>
      </p:sp>
      <p:sp>
        <p:nvSpPr>
          <p:cNvPr id="22" name="Text 20"/>
          <p:cNvSpPr txBox="1"/>
          <p:nvPr/>
        </p:nvSpPr>
        <p:spPr>
          <a:xfrm>
            <a:off x="2834640" y="4617720"/>
            <a:ext cx="1737360" cy="320040"/>
          </a:xfrm>
          <a:prstGeom prst="rect">
            <a:avLst/>
          </a:prstGeom>
          <a:noFill/>
          <a:ln/>
        </p:spPr>
        <p:txBody>
          <a:bodyPr wrap="square" lIns="635" tIns="635" rIns="635" bIns="635" rtlCol="0" anchor="t"/>
          <a:lstStyle/>
          <a:p>
            <a:pPr indent="0" marL="0">
              <a:buNone/>
            </a:pPr>
            <a:r>
              <a:rPr lang="en-US" sz="1400" dirty="0">
                <a:solidFill>
                  <a:schemeClr val="accent2"/>
                </a:solidFill>
              </a:rPr>
              <a:t>Reserved (once)</a:t>
            </a:r>
            <a:endParaRPr lang="en-US" sz="1400" dirty="0"/>
          </a:p>
        </p:txBody>
      </p:sp>
      <p:sp>
        <p:nvSpPr>
          <p:cNvPr id="23" name="Text 21"/>
          <p:cNvSpPr txBox="1"/>
          <p:nvPr/>
        </p:nvSpPr>
        <p:spPr>
          <a:xfrm>
            <a:off x="4572000" y="4617720"/>
            <a:ext cx="2194560" cy="320040"/>
          </a:xfrm>
          <a:prstGeom prst="rect">
            <a:avLst/>
          </a:prstGeom>
          <a:noFill/>
          <a:ln/>
        </p:spPr>
        <p:txBody>
          <a:bodyPr wrap="square" lIns="635" tIns="635" rIns="635" bIns="635" rtlCol="0" anchor="t"/>
          <a:lstStyle/>
          <a:p>
            <a:pPr indent="0" marL="0">
              <a:buNone/>
            </a:pPr>
            <a:r>
              <a:rPr lang="en-US" sz="1400" dirty="0">
                <a:solidFill>
                  <a:schemeClr val="accent1"/>
                </a:solidFill>
              </a:rPr>
              <a:t>Predict 851–900</a:t>
            </a:r>
            <a:endParaRPr lang="en-US" sz="1400" dirty="0"/>
          </a:p>
        </p:txBody>
      </p:sp>
      <p:sp>
        <p:nvSpPr>
          <p:cNvPr id="24" name="Text 22"/>
          <p:cNvSpPr txBox="1"/>
          <p:nvPr/>
        </p:nvSpPr>
        <p:spPr>
          <a:xfrm>
            <a:off x="457200" y="5074920"/>
            <a:ext cx="6492240" cy="1097280"/>
          </a:xfrm>
          <a:prstGeom prst="rect">
            <a:avLst/>
          </a:prstGeom>
          <a:noFill/>
          <a:ln/>
        </p:spPr>
        <p:txBody>
          <a:bodyPr wrap="square" lIns="635" tIns="635" rIns="635" bIns="635" rtlCol="0" anchor="t"/>
          <a:lstStyle/>
          <a:p>
            <a:pPr indent="0" marL="0">
              <a:buNone/>
            </a:pPr>
            <a:r>
              <a:rPr lang="en-US" sz="1400" dirty="0">
                <a:solidFill>
                  <a:schemeClr val="accent6"/>
                </a:solidFill>
              </a:rPr>
              <a:t>One-row purge before every block (label t uses close t+1). Scaler, regime cutoffs and the crash simulator are refit inside each fold on training rows only.</a:t>
            </a:r>
            <a:endParaRPr lang="en-US" sz="1400" dirty="0"/>
          </a:p>
        </p:txBody>
      </p:sp>
      <p:sp>
        <p:nvSpPr>
          <p:cNvPr id="25" name="val-card-0"/>
          <p:cNvSpPr/>
          <p:nvPr/>
        </p:nvSpPr>
        <p:spPr>
          <a:xfrm>
            <a:off x="7406640" y="1280160"/>
            <a:ext cx="4297680" cy="1417320"/>
          </a:xfrm>
          <a:prstGeom prst="roundRect">
            <a:avLst>
              <a:gd name="adj" fmla="val 5161"/>
            </a:avLst>
          </a:prstGeom>
          <a:solidFill>
            <a:srgbClr val="14213A"/>
          </a:solidFill>
          <a:ln w="12700">
            <a:solidFill>
              <a:srgbClr val="24324F"/>
            </a:solidFill>
            <a:prstDash val="solid"/>
          </a:ln>
        </p:spPr>
      </p:sp>
      <p:sp>
        <p:nvSpPr>
          <p:cNvPr id="26" name="Text 24"/>
          <p:cNvSpPr txBox="1"/>
          <p:nvPr/>
        </p:nvSpPr>
        <p:spPr>
          <a:xfrm>
            <a:off x="7589520" y="1417320"/>
            <a:ext cx="1371600" cy="1143000"/>
          </a:xfrm>
          <a:prstGeom prst="rect">
            <a:avLst/>
          </a:prstGeom>
          <a:noFill/>
          <a:ln/>
        </p:spPr>
        <p:txBody>
          <a:bodyPr wrap="square" lIns="0" tIns="0" rIns="0" bIns="0" rtlCol="0" anchor="ctr"/>
          <a:lstStyle/>
          <a:p>
            <a:pPr indent="0" marL="0">
              <a:buNone/>
            </a:pPr>
            <a:r>
              <a:rPr lang="en-US" sz="3200" b="1" dirty="0">
                <a:solidFill>
                  <a:schemeClr val="accent3"/>
                </a:solidFill>
                <a:latin typeface="Cambria" pitchFamily="34" charset="0"/>
                <a:ea typeface="Cambria" pitchFamily="34" charset="-122"/>
                <a:cs typeface="Cambria" pitchFamily="34" charset="-120"/>
              </a:rPr>
              <a:t>19</a:t>
            </a:r>
            <a:endParaRPr lang="en-US" sz="3200" dirty="0"/>
          </a:p>
        </p:txBody>
      </p:sp>
      <p:sp>
        <p:nvSpPr>
          <p:cNvPr id="27" name="Text 25"/>
          <p:cNvSpPr txBox="1"/>
          <p:nvPr/>
        </p:nvSpPr>
        <p:spPr>
          <a:xfrm>
            <a:off x="8961120" y="1463040"/>
            <a:ext cx="2606040" cy="1097280"/>
          </a:xfrm>
          <a:prstGeom prst="rect">
            <a:avLst/>
          </a:prstGeom>
          <a:noFill/>
          <a:ln/>
        </p:spPr>
        <p:txBody>
          <a:bodyPr wrap="square" lIns="635" tIns="635" rIns="635" bIns="635" rtlCol="0" anchor="ctr"/>
          <a:lstStyle/>
          <a:p>
            <a:pPr indent="0" marL="0">
              <a:buNone/>
            </a:pPr>
            <a:r>
              <a:rPr lang="en-US" sz="1400" dirty="0">
                <a:solidFill>
                  <a:schemeClr val="bg1"/>
                </a:solidFill>
              </a:rPr>
              <a:t>round-2 configurations: LR and LSTM × 5 loss arms, plus the prior baseline</a:t>
            </a:r>
            <a:endParaRPr lang="en-US" sz="1400" dirty="0"/>
          </a:p>
        </p:txBody>
      </p:sp>
      <p:sp>
        <p:nvSpPr>
          <p:cNvPr id="28" name="val-card-1"/>
          <p:cNvSpPr/>
          <p:nvPr/>
        </p:nvSpPr>
        <p:spPr>
          <a:xfrm>
            <a:off x="7406640" y="2926080"/>
            <a:ext cx="4297680" cy="1417320"/>
          </a:xfrm>
          <a:prstGeom prst="roundRect">
            <a:avLst>
              <a:gd name="adj" fmla="val 5161"/>
            </a:avLst>
          </a:prstGeom>
          <a:solidFill>
            <a:srgbClr val="14213A"/>
          </a:solidFill>
          <a:ln w="12700">
            <a:solidFill>
              <a:srgbClr val="24324F"/>
            </a:solidFill>
            <a:prstDash val="solid"/>
          </a:ln>
        </p:spPr>
      </p:sp>
      <p:sp>
        <p:nvSpPr>
          <p:cNvPr id="29" name="Text 27"/>
          <p:cNvSpPr txBox="1"/>
          <p:nvPr/>
        </p:nvSpPr>
        <p:spPr>
          <a:xfrm>
            <a:off x="7589520" y="3063240"/>
            <a:ext cx="1371600" cy="1143000"/>
          </a:xfrm>
          <a:prstGeom prst="rect">
            <a:avLst/>
          </a:prstGeom>
          <a:noFill/>
          <a:ln/>
        </p:spPr>
        <p:txBody>
          <a:bodyPr wrap="square" lIns="0" tIns="0" rIns="0" bIns="0" rtlCol="0" anchor="ctr"/>
          <a:lstStyle/>
          <a:p>
            <a:pPr indent="0" marL="0">
              <a:buNone/>
            </a:pPr>
            <a:r>
              <a:rPr lang="en-US" sz="3200" b="1" dirty="0">
                <a:solidFill>
                  <a:schemeClr val="accent3"/>
                </a:solidFill>
                <a:latin typeface="Cambria" pitchFamily="34" charset="0"/>
                <a:ea typeface="Cambria" pitchFamily="34" charset="-122"/>
                <a:cs typeface="Cambria" pitchFamily="34" charset="-120"/>
              </a:rPr>
              <a:t>Fixed</a:t>
            </a:r>
            <a:endParaRPr lang="en-US" sz="3200" dirty="0"/>
          </a:p>
        </p:txBody>
      </p:sp>
      <p:sp>
        <p:nvSpPr>
          <p:cNvPr id="30" name="Text 28"/>
          <p:cNvSpPr txBox="1"/>
          <p:nvPr/>
        </p:nvSpPr>
        <p:spPr>
          <a:xfrm>
            <a:off x="8961120" y="3108960"/>
            <a:ext cx="2606040" cy="1097280"/>
          </a:xfrm>
          <a:prstGeom prst="rect">
            <a:avLst/>
          </a:prstGeom>
          <a:noFill/>
          <a:ln/>
        </p:spPr>
        <p:txBody>
          <a:bodyPr wrap="square" lIns="635" tIns="635" rIns="635" bIns="635" rtlCol="0" anchor="ctr"/>
          <a:lstStyle/>
          <a:p>
            <a:pPr indent="0" marL="0">
              <a:buNone/>
            </a:pPr>
            <a:r>
              <a:rPr lang="en-US" sz="1400" dirty="0">
                <a:solidFill>
                  <a:schemeClr val="bg1"/>
                </a:solidFill>
              </a:rPr>
              <a:t>hyperparameters; every selection rule written before running</a:t>
            </a:r>
            <a:endParaRPr lang="en-US" sz="1400" dirty="0"/>
          </a:p>
        </p:txBody>
      </p:sp>
      <p:sp>
        <p:nvSpPr>
          <p:cNvPr id="31" name="val-card-2"/>
          <p:cNvSpPr/>
          <p:nvPr/>
        </p:nvSpPr>
        <p:spPr>
          <a:xfrm>
            <a:off x="7406640" y="4572000"/>
            <a:ext cx="4297680" cy="1417320"/>
          </a:xfrm>
          <a:prstGeom prst="roundRect">
            <a:avLst>
              <a:gd name="adj" fmla="val 5161"/>
            </a:avLst>
          </a:prstGeom>
          <a:solidFill>
            <a:srgbClr val="14213A"/>
          </a:solidFill>
          <a:ln w="12700">
            <a:solidFill>
              <a:srgbClr val="24324F"/>
            </a:solidFill>
            <a:prstDash val="solid"/>
          </a:ln>
        </p:spPr>
      </p:sp>
      <p:sp>
        <p:nvSpPr>
          <p:cNvPr id="32" name="Text 30"/>
          <p:cNvSpPr txBox="1"/>
          <p:nvPr/>
        </p:nvSpPr>
        <p:spPr>
          <a:xfrm>
            <a:off x="7589520" y="4709160"/>
            <a:ext cx="1371600" cy="1143000"/>
          </a:xfrm>
          <a:prstGeom prst="rect">
            <a:avLst/>
          </a:prstGeom>
          <a:noFill/>
          <a:ln/>
        </p:spPr>
        <p:txBody>
          <a:bodyPr wrap="square" lIns="0" tIns="0" rIns="0" bIns="0" rtlCol="0" anchor="ctr"/>
          <a:lstStyle/>
          <a:p>
            <a:pPr indent="0" marL="0">
              <a:buNone/>
            </a:pPr>
            <a:r>
              <a:rPr lang="en-US" sz="3200" b="1" dirty="0">
                <a:solidFill>
                  <a:schemeClr val="accent3"/>
                </a:solidFill>
                <a:latin typeface="Cambria" pitchFamily="34" charset="0"/>
                <a:ea typeface="Cambria" pitchFamily="34" charset="-122"/>
                <a:cs typeface="Cambria" pitchFamily="34" charset="-120"/>
              </a:rPr>
              <a:t>Stop</a:t>
            </a:r>
            <a:endParaRPr lang="en-US" sz="3200" dirty="0"/>
          </a:p>
        </p:txBody>
      </p:sp>
      <p:sp>
        <p:nvSpPr>
          <p:cNvPr id="33" name="Text 31"/>
          <p:cNvSpPr txBox="1"/>
          <p:nvPr/>
        </p:nvSpPr>
        <p:spPr>
          <a:xfrm>
            <a:off x="8961120" y="4754880"/>
            <a:ext cx="2606040" cy="1097280"/>
          </a:xfrm>
          <a:prstGeom prst="rect">
            <a:avLst/>
          </a:prstGeom>
          <a:noFill/>
          <a:ln/>
        </p:spPr>
        <p:txBody>
          <a:bodyPr wrap="square" lIns="635" tIns="635" rIns="635" bIns="635" rtlCol="0" anchor="ctr"/>
          <a:lstStyle/>
          <a:p>
            <a:pPr indent="0" marL="0">
              <a:buNone/>
            </a:pPr>
            <a:r>
              <a:rPr lang="en-US" sz="1400" dirty="0">
                <a:solidFill>
                  <a:schemeClr val="bg1"/>
                </a:solidFill>
              </a:rPr>
              <a:t>round 2: prior baseline won the rule, so we did not force a model</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31520"/>
          </a:xfrm>
          <a:prstGeom prst="rect">
            <a:avLst/>
          </a:prstGeom>
          <a:noFill/>
          <a:ln/>
        </p:spPr>
        <p:txBody>
          <a:bodyPr wrap="square" rtlCol="0" anchor="ctr"/>
          <a:lstStyle/>
          <a:p>
            <a:pPr indent="0" marL="0">
              <a:buNone/>
            </a:pPr>
            <a:r>
              <a:rPr lang="en-US" sz="3200" b="1" dirty="0">
                <a:solidFill>
                  <a:schemeClr val="bg1"/>
                </a:solidFill>
              </a:rPr>
              <a:t>Loss regimes: optimise the worst market state, not the average</a:t>
            </a:r>
            <a:endParaRPr lang="en-US" sz="3200" dirty="0"/>
          </a:p>
        </p:txBody>
      </p:sp>
      <p:sp>
        <p:nvSpPr>
          <p:cNvPr id="3" name="arm-card-A"/>
          <p:cNvSpPr/>
          <p:nvPr/>
        </p:nvSpPr>
        <p:spPr>
          <a:xfrm>
            <a:off x="457200" y="1234440"/>
            <a:ext cx="2103120" cy="2514600"/>
          </a:xfrm>
          <a:prstGeom prst="roundRect">
            <a:avLst>
              <a:gd name="adj" fmla="val 3478"/>
            </a:avLst>
          </a:prstGeom>
          <a:solidFill>
            <a:srgbClr val="14213A"/>
          </a:solidFill>
          <a:ln w="12700">
            <a:solidFill>
              <a:srgbClr val="24324F"/>
            </a:solidFill>
            <a:prstDash val="solid"/>
          </a:ln>
        </p:spPr>
      </p:sp>
      <p:sp>
        <p:nvSpPr>
          <p:cNvPr id="4" name="arm-badge-A"/>
          <p:cNvSpPr/>
          <p:nvPr/>
        </p:nvSpPr>
        <p:spPr>
          <a:xfrm>
            <a:off x="640080" y="1417320"/>
            <a:ext cx="457200" cy="457200"/>
          </a:xfrm>
          <a:prstGeom prst="ellipse">
            <a:avLst/>
          </a:prstGeom>
          <a:solidFill>
            <a:srgbClr val="D9B44A"/>
          </a:solidFill>
          <a:ln w="12700">
            <a:solidFill>
              <a:srgbClr val="D9B44A"/>
            </a:solidFill>
            <a:prstDash val="solid"/>
          </a:ln>
        </p:spPr>
      </p:sp>
      <p:sp>
        <p:nvSpPr>
          <p:cNvPr id="5" name="Text 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A</a:t>
            </a:r>
            <a:endParaRPr lang="en-US" sz="1600" dirty="0"/>
          </a:p>
        </p:txBody>
      </p:sp>
      <p:sp>
        <p:nvSpPr>
          <p:cNvPr id="6" name="Text 4"/>
          <p:cNvSpPr txBox="1"/>
          <p:nvPr/>
        </p:nvSpPr>
        <p:spPr>
          <a:xfrm>
            <a:off x="640080" y="1965960"/>
            <a:ext cx="1783080" cy="411480"/>
          </a:xfrm>
          <a:prstGeom prst="rect">
            <a:avLst/>
          </a:prstGeom>
          <a:noFill/>
          <a:ln/>
        </p:spPr>
        <p:txBody>
          <a:bodyPr wrap="square" lIns="635" tIns="635" rIns="635" bIns="635" rtlCol="0" anchor="t"/>
          <a:lstStyle/>
          <a:p>
            <a:pPr indent="0" marL="0">
              <a:buNone/>
            </a:pPr>
            <a:r>
              <a:rPr lang="en-US" sz="1600" b="1" dirty="0">
                <a:solidFill>
                  <a:schemeClr val="bg1"/>
                </a:solidFill>
              </a:rPr>
              <a:t>Standard</a:t>
            </a:r>
            <a:endParaRPr lang="en-US" sz="1600" dirty="0"/>
          </a:p>
        </p:txBody>
      </p:sp>
      <p:sp>
        <p:nvSpPr>
          <p:cNvPr id="7" name="Text 5"/>
          <p:cNvSpPr txBox="1"/>
          <p:nvPr/>
        </p:nvSpPr>
        <p:spPr>
          <a:xfrm>
            <a:off x="640080" y="2377440"/>
            <a:ext cx="1783080" cy="1280160"/>
          </a:xfrm>
          <a:prstGeom prst="rect">
            <a:avLst/>
          </a:prstGeom>
          <a:noFill/>
          <a:ln/>
        </p:spPr>
        <p:txBody>
          <a:bodyPr wrap="square" lIns="635" tIns="635" rIns="635" bIns="635" rtlCol="0" anchor="t"/>
          <a:lstStyle/>
          <a:p>
            <a:pPr indent="0" marL="0">
              <a:buNone/>
            </a:pPr>
            <a:r>
              <a:rPr lang="en-US" sz="1400" dirty="0">
                <a:solidFill>
                  <a:schemeClr val="accent6"/>
                </a:solidFill>
              </a:rPr>
              <a:t>Mean log loss: the reference</a:t>
            </a:r>
            <a:endParaRPr lang="en-US" sz="1400" dirty="0"/>
          </a:p>
        </p:txBody>
      </p:sp>
      <p:sp>
        <p:nvSpPr>
          <p:cNvPr id="8" name="arm-card-B"/>
          <p:cNvSpPr/>
          <p:nvPr/>
        </p:nvSpPr>
        <p:spPr>
          <a:xfrm>
            <a:off x="2743200" y="1234440"/>
            <a:ext cx="2103120" cy="2514600"/>
          </a:xfrm>
          <a:prstGeom prst="roundRect">
            <a:avLst>
              <a:gd name="adj" fmla="val 3478"/>
            </a:avLst>
          </a:prstGeom>
          <a:solidFill>
            <a:srgbClr val="14213A"/>
          </a:solidFill>
          <a:ln w="12700">
            <a:solidFill>
              <a:srgbClr val="24324F"/>
            </a:solidFill>
            <a:prstDash val="solid"/>
          </a:ln>
        </p:spPr>
      </p:sp>
      <p:sp>
        <p:nvSpPr>
          <p:cNvPr id="9" name="arm-badge-B"/>
          <p:cNvSpPr/>
          <p:nvPr/>
        </p:nvSpPr>
        <p:spPr>
          <a:xfrm>
            <a:off x="2926080" y="1417320"/>
            <a:ext cx="457200" cy="457200"/>
          </a:xfrm>
          <a:prstGeom prst="ellipse">
            <a:avLst/>
          </a:prstGeom>
          <a:solidFill>
            <a:srgbClr val="D9B44A"/>
          </a:solidFill>
          <a:ln w="12700">
            <a:solidFill>
              <a:srgbClr val="D9B44A"/>
            </a:solidFill>
            <a:prstDash val="solid"/>
          </a:ln>
        </p:spPr>
      </p:sp>
      <p:sp>
        <p:nvSpPr>
          <p:cNvPr id="10" name="Text 8"/>
          <p:cNvSpPr txBox="1"/>
          <p:nvPr/>
        </p:nvSpPr>
        <p:spPr>
          <a:xfrm>
            <a:off x="2926080" y="14173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B</a:t>
            </a:r>
            <a:endParaRPr lang="en-US" sz="1600" dirty="0"/>
          </a:p>
        </p:txBody>
      </p:sp>
      <p:sp>
        <p:nvSpPr>
          <p:cNvPr id="11" name="Text 9"/>
          <p:cNvSpPr txBox="1"/>
          <p:nvPr/>
        </p:nvSpPr>
        <p:spPr>
          <a:xfrm>
            <a:off x="2926080" y="1965960"/>
            <a:ext cx="1783080" cy="411480"/>
          </a:xfrm>
          <a:prstGeom prst="rect">
            <a:avLst/>
          </a:prstGeom>
          <a:noFill/>
          <a:ln/>
        </p:spPr>
        <p:txBody>
          <a:bodyPr wrap="square" lIns="635" tIns="635" rIns="635" bIns="635" rtlCol="0" anchor="t"/>
          <a:lstStyle/>
          <a:p>
            <a:pPr indent="0" marL="0">
              <a:buNone/>
            </a:pPr>
            <a:r>
              <a:rPr lang="en-US" sz="1600" b="1" dirty="0">
                <a:solidFill>
                  <a:schemeClr val="bg1"/>
                </a:solidFill>
              </a:rPr>
              <a:t>Worst-regime</a:t>
            </a:r>
            <a:endParaRPr lang="en-US" sz="1600" dirty="0"/>
          </a:p>
        </p:txBody>
      </p:sp>
      <p:sp>
        <p:nvSpPr>
          <p:cNvPr id="12" name="Text 10"/>
          <p:cNvSpPr txBox="1"/>
          <p:nvPr/>
        </p:nvSpPr>
        <p:spPr>
          <a:xfrm>
            <a:off x="2926080" y="2377440"/>
            <a:ext cx="1783080" cy="1280160"/>
          </a:xfrm>
          <a:prstGeom prst="rect">
            <a:avLst/>
          </a:prstGeom>
          <a:noFill/>
          <a:ln/>
        </p:spPr>
        <p:txBody>
          <a:bodyPr wrap="square" lIns="635" tIns="635" rIns="635" bIns="635" rtlCol="0" anchor="t"/>
          <a:lstStyle/>
          <a:p>
            <a:pPr indent="0" marL="0">
              <a:buNone/>
            </a:pPr>
            <a:r>
              <a:rPr lang="en-US" sz="1400" dirty="0">
                <a:solidFill>
                  <a:schemeClr val="accent6"/>
                </a:solidFill>
              </a:rPr>
              <a:t>(1−λ)·mean + λ·max over regimes; λ ∈ {0.25, 0.5, 0.75}</a:t>
            </a:r>
            <a:endParaRPr lang="en-US" sz="1400" dirty="0"/>
          </a:p>
        </p:txBody>
      </p:sp>
      <p:sp>
        <p:nvSpPr>
          <p:cNvPr id="13" name="arm-card-C"/>
          <p:cNvSpPr/>
          <p:nvPr/>
        </p:nvSpPr>
        <p:spPr>
          <a:xfrm>
            <a:off x="5029200" y="1234440"/>
            <a:ext cx="2103120" cy="2514600"/>
          </a:xfrm>
          <a:prstGeom prst="roundRect">
            <a:avLst>
              <a:gd name="adj" fmla="val 3478"/>
            </a:avLst>
          </a:prstGeom>
          <a:solidFill>
            <a:srgbClr val="14213A"/>
          </a:solidFill>
          <a:ln w="12700">
            <a:solidFill>
              <a:srgbClr val="24324F"/>
            </a:solidFill>
            <a:prstDash val="solid"/>
          </a:ln>
        </p:spPr>
      </p:sp>
      <p:sp>
        <p:nvSpPr>
          <p:cNvPr id="14" name="arm-badge-C"/>
          <p:cNvSpPr/>
          <p:nvPr/>
        </p:nvSpPr>
        <p:spPr>
          <a:xfrm>
            <a:off x="5212080" y="1417320"/>
            <a:ext cx="457200" cy="457200"/>
          </a:xfrm>
          <a:prstGeom prst="ellipse">
            <a:avLst/>
          </a:prstGeom>
          <a:solidFill>
            <a:srgbClr val="D9B44A"/>
          </a:solidFill>
          <a:ln w="12700">
            <a:solidFill>
              <a:srgbClr val="D9B44A"/>
            </a:solidFill>
            <a:prstDash val="solid"/>
          </a:ln>
        </p:spPr>
      </p:sp>
      <p:sp>
        <p:nvSpPr>
          <p:cNvPr id="15" name="Text 13"/>
          <p:cNvSpPr txBox="1"/>
          <p:nvPr/>
        </p:nvSpPr>
        <p:spPr>
          <a:xfrm>
            <a:off x="5212080" y="14173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C</a:t>
            </a:r>
            <a:endParaRPr lang="en-US" sz="1600" dirty="0"/>
          </a:p>
        </p:txBody>
      </p:sp>
      <p:sp>
        <p:nvSpPr>
          <p:cNvPr id="16" name="Text 14"/>
          <p:cNvSpPr txBox="1"/>
          <p:nvPr/>
        </p:nvSpPr>
        <p:spPr>
          <a:xfrm>
            <a:off x="5212080" y="1965960"/>
            <a:ext cx="1783080" cy="411480"/>
          </a:xfrm>
          <a:prstGeom prst="rect">
            <a:avLst/>
          </a:prstGeom>
          <a:noFill/>
          <a:ln/>
        </p:spPr>
        <p:txBody>
          <a:bodyPr wrap="square" lIns="635" tIns="635" rIns="635" bIns="635" rtlCol="0" anchor="t"/>
          <a:lstStyle/>
          <a:p>
            <a:pPr indent="0" marL="0">
              <a:buNone/>
            </a:pPr>
            <a:r>
              <a:rPr lang="en-US" sz="1600" b="1" dirty="0">
                <a:solidFill>
                  <a:schemeClr val="bg1"/>
                </a:solidFill>
              </a:rPr>
              <a:t>Regime-weighted</a:t>
            </a:r>
            <a:endParaRPr lang="en-US" sz="1600" dirty="0"/>
          </a:p>
        </p:txBody>
      </p:sp>
      <p:sp>
        <p:nvSpPr>
          <p:cNvPr id="17" name="Text 15"/>
          <p:cNvSpPr txBox="1"/>
          <p:nvPr/>
        </p:nvSpPr>
        <p:spPr>
          <a:xfrm>
            <a:off x="5212080" y="2377440"/>
            <a:ext cx="1783080" cy="1280160"/>
          </a:xfrm>
          <a:prstGeom prst="rect">
            <a:avLst/>
          </a:prstGeom>
          <a:noFill/>
          <a:ln/>
        </p:spPr>
        <p:txBody>
          <a:bodyPr wrap="square" lIns="635" tIns="635" rIns="635" bIns="635" rtlCol="0" anchor="t"/>
          <a:lstStyle/>
          <a:p>
            <a:pPr indent="0" marL="0">
              <a:buNone/>
            </a:pPr>
            <a:r>
              <a:rPr lang="en-US" sz="1400" dirty="0">
                <a:solidFill>
                  <a:schemeClr val="accent6"/>
                </a:solidFill>
              </a:rPr>
              <a:t>Weight 1.5–3× on high-vol and high-RSI rows</a:t>
            </a:r>
            <a:endParaRPr lang="en-US" sz="1400" dirty="0"/>
          </a:p>
        </p:txBody>
      </p:sp>
      <p:sp>
        <p:nvSpPr>
          <p:cNvPr id="18" name="arm-card-D"/>
          <p:cNvSpPr/>
          <p:nvPr/>
        </p:nvSpPr>
        <p:spPr>
          <a:xfrm>
            <a:off x="7315200" y="1234440"/>
            <a:ext cx="2103120" cy="2514600"/>
          </a:xfrm>
          <a:prstGeom prst="roundRect">
            <a:avLst>
              <a:gd name="adj" fmla="val 3478"/>
            </a:avLst>
          </a:prstGeom>
          <a:solidFill>
            <a:srgbClr val="0F3329"/>
          </a:solidFill>
          <a:ln w="12700">
            <a:solidFill>
              <a:srgbClr val="21C17A"/>
            </a:solidFill>
            <a:prstDash val="solid"/>
          </a:ln>
        </p:spPr>
      </p:sp>
      <p:sp>
        <p:nvSpPr>
          <p:cNvPr id="19" name="arm-badge-D"/>
          <p:cNvSpPr/>
          <p:nvPr/>
        </p:nvSpPr>
        <p:spPr>
          <a:xfrm>
            <a:off x="7498080" y="1417320"/>
            <a:ext cx="457200" cy="457200"/>
          </a:xfrm>
          <a:prstGeom prst="ellipse">
            <a:avLst/>
          </a:prstGeom>
          <a:solidFill>
            <a:srgbClr val="21C17A"/>
          </a:solidFill>
          <a:ln w="12700">
            <a:solidFill>
              <a:srgbClr val="21C17A"/>
            </a:solidFill>
            <a:prstDash val="solid"/>
          </a:ln>
        </p:spPr>
      </p:sp>
      <p:sp>
        <p:nvSpPr>
          <p:cNvPr id="20" name="Text 18"/>
          <p:cNvSpPr txBox="1"/>
          <p:nvPr/>
        </p:nvSpPr>
        <p:spPr>
          <a:xfrm>
            <a:off x="7498080" y="14173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D</a:t>
            </a:r>
            <a:endParaRPr lang="en-US" sz="1600" dirty="0"/>
          </a:p>
        </p:txBody>
      </p:sp>
      <p:sp>
        <p:nvSpPr>
          <p:cNvPr id="21" name="Text 19"/>
          <p:cNvSpPr txBox="1"/>
          <p:nvPr/>
        </p:nvSpPr>
        <p:spPr>
          <a:xfrm>
            <a:off x="7498080" y="1965960"/>
            <a:ext cx="1783080" cy="411480"/>
          </a:xfrm>
          <a:prstGeom prst="rect">
            <a:avLst/>
          </a:prstGeom>
          <a:noFill/>
          <a:ln/>
        </p:spPr>
        <p:txBody>
          <a:bodyPr wrap="square" lIns="635" tIns="635" rIns="635" bIns="635" rtlCol="0" anchor="t"/>
          <a:lstStyle/>
          <a:p>
            <a:pPr indent="0" marL="0">
              <a:buNone/>
            </a:pPr>
            <a:r>
              <a:rPr lang="en-US" sz="1600" b="1" dirty="0">
                <a:solidFill>
                  <a:schemeClr val="accent1"/>
                </a:solidFill>
              </a:rPr>
              <a:t>MC augmented</a:t>
            </a:r>
            <a:endParaRPr lang="en-US" sz="1600" dirty="0"/>
          </a:p>
        </p:txBody>
      </p:sp>
      <p:sp>
        <p:nvSpPr>
          <p:cNvPr id="22" name="Text 20"/>
          <p:cNvSpPr txBox="1"/>
          <p:nvPr/>
        </p:nvSpPr>
        <p:spPr>
          <a:xfrm>
            <a:off x="7498080" y="2377440"/>
            <a:ext cx="1783080" cy="1280160"/>
          </a:xfrm>
          <a:prstGeom prst="rect">
            <a:avLst/>
          </a:prstGeom>
          <a:noFill/>
          <a:ln/>
        </p:spPr>
        <p:txBody>
          <a:bodyPr wrap="square" lIns="635" tIns="635" rIns="635" bIns="635" rtlCol="0" anchor="t"/>
          <a:lstStyle/>
          <a:p>
            <a:pPr indent="0" marL="0">
              <a:buNone/>
            </a:pPr>
            <a:r>
              <a:rPr lang="en-US" sz="1400" dirty="0">
                <a:solidFill>
                  <a:schemeClr val="accent6"/>
                </a:solidFill>
              </a:rPr>
              <a:t>Real rows + simulated crashes at 25% weight</a:t>
            </a:r>
            <a:endParaRPr lang="en-US" sz="1400" dirty="0"/>
          </a:p>
        </p:txBody>
      </p:sp>
      <p:sp>
        <p:nvSpPr>
          <p:cNvPr id="23" name="arm-card-E"/>
          <p:cNvSpPr/>
          <p:nvPr/>
        </p:nvSpPr>
        <p:spPr>
          <a:xfrm>
            <a:off x="9601200" y="1234440"/>
            <a:ext cx="2103120" cy="2514600"/>
          </a:xfrm>
          <a:prstGeom prst="roundRect">
            <a:avLst>
              <a:gd name="adj" fmla="val 3478"/>
            </a:avLst>
          </a:prstGeom>
          <a:solidFill>
            <a:srgbClr val="0F3329"/>
          </a:solidFill>
          <a:ln w="12700">
            <a:solidFill>
              <a:srgbClr val="21C17A"/>
            </a:solidFill>
            <a:prstDash val="solid"/>
          </a:ln>
        </p:spPr>
      </p:sp>
      <p:sp>
        <p:nvSpPr>
          <p:cNvPr id="24" name="arm-badge-E"/>
          <p:cNvSpPr/>
          <p:nvPr/>
        </p:nvSpPr>
        <p:spPr>
          <a:xfrm>
            <a:off x="9784080" y="1417320"/>
            <a:ext cx="457200" cy="457200"/>
          </a:xfrm>
          <a:prstGeom prst="ellipse">
            <a:avLst/>
          </a:prstGeom>
          <a:solidFill>
            <a:srgbClr val="21C17A"/>
          </a:solidFill>
          <a:ln w="12700">
            <a:solidFill>
              <a:srgbClr val="21C17A"/>
            </a:solidFill>
            <a:prstDash val="solid"/>
          </a:ln>
        </p:spPr>
      </p:sp>
      <p:sp>
        <p:nvSpPr>
          <p:cNvPr id="25" name="Text 23"/>
          <p:cNvSpPr txBox="1"/>
          <p:nvPr/>
        </p:nvSpPr>
        <p:spPr>
          <a:xfrm>
            <a:off x="9784080" y="14173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E</a:t>
            </a:r>
            <a:endParaRPr lang="en-US" sz="1600" dirty="0"/>
          </a:p>
        </p:txBody>
      </p:sp>
      <p:sp>
        <p:nvSpPr>
          <p:cNvPr id="26" name="Text 24"/>
          <p:cNvSpPr txBox="1"/>
          <p:nvPr/>
        </p:nvSpPr>
        <p:spPr>
          <a:xfrm>
            <a:off x="9784080" y="1965960"/>
            <a:ext cx="1783080" cy="411480"/>
          </a:xfrm>
          <a:prstGeom prst="rect">
            <a:avLst/>
          </a:prstGeom>
          <a:noFill/>
          <a:ln/>
        </p:spPr>
        <p:txBody>
          <a:bodyPr wrap="square" lIns="635" tIns="635" rIns="635" bIns="635" rtlCol="0" anchor="t"/>
          <a:lstStyle/>
          <a:p>
            <a:pPr indent="0" marL="0">
              <a:buNone/>
            </a:pPr>
            <a:r>
              <a:rPr lang="en-US" sz="1600" b="1" dirty="0">
                <a:solidFill>
                  <a:schemeClr val="accent1"/>
                </a:solidFill>
              </a:rPr>
              <a:t>MC + worst-regime</a:t>
            </a:r>
            <a:endParaRPr lang="en-US" sz="1600" dirty="0"/>
          </a:p>
        </p:txBody>
      </p:sp>
      <p:sp>
        <p:nvSpPr>
          <p:cNvPr id="27" name="Text 25"/>
          <p:cNvSpPr txBox="1"/>
          <p:nvPr/>
        </p:nvSpPr>
        <p:spPr>
          <a:xfrm>
            <a:off x="9784080" y="2377440"/>
            <a:ext cx="1783080" cy="1280160"/>
          </a:xfrm>
          <a:prstGeom prst="rect">
            <a:avLst/>
          </a:prstGeom>
          <a:noFill/>
          <a:ln/>
        </p:spPr>
        <p:txBody>
          <a:bodyPr wrap="square" lIns="635" tIns="635" rIns="635" bIns="635" rtlCol="0" anchor="t"/>
          <a:lstStyle/>
          <a:p>
            <a:pPr indent="0" marL="0">
              <a:buNone/>
            </a:pPr>
            <a:r>
              <a:rPr lang="en-US" sz="1400" dirty="0">
                <a:solidFill>
                  <a:schemeClr val="accent6"/>
                </a:solidFill>
              </a:rPr>
              <a:t>D's data, B's objective, sim_crash as a regime</a:t>
            </a:r>
            <a:endParaRPr lang="en-US" sz="1400" dirty="0"/>
          </a:p>
        </p:txBody>
      </p:sp>
      <p:sp>
        <p:nvSpPr>
          <p:cNvPr id="28" name="epigraph-box"/>
          <p:cNvSpPr/>
          <p:nvPr/>
        </p:nvSpPr>
        <p:spPr>
          <a:xfrm>
            <a:off x="457200" y="4023360"/>
            <a:ext cx="11247120" cy="2148840"/>
          </a:xfrm>
          <a:prstGeom prst="roundRect">
            <a:avLst>
              <a:gd name="adj" fmla="val 3404"/>
            </a:avLst>
          </a:prstGeom>
          <a:solidFill>
            <a:srgbClr val="14213A"/>
          </a:solidFill>
          <a:ln w="12700">
            <a:solidFill>
              <a:srgbClr val="D9B44A"/>
            </a:solidFill>
            <a:prstDash val="solid"/>
          </a:ln>
        </p:spPr>
      </p:sp>
      <p:sp>
        <p:nvSpPr>
          <p:cNvPr id="29" name="Text 27"/>
          <p:cNvSpPr txBox="1"/>
          <p:nvPr/>
        </p:nvSpPr>
        <p:spPr>
          <a:xfrm>
            <a:off x="731520" y="4160520"/>
            <a:ext cx="10698480" cy="548640"/>
          </a:xfrm>
          <a:prstGeom prst="rect">
            <a:avLst/>
          </a:prstGeom>
          <a:noFill/>
          <a:ln/>
        </p:spPr>
        <p:txBody>
          <a:bodyPr wrap="square" lIns="0" tIns="0" rIns="0" bIns="0" rtlCol="0" anchor="ctr"/>
          <a:lstStyle/>
          <a:p>
            <a:pPr indent="0" marL="0">
              <a:buNone/>
            </a:pPr>
            <a:r>
              <a:rPr lang="en-US" sz="1800" dirty="0">
                <a:solidFill>
                  <a:schemeClr val="accent3"/>
                </a:solidFill>
                <a:latin typeface="Cambria" pitchFamily="34" charset="0"/>
                <a:ea typeface="Cambria" pitchFamily="34" charset="-122"/>
                <a:cs typeface="Cambria" pitchFamily="34" charset="-120"/>
              </a:rPr>
              <a:t>min (1−λ)·L̄ + λ·t + η·‖w‖²/2    s.t.   L_g ≤ t  for every regime g</a:t>
            </a:r>
            <a:endParaRPr lang="en-US" sz="1800" dirty="0"/>
          </a:p>
        </p:txBody>
      </p:sp>
      <p:sp>
        <p:nvSpPr>
          <p:cNvPr id="30" name="Text 28"/>
          <p:cNvSpPr txBox="1"/>
          <p:nvPr/>
        </p:nvSpPr>
        <p:spPr>
          <a:xfrm>
            <a:off x="731520" y="4754880"/>
            <a:ext cx="10698480" cy="1325880"/>
          </a:xfrm>
          <a:prstGeom prst="rect">
            <a:avLst/>
          </a:prstGeom>
          <a:noFill/>
          <a:ln/>
        </p:spPr>
        <p:txBody>
          <a:bodyPr wrap="square" lIns="635" tIns="635" rIns="635" bIns="635" rtlCol="0" anchor="t"/>
          <a:lstStyle/>
          <a:p>
            <a:pPr marL="342900" indent="-342900">
              <a:spcAft>
                <a:spcPts val="400"/>
              </a:spcAft>
              <a:buSzPct val="100000"/>
              <a:buChar char="•"/>
            </a:pPr>
            <a:r>
              <a:rPr lang="en-US" sz="1400" dirty="0">
                <a:solidFill>
                  <a:schemeClr val="bg1"/>
                </a:solidFill>
              </a:rPr>
              <a:t>Exact max, not a soft approximation: SLSQP with analytic gradients; all 15 fits converged (violation ≤ 1e-12)</a:t>
            </a:r>
            <a:endParaRPr lang="en-US" sz="1400" dirty="0"/>
          </a:p>
          <a:p>
            <a:pPr marL="342900" indent="-342900">
              <a:spcAft>
                <a:spcPts val="400"/>
              </a:spcAft>
              <a:buSzPct val="100000"/>
              <a:buChar char="•"/>
            </a:pPr>
            <a:r>
              <a:rPr lang="en-US" sz="1400" dirty="0">
                <a:solidFill>
                  <a:schemeClr val="bg1"/>
                </a:solidFill>
              </a:rPr>
              <a:t>η = 1/(n·C), so λ = 0 equals sklearn logistic regression (tested to 1e-10); LSTM uses the exact full-batch group max</a:t>
            </a:r>
            <a:endParaRPr lang="en-US" sz="1400" dirty="0"/>
          </a:p>
          <a:p>
            <a:pPr marL="342900" indent="-342900">
              <a:spcAft>
                <a:spcPts val="400"/>
              </a:spcAft>
              <a:buSzPct val="100000"/>
              <a:buChar char="•"/>
            </a:pPr>
            <a:r>
              <a:rPr lang="en-US" sz="1400" dirty="0">
                <a:solidFill>
                  <a:schemeClr val="bg1"/>
                </a:solidFill>
              </a:rPr>
              <a:t>Regimes: high/low vol, high/low RSI (cutoffs per fold) + sim_crash</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31520"/>
          </a:xfrm>
          <a:prstGeom prst="rect">
            <a:avLst/>
          </a:prstGeom>
          <a:noFill/>
          <a:ln/>
        </p:spPr>
        <p:txBody>
          <a:bodyPr wrap="square" rtlCol="0" anchor="ctr"/>
          <a:lstStyle/>
          <a:p>
            <a:pPr indent="0" marL="0">
              <a:buNone/>
            </a:pPr>
            <a:r>
              <a:rPr lang="en-US" sz="3200" b="1" dirty="0">
                <a:solidFill>
                  <a:schemeClr val="bg1"/>
                </a:solidFill>
              </a:rPr>
              <a:t>Monte Carlo crash regime: train on crashes history never showed us</a:t>
            </a:r>
            <a:endParaRPr lang="en-US" sz="3200" dirty="0"/>
          </a:p>
        </p:txBody>
      </p:sp>
      <p:sp>
        <p:nvSpPr>
          <p:cNvPr id="3" name="mc-step-0"/>
          <p:cNvSpPr/>
          <p:nvPr/>
        </p:nvSpPr>
        <p:spPr>
          <a:xfrm>
            <a:off x="457200" y="1280160"/>
            <a:ext cx="457200" cy="457200"/>
          </a:xfrm>
          <a:prstGeom prst="ellipse">
            <a:avLst/>
          </a:prstGeom>
          <a:solidFill>
            <a:srgbClr val="21C17A"/>
          </a:solidFill>
          <a:ln w="12700">
            <a:solidFill>
              <a:srgbClr val="21C17A"/>
            </a:solidFill>
            <a:prstDash val="solid"/>
          </a:ln>
        </p:spPr>
      </p:sp>
      <p:sp>
        <p:nvSpPr>
          <p:cNvPr id="4" name="Text 2"/>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5" name="Text 3"/>
          <p:cNvSpPr txBox="1"/>
          <p:nvPr/>
        </p:nvSpPr>
        <p:spPr>
          <a:xfrm>
            <a:off x="1051560" y="1234440"/>
            <a:ext cx="5120640" cy="731520"/>
          </a:xfrm>
          <a:prstGeom prst="rect">
            <a:avLst/>
          </a:prstGeom>
          <a:noFill/>
          <a:ln/>
        </p:spPr>
        <p:txBody>
          <a:bodyPr wrap="square" lIns="635" tIns="635" rIns="635" bIns="635" rtlCol="0" anchor="ctr"/>
          <a:lstStyle/>
          <a:p>
            <a:pPr indent="0" marL="0">
              <a:buNone/>
            </a:pPr>
            <a:r>
              <a:rPr lang="en-US" sz="1400" dirty="0">
                <a:solidFill>
                  <a:schemeClr val="bg1"/>
                </a:solidFill>
              </a:rPr>
              <a:t>Start from a random training day; 60-day real burn-in</a:t>
            </a:r>
            <a:endParaRPr lang="en-US" sz="1400" dirty="0"/>
          </a:p>
        </p:txBody>
      </p:sp>
      <p:sp>
        <p:nvSpPr>
          <p:cNvPr id="6" name="mc-step-1"/>
          <p:cNvSpPr/>
          <p:nvPr/>
        </p:nvSpPr>
        <p:spPr>
          <a:xfrm>
            <a:off x="457200" y="2084832"/>
            <a:ext cx="457200" cy="457200"/>
          </a:xfrm>
          <a:prstGeom prst="ellipse">
            <a:avLst/>
          </a:prstGeom>
          <a:solidFill>
            <a:srgbClr val="21C17A"/>
          </a:solidFill>
          <a:ln w="12700">
            <a:solidFill>
              <a:srgbClr val="21C17A"/>
            </a:solidFill>
            <a:prstDash val="solid"/>
          </a:ln>
        </p:spPr>
      </p:sp>
      <p:sp>
        <p:nvSpPr>
          <p:cNvPr id="7" name="Text 5"/>
          <p:cNvSpPr txBox="1"/>
          <p:nvPr/>
        </p:nvSpPr>
        <p:spPr>
          <a:xfrm>
            <a:off x="457200" y="2084832"/>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8" name="Text 6"/>
          <p:cNvSpPr txBox="1"/>
          <p:nvPr/>
        </p:nvSpPr>
        <p:spPr>
          <a:xfrm>
            <a:off x="1051560" y="2039112"/>
            <a:ext cx="5120640" cy="731520"/>
          </a:xfrm>
          <a:prstGeom prst="rect">
            <a:avLst/>
          </a:prstGeom>
          <a:noFill/>
          <a:ln/>
        </p:spPr>
        <p:txBody>
          <a:bodyPr wrap="square" lIns="635" tIns="635" rIns="635" bIns="635" rtlCol="0" anchor="ctr"/>
          <a:lstStyle/>
          <a:p>
            <a:pPr indent="0" marL="0">
              <a:buNone/>
            </a:pPr>
            <a:r>
              <a:rPr lang="en-US" sz="1400" dirty="0">
                <a:solidFill>
                  <a:schemeClr val="bg1"/>
                </a:solidFill>
              </a:rPr>
              <a:t>Block-bootstrap training returns (5-day blocks), rescaled to 3× or 5× median volatility</a:t>
            </a:r>
            <a:endParaRPr lang="en-US" sz="1400" dirty="0"/>
          </a:p>
        </p:txBody>
      </p:sp>
      <p:sp>
        <p:nvSpPr>
          <p:cNvPr id="9" name="mc-step-2"/>
          <p:cNvSpPr/>
          <p:nvPr/>
        </p:nvSpPr>
        <p:spPr>
          <a:xfrm>
            <a:off x="457200" y="2889504"/>
            <a:ext cx="457200" cy="457200"/>
          </a:xfrm>
          <a:prstGeom prst="ellipse">
            <a:avLst/>
          </a:prstGeom>
          <a:solidFill>
            <a:srgbClr val="21C17A"/>
          </a:solidFill>
          <a:ln w="12700">
            <a:solidFill>
              <a:srgbClr val="21C17A"/>
            </a:solidFill>
            <a:prstDash val="solid"/>
          </a:ln>
        </p:spPr>
      </p:sp>
      <p:sp>
        <p:nvSpPr>
          <p:cNvPr id="10" name="Text 8"/>
          <p:cNvSpPr txBox="1"/>
          <p:nvPr/>
        </p:nvSpPr>
        <p:spPr>
          <a:xfrm>
            <a:off x="457200" y="2889504"/>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1" name="Text 9"/>
          <p:cNvSpPr txBox="1"/>
          <p:nvPr/>
        </p:nvSpPr>
        <p:spPr>
          <a:xfrm>
            <a:off x="1051560" y="2843784"/>
            <a:ext cx="5120640" cy="731520"/>
          </a:xfrm>
          <a:prstGeom prst="rect">
            <a:avLst/>
          </a:prstGeom>
          <a:noFill/>
          <a:ln/>
        </p:spPr>
        <p:txBody>
          <a:bodyPr wrap="square" lIns="635" tIns="635" rIns="635" bIns="635" rtlCol="0" anchor="ctr"/>
          <a:lstStyle/>
          <a:p>
            <a:pPr indent="0" marL="0">
              <a:buNone/>
            </a:pPr>
            <a:r>
              <a:rPr lang="en-US" sz="1400" dirty="0">
                <a:solidFill>
                  <a:schemeClr val="bg1"/>
                </a:solidFill>
              </a:rPr>
              <a:t>Inject 1–2 single-day drops of −8% to −15%</a:t>
            </a:r>
            <a:endParaRPr lang="en-US" sz="1400" dirty="0"/>
          </a:p>
        </p:txBody>
      </p:sp>
      <p:sp>
        <p:nvSpPr>
          <p:cNvPr id="12" name="mc-step-3"/>
          <p:cNvSpPr/>
          <p:nvPr/>
        </p:nvSpPr>
        <p:spPr>
          <a:xfrm>
            <a:off x="457200" y="3694176"/>
            <a:ext cx="457200" cy="457200"/>
          </a:xfrm>
          <a:prstGeom prst="ellipse">
            <a:avLst/>
          </a:prstGeom>
          <a:solidFill>
            <a:srgbClr val="21C17A"/>
          </a:solidFill>
          <a:ln w="12700">
            <a:solidFill>
              <a:srgbClr val="21C17A"/>
            </a:solidFill>
            <a:prstDash val="solid"/>
          </a:ln>
        </p:spPr>
      </p:sp>
      <p:sp>
        <p:nvSpPr>
          <p:cNvPr id="13" name="Text 11"/>
          <p:cNvSpPr txBox="1"/>
          <p:nvPr/>
        </p:nvSpPr>
        <p:spPr>
          <a:xfrm>
            <a:off x="457200" y="3694176"/>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4" name="Text 12"/>
          <p:cNvSpPr txBox="1"/>
          <p:nvPr/>
        </p:nvSpPr>
        <p:spPr>
          <a:xfrm>
            <a:off x="1051560" y="3648456"/>
            <a:ext cx="5120640" cy="731520"/>
          </a:xfrm>
          <a:prstGeom prst="rect">
            <a:avLst/>
          </a:prstGeom>
          <a:noFill/>
          <a:ln/>
        </p:spPr>
        <p:txBody>
          <a:bodyPr wrap="square" lIns="635" tIns="635" rIns="635" bIns="635" rtlCol="0" anchor="ctr"/>
          <a:lstStyle/>
          <a:p>
            <a:pPr indent="0" marL="0">
              <a:buNone/>
            </a:pPr>
            <a:r>
              <a:rPr lang="en-US" sz="1400" dirty="0">
                <a:solidFill>
                  <a:schemeClr val="bg1"/>
                </a:solidFill>
              </a:rPr>
              <a:t>Rebuild OHLC; recompute SMA, momentum, vol and RSI with verified dataset formulas</a:t>
            </a:r>
            <a:endParaRPr lang="en-US" sz="1400" dirty="0"/>
          </a:p>
        </p:txBody>
      </p:sp>
      <p:sp>
        <p:nvSpPr>
          <p:cNvPr id="15" name="mc-step-4"/>
          <p:cNvSpPr/>
          <p:nvPr/>
        </p:nvSpPr>
        <p:spPr>
          <a:xfrm>
            <a:off x="457200" y="4498848"/>
            <a:ext cx="457200" cy="457200"/>
          </a:xfrm>
          <a:prstGeom prst="ellipse">
            <a:avLst/>
          </a:prstGeom>
          <a:solidFill>
            <a:srgbClr val="21C17A"/>
          </a:solidFill>
          <a:ln w="12700">
            <a:solidFill>
              <a:srgbClr val="21C17A"/>
            </a:solidFill>
            <a:prstDash val="solid"/>
          </a:ln>
        </p:spPr>
      </p:sp>
      <p:sp>
        <p:nvSpPr>
          <p:cNvPr id="16" name="Text 14"/>
          <p:cNvSpPr txBox="1"/>
          <p:nvPr/>
        </p:nvSpPr>
        <p:spPr>
          <a:xfrm>
            <a:off x="457200" y="4498848"/>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17" name="Text 15"/>
          <p:cNvSpPr txBox="1"/>
          <p:nvPr/>
        </p:nvSpPr>
        <p:spPr>
          <a:xfrm>
            <a:off x="1051560" y="4453128"/>
            <a:ext cx="5120640" cy="731520"/>
          </a:xfrm>
          <a:prstGeom prst="rect">
            <a:avLst/>
          </a:prstGeom>
          <a:noFill/>
          <a:ln/>
        </p:spPr>
        <p:txBody>
          <a:bodyPr wrap="square" lIns="635" tIns="635" rIns="635" bIns="635" rtlCol="0" anchor="ctr"/>
          <a:lstStyle/>
          <a:p>
            <a:pPr indent="0" marL="0">
              <a:buNone/>
            </a:pPr>
            <a:r>
              <a:rPr lang="en-US" sz="1400" dirty="0">
                <a:solidFill>
                  <a:schemeClr val="bg1"/>
                </a:solidFill>
              </a:rPr>
              <a:t>Resample volume and order flow from high-vol training days</a:t>
            </a:r>
            <a:endParaRPr lang="en-US" sz="1400" dirty="0"/>
          </a:p>
        </p:txBody>
      </p:sp>
      <p:sp>
        <p:nvSpPr>
          <p:cNvPr id="18" name="mc-step-5"/>
          <p:cNvSpPr/>
          <p:nvPr/>
        </p:nvSpPr>
        <p:spPr>
          <a:xfrm>
            <a:off x="457200" y="5303520"/>
            <a:ext cx="457200" cy="457200"/>
          </a:xfrm>
          <a:prstGeom prst="ellipse">
            <a:avLst/>
          </a:prstGeom>
          <a:solidFill>
            <a:srgbClr val="EF4B4B"/>
          </a:solidFill>
          <a:ln w="12700">
            <a:solidFill>
              <a:srgbClr val="EF4B4B"/>
            </a:solidFill>
            <a:prstDash val="solid"/>
          </a:ln>
        </p:spPr>
      </p:sp>
      <p:sp>
        <p:nvSpPr>
          <p:cNvPr id="19" name="Text 17"/>
          <p:cNvSpPr txBox="1"/>
          <p:nvPr/>
        </p:nvSpPr>
        <p:spPr>
          <a:xfrm>
            <a:off x="457200" y="53035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6</a:t>
            </a:r>
            <a:endParaRPr lang="en-US" sz="1600" dirty="0"/>
          </a:p>
        </p:txBody>
      </p:sp>
      <p:sp>
        <p:nvSpPr>
          <p:cNvPr id="20" name="Text 18"/>
          <p:cNvSpPr txBox="1"/>
          <p:nvPr/>
        </p:nvSpPr>
        <p:spPr>
          <a:xfrm>
            <a:off x="1051560" y="5257800"/>
            <a:ext cx="5120640" cy="731520"/>
          </a:xfrm>
          <a:prstGeom prst="rect">
            <a:avLst/>
          </a:prstGeom>
          <a:noFill/>
          <a:ln/>
        </p:spPr>
        <p:txBody>
          <a:bodyPr wrap="square" lIns="635" tIns="635" rIns="635" bIns="635" rtlCol="0" anchor="ctr"/>
          <a:lstStyle/>
          <a:p>
            <a:pPr indent="0" marL="0">
              <a:buNone/>
            </a:pPr>
            <a:r>
              <a:rPr lang="en-US" sz="1400" dirty="0">
                <a:solidFill>
                  <a:schemeClr val="bg1"/>
                </a:solidFill>
              </a:rPr>
              <a:t>200 windows × 50 days = 10,000 rows per fold; separate seeds for training and stress test</a:t>
            </a:r>
            <a:endParaRPr lang="en-US" sz="1400" dirty="0"/>
          </a:p>
        </p:txBody>
      </p:sp>
      <p:graphicFrame>
        <p:nvGraphicFramePr>
          <p:cNvPr id="21" name="Chart 0" descr=""/>
          <p:cNvGraphicFramePr/>
          <p:nvPr/>
        </p:nvGraphicFramePr>
        <p:xfrm>
          <a:off x="6400800" y="1188720"/>
          <a:ext cx="5303520" cy="4206240"/>
        </p:xfrm>
        <a:graphic xmlns:a="http://schemas.openxmlformats.org/drawingml/2006/main">
          <a:graphicData uri="http://schemas.openxmlformats.org/drawingml/2006/chart">
            <c:chart xmlns:c="http://schemas.openxmlformats.org/drawingml/2006/chart" r:id="rId1"/>
          </a:graphicData>
        </a:graphic>
      </p:graphicFrame>
      <p:sp>
        <p:nvSpPr>
          <p:cNvPr id="22" name="mc-callout"/>
          <p:cNvSpPr/>
          <p:nvPr/>
        </p:nvSpPr>
        <p:spPr>
          <a:xfrm>
            <a:off x="6400800" y="5532120"/>
            <a:ext cx="5303520" cy="685800"/>
          </a:xfrm>
          <a:prstGeom prst="roundRect">
            <a:avLst>
              <a:gd name="adj" fmla="val 10667"/>
            </a:avLst>
          </a:prstGeom>
          <a:solidFill>
            <a:srgbClr val="3A1820"/>
          </a:solidFill>
          <a:ln w="12700">
            <a:solidFill>
              <a:srgbClr val="EF4B4B"/>
            </a:solidFill>
            <a:prstDash val="solid"/>
          </a:ln>
        </p:spPr>
      </p:sp>
      <p:sp>
        <p:nvSpPr>
          <p:cNvPr id="23" name="Text 20"/>
          <p:cNvSpPr txBox="1"/>
          <p:nvPr/>
        </p:nvSpPr>
        <p:spPr>
          <a:xfrm>
            <a:off x="6583680" y="5596128"/>
            <a:ext cx="5029200" cy="566928"/>
          </a:xfrm>
          <a:prstGeom prst="rect">
            <a:avLst/>
          </a:prstGeom>
          <a:noFill/>
          <a:ln/>
        </p:spPr>
        <p:txBody>
          <a:bodyPr wrap="square" lIns="635" tIns="635" rIns="635" bIns="635" rtlCol="0" anchor="ctr"/>
          <a:lstStyle/>
          <a:p>
            <a:pPr indent="0" marL="0">
              <a:buNone/>
            </a:pPr>
            <a:r>
              <a:rPr lang="en-US" sz="1400" b="1" dirty="0">
                <a:solidFill>
                  <a:schemeClr val="bg1"/>
                </a:solidFill>
              </a:rPr>
              <a:t>MC training cut crash-case loss 1.22 → 0.70</a:t>
            </a:r>
            <a:pPr indent="0" marL="0">
              <a:buNone/>
            </a:pPr>
            <a:r>
              <a:rPr lang="en-US" sz="1400" dirty="0">
                <a:solidFill>
                  <a:schemeClr val="accent6"/>
                </a:solidFill>
              </a:rPr>
              <a:t> (synthetic labels: robustness, not skill)</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31520"/>
          </a:xfrm>
          <a:prstGeom prst="rect">
            <a:avLst/>
          </a:prstGeom>
          <a:noFill/>
          <a:ln/>
        </p:spPr>
        <p:txBody>
          <a:bodyPr wrap="square" rtlCol="0" anchor="ctr"/>
          <a:lstStyle/>
          <a:p>
            <a:pPr indent="0" marL="0">
              <a:buNone/>
            </a:pPr>
            <a:r>
              <a:rPr lang="en-US" sz="3200" b="1" dirty="0">
                <a:solidFill>
                  <a:schemeClr val="bg1"/>
                </a:solidFill>
              </a:rPr>
              <a:t>Flash-crash adaptation: detect, size, control</a:t>
            </a:r>
            <a:endParaRPr lang="en-US" sz="3200" dirty="0"/>
          </a:p>
        </p:txBody>
      </p:sp>
      <p:sp>
        <p:nvSpPr>
          <p:cNvPr id="3" name="risk-badge-0"/>
          <p:cNvSpPr/>
          <p:nvPr/>
        </p:nvSpPr>
        <p:spPr>
          <a:xfrm>
            <a:off x="457200" y="1280160"/>
            <a:ext cx="457200" cy="457200"/>
          </a:xfrm>
          <a:prstGeom prst="ellipse">
            <a:avLst/>
          </a:prstGeom>
          <a:solidFill>
            <a:srgbClr val="EF4B4B"/>
          </a:solidFill>
          <a:ln w="12700">
            <a:solidFill>
              <a:srgbClr val="EF4B4B"/>
            </a:solidFill>
            <a:prstDash val="solid"/>
          </a:ln>
        </p:spPr>
      </p:sp>
      <p:sp>
        <p:nvSpPr>
          <p:cNvPr id="4" name="Text 2"/>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5" name="Text 3"/>
          <p:cNvSpPr txBox="1"/>
          <p:nvPr/>
        </p:nvSpPr>
        <p:spPr>
          <a:xfrm>
            <a:off x="1051560" y="1261872"/>
            <a:ext cx="4754880" cy="411480"/>
          </a:xfrm>
          <a:prstGeom prst="rect">
            <a:avLst/>
          </a:prstGeom>
          <a:noFill/>
          <a:ln/>
        </p:spPr>
        <p:txBody>
          <a:bodyPr wrap="square" lIns="635" tIns="635" rIns="635" bIns="635" rtlCol="0" anchor="t"/>
          <a:lstStyle/>
          <a:p>
            <a:pPr indent="0" marL="0">
              <a:buNone/>
            </a:pPr>
            <a:r>
              <a:rPr lang="en-US" sz="1800" b="1" dirty="0">
                <a:solidFill>
                  <a:schemeClr val="accent3"/>
                </a:solidFill>
              </a:rPr>
              <a:t>Detect</a:t>
            </a:r>
            <a:endParaRPr lang="en-US" sz="1800" dirty="0"/>
          </a:p>
        </p:txBody>
      </p:sp>
      <p:sp>
        <p:nvSpPr>
          <p:cNvPr id="6" name="Text 4"/>
          <p:cNvSpPr txBox="1"/>
          <p:nvPr/>
        </p:nvSpPr>
        <p:spPr>
          <a:xfrm>
            <a:off x="1051560" y="1691640"/>
            <a:ext cx="4937760" cy="1051560"/>
          </a:xfrm>
          <a:prstGeom prst="rect">
            <a:avLst/>
          </a:prstGeom>
          <a:noFill/>
          <a:ln/>
        </p:spPr>
        <p:txBody>
          <a:bodyPr wrap="square" lIns="635" tIns="635" rIns="635" bIns="635" rtlCol="0" anchor="t"/>
          <a:lstStyle/>
          <a:p>
            <a:pPr indent="0" marL="0">
              <a:buNone/>
            </a:pPr>
            <a:r>
              <a:rPr lang="en-US" sz="1400" dirty="0">
                <a:solidFill>
                  <a:schemeClr val="bg1"/>
                </a:solidFill>
              </a:rPr>
              <a:t>volatility_20 above anything in training → crash regime; switch from long-bias blend to the crash-trained ensemble</a:t>
            </a:r>
            <a:endParaRPr lang="en-US" sz="1400" dirty="0"/>
          </a:p>
        </p:txBody>
      </p:sp>
      <p:sp>
        <p:nvSpPr>
          <p:cNvPr id="7" name="risk-badge-1"/>
          <p:cNvSpPr/>
          <p:nvPr/>
        </p:nvSpPr>
        <p:spPr>
          <a:xfrm>
            <a:off x="457200" y="2880360"/>
            <a:ext cx="457200" cy="457200"/>
          </a:xfrm>
          <a:prstGeom prst="ellipse">
            <a:avLst/>
          </a:prstGeom>
          <a:solidFill>
            <a:srgbClr val="21C17A"/>
          </a:solidFill>
          <a:ln w="12700">
            <a:solidFill>
              <a:srgbClr val="21C17A"/>
            </a:solidFill>
            <a:prstDash val="solid"/>
          </a:ln>
        </p:spPr>
      </p:sp>
      <p:sp>
        <p:nvSpPr>
          <p:cNvPr id="8" name="Text 6"/>
          <p:cNvSpPr txBox="1"/>
          <p:nvPr/>
        </p:nvSpPr>
        <p:spPr>
          <a:xfrm>
            <a:off x="457200" y="28803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9" name="Text 7"/>
          <p:cNvSpPr txBox="1"/>
          <p:nvPr/>
        </p:nvSpPr>
        <p:spPr>
          <a:xfrm>
            <a:off x="1051560" y="2862072"/>
            <a:ext cx="4754880" cy="411480"/>
          </a:xfrm>
          <a:prstGeom prst="rect">
            <a:avLst/>
          </a:prstGeom>
          <a:noFill/>
          <a:ln/>
        </p:spPr>
        <p:txBody>
          <a:bodyPr wrap="square" lIns="635" tIns="635" rIns="635" bIns="635" rtlCol="0" anchor="t"/>
          <a:lstStyle/>
          <a:p>
            <a:pPr indent="0" marL="0">
              <a:buNone/>
            </a:pPr>
            <a:r>
              <a:rPr lang="en-US" sz="1800" b="1" dirty="0">
                <a:solidFill>
                  <a:schemeClr val="accent3"/>
                </a:solidFill>
              </a:rPr>
              <a:t>Size</a:t>
            </a:r>
            <a:endParaRPr lang="en-US" sz="1800" dirty="0"/>
          </a:p>
        </p:txBody>
      </p:sp>
      <p:sp>
        <p:nvSpPr>
          <p:cNvPr id="10" name="Text 8"/>
          <p:cNvSpPr txBox="1"/>
          <p:nvPr/>
        </p:nvSpPr>
        <p:spPr>
          <a:xfrm>
            <a:off x="1051560" y="3291840"/>
            <a:ext cx="4937760" cy="1051560"/>
          </a:xfrm>
          <a:prstGeom prst="rect">
            <a:avLst/>
          </a:prstGeom>
          <a:noFill/>
          <a:ln/>
        </p:spPr>
        <p:txBody>
          <a:bodyPr wrap="square" lIns="635" tIns="635" rIns="635" bIns="635" rtlCol="0" anchor="t"/>
          <a:lstStyle/>
          <a:p>
            <a:pPr indent="0" marL="0">
              <a:buNone/>
            </a:pPr>
            <a:r>
              <a:rPr lang="en-US" sz="1400" dirty="0">
                <a:solidFill>
                  <a:schemeClr val="bg1"/>
                </a:solidFill>
              </a:rPr>
              <a:t>signal = clip(5·(2p−1)) × min(1, σ_median/σ_t): exposure shrinks 3–6× automatically in the crash</a:t>
            </a:r>
            <a:endParaRPr lang="en-US" sz="1400" dirty="0"/>
          </a:p>
        </p:txBody>
      </p:sp>
      <p:sp>
        <p:nvSpPr>
          <p:cNvPr id="11" name="risk-badge-2"/>
          <p:cNvSpPr/>
          <p:nvPr/>
        </p:nvSpPr>
        <p:spPr>
          <a:xfrm>
            <a:off x="457200" y="4480560"/>
            <a:ext cx="457200" cy="457200"/>
          </a:xfrm>
          <a:prstGeom prst="ellipse">
            <a:avLst/>
          </a:prstGeom>
          <a:solidFill>
            <a:srgbClr val="21C17A"/>
          </a:solidFill>
          <a:ln w="12700">
            <a:solidFill>
              <a:srgbClr val="21C17A"/>
            </a:solidFill>
            <a:prstDash val="solid"/>
          </a:ln>
        </p:spPr>
      </p:sp>
      <p:sp>
        <p:nvSpPr>
          <p:cNvPr id="12" name="Text 10"/>
          <p:cNvSpPr txBox="1"/>
          <p:nvPr/>
        </p:nvSpPr>
        <p:spPr>
          <a:xfrm>
            <a:off x="457200" y="44805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3" name="Text 11"/>
          <p:cNvSpPr txBox="1"/>
          <p:nvPr/>
        </p:nvSpPr>
        <p:spPr>
          <a:xfrm>
            <a:off x="1051560" y="4462272"/>
            <a:ext cx="4754880" cy="411480"/>
          </a:xfrm>
          <a:prstGeom prst="rect">
            <a:avLst/>
          </a:prstGeom>
          <a:noFill/>
          <a:ln/>
        </p:spPr>
        <p:txBody>
          <a:bodyPr wrap="square" lIns="635" tIns="635" rIns="635" bIns="635" rtlCol="0" anchor="t"/>
          <a:lstStyle/>
          <a:p>
            <a:pPr indent="0" marL="0">
              <a:buNone/>
            </a:pPr>
            <a:r>
              <a:rPr lang="en-US" sz="1800" b="1" dirty="0">
                <a:solidFill>
                  <a:schemeClr val="accent3"/>
                </a:solidFill>
              </a:rPr>
              <a:t>Control</a:t>
            </a:r>
            <a:endParaRPr lang="en-US" sz="1800" dirty="0"/>
          </a:p>
        </p:txBody>
      </p:sp>
      <p:sp>
        <p:nvSpPr>
          <p:cNvPr id="14" name="Text 12"/>
          <p:cNvSpPr txBox="1"/>
          <p:nvPr/>
        </p:nvSpPr>
        <p:spPr>
          <a:xfrm>
            <a:off x="1051560" y="4892040"/>
            <a:ext cx="4937760" cy="1051560"/>
          </a:xfrm>
          <a:prstGeom prst="rect">
            <a:avLst/>
          </a:prstGeom>
          <a:noFill/>
          <a:ln/>
        </p:spPr>
        <p:txBody>
          <a:bodyPr wrap="square" lIns="635" tIns="635" rIns="635" bIns="635" rtlCol="0" anchor="t"/>
          <a:lstStyle/>
          <a:p>
            <a:pPr indent="0" marL="0">
              <a:buNone/>
            </a:pPr>
            <a:r>
              <a:rPr lang="en-US" sz="1400" dirty="0">
                <a:solidFill>
                  <a:schemeClr val="bg1"/>
                </a:solidFill>
              </a:rPr>
              <a:t>Backtest net of 10 bps per unit change; drawdown caps 15% real / 25% MC; turnover tracked</a:t>
            </a:r>
            <a:endParaRPr lang="en-US" sz="1400" dirty="0"/>
          </a:p>
        </p:txBody>
      </p:sp>
      <p:graphicFrame>
        <p:nvGraphicFramePr>
          <p:cNvPr id="15" name="Chart 0" descr=""/>
          <p:cNvGraphicFramePr/>
          <p:nvPr/>
        </p:nvGraphicFramePr>
        <p:xfrm>
          <a:off x="6309360" y="1188720"/>
          <a:ext cx="5394960" cy="4297680"/>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6309360" y="5623560"/>
            <a:ext cx="5394960" cy="594360"/>
          </a:xfrm>
          <a:prstGeom prst="rect">
            <a:avLst/>
          </a:prstGeom>
          <a:noFill/>
          <a:ln/>
        </p:spPr>
        <p:txBody>
          <a:bodyPr wrap="square" lIns="635" tIns="635" rIns="635" bIns="635" rtlCol="0" anchor="t"/>
          <a:lstStyle/>
          <a:p>
            <a:pPr indent="0" marL="0">
              <a:buNone/>
            </a:pPr>
            <a:r>
              <a:rPr lang="en-US" sz="1400" i="1" dirty="0">
                <a:solidFill>
                  <a:schemeClr val="accent6"/>
                </a:solidFill>
              </a:rPr>
              <a:t>Rule: maximise ½ real + ½ crash Sharpe within the drawdown caps. Only the regime switch is positive on both.</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31520"/>
          </a:xfrm>
          <a:prstGeom prst="rect">
            <a:avLst/>
          </a:prstGeom>
          <a:noFill/>
          <a:ln/>
        </p:spPr>
        <p:txBody>
          <a:bodyPr wrap="square" rtlCol="0" anchor="ctr"/>
          <a:lstStyle/>
          <a:p>
            <a:pPr indent="0" marL="0">
              <a:buNone/>
            </a:pPr>
            <a:r>
              <a:rPr lang="en-US" sz="3200" b="1" dirty="0">
                <a:solidFill>
                  <a:schemeClr val="bg1"/>
                </a:solidFill>
              </a:rPr>
              <a:t>Our predictions in action: positions shrink and flip as the crash hits</a:t>
            </a:r>
            <a:endParaRPr lang="en-US" sz="3200" dirty="0"/>
          </a:p>
        </p:txBody>
      </p:sp>
      <p:graphicFrame>
        <p:nvGraphicFramePr>
          <p:cNvPr id="3" name="Chart 0" descr=""/>
          <p:cNvGraphicFramePr/>
          <p:nvPr/>
        </p:nvGraphicFramePr>
        <p:xfrm>
          <a:off x="457200" y="1188720"/>
          <a:ext cx="786384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57200" y="3794760"/>
          <a:ext cx="7863840" cy="2514600"/>
        </p:xfrm>
        <a:graphic xmlns:a="http://schemas.openxmlformats.org/drawingml/2006/main">
          <a:graphicData uri="http://schemas.openxmlformats.org/drawingml/2006/chart">
            <c:chart xmlns:c="http://schemas.openxmlformats.org/drawingml/2006/chart" r:id="rId2"/>
          </a:graphicData>
        </a:graphic>
      </p:graphicFrame>
      <p:sp>
        <p:nvSpPr>
          <p:cNvPr id="5" name="viz-notes"/>
          <p:cNvSpPr/>
          <p:nvPr/>
        </p:nvSpPr>
        <p:spPr>
          <a:xfrm>
            <a:off x="8595360" y="1188720"/>
            <a:ext cx="3108960" cy="5120640"/>
          </a:xfrm>
          <a:prstGeom prst="roundRect">
            <a:avLst>
              <a:gd name="adj" fmla="val 2353"/>
            </a:avLst>
          </a:prstGeom>
          <a:solidFill>
            <a:srgbClr val="14213A"/>
          </a:solidFill>
          <a:ln w="12700">
            <a:solidFill>
              <a:srgbClr val="24324F"/>
            </a:solidFill>
            <a:prstDash val="solid"/>
          </a:ln>
        </p:spPr>
      </p:sp>
      <p:sp>
        <p:nvSpPr>
          <p:cNvPr id="6" name="Text 2"/>
          <p:cNvSpPr txBox="1"/>
          <p:nvPr/>
        </p:nvSpPr>
        <p:spPr>
          <a:xfrm>
            <a:off x="8778240" y="1325880"/>
            <a:ext cx="2788920" cy="4892040"/>
          </a:xfrm>
          <a:prstGeom prst="rect">
            <a:avLst/>
          </a:prstGeom>
          <a:noFill/>
          <a:ln/>
        </p:spPr>
        <p:txBody>
          <a:bodyPr wrap="square" lIns="635" tIns="635" rIns="635" bIns="635" rtlCol="0" anchor="t"/>
          <a:lstStyle/>
          <a:p>
            <a:pPr indent="0" marL="0">
              <a:buNone/>
            </a:pPr>
            <a:r>
              <a:rPr lang="en-US" sz="1400" b="1" dirty="0">
                <a:solidFill>
                  <a:schemeClr val="accent3"/>
                </a:solidFill>
              </a:rPr>
              <a:t>Day 851</a:t>
            </a:r>
            <a:endParaRPr lang="en-US" sz="1400" dirty="0"/>
          </a:p>
          <a:p>
            <a:pPr indent="0" marL="0">
              <a:buNone/>
            </a:pPr>
            <a:r>
              <a:rPr lang="en-US" sz="1400" dirty="0">
                <a:solidFill>
                  <a:schemeClr val="bg1"/>
                </a:solidFill>
              </a:rPr>
              <a:t>Volatility still normal: long blend (0.22)</a:t>
            </a:r>
            <a:endParaRPr lang="en-US" sz="1400" dirty="0"/>
          </a:p>
          <a:p>
            <a:pPr indent="0" marL="0">
              <a:buNone/>
            </a:pPr>
            <a:r>
              <a:rPr lang="en-US" sz="600" dirty="0">
                <a:solidFill>
                  <a:schemeClr val="bg1"/>
                </a:solidFill>
              </a:rPr>
              <a:t> </a:t>
            </a:r>
            <a:endParaRPr lang="en-US" sz="1400" dirty="0"/>
          </a:p>
          <a:p>
            <a:pPr indent="0" marL="0">
              <a:buNone/>
            </a:pPr>
            <a:r>
              <a:rPr lang="en-US" sz="1400" b="1" dirty="0">
                <a:solidFill>
                  <a:schemeClr val="accent3"/>
                </a:solidFill>
              </a:rPr>
              <a:t>Day 852</a:t>
            </a:r>
            <a:endParaRPr lang="en-US" sz="1400" dirty="0"/>
          </a:p>
          <a:p>
            <a:pPr indent="0" marL="0">
              <a:buNone/>
            </a:pPr>
            <a:r>
              <a:rPr lang="en-US" sz="1400" dirty="0">
                <a:solidFill>
                  <a:schemeClr val="bg1"/>
                </a:solidFill>
              </a:rPr>
              <a:t>Volatility leaves the training range: regime switch engages (0.86, then 0.43)</a:t>
            </a:r>
            <a:endParaRPr lang="en-US" sz="1400" dirty="0"/>
          </a:p>
          <a:p>
            <a:pPr indent="0" marL="0">
              <a:buNone/>
            </a:pPr>
            <a:r>
              <a:rPr lang="en-US" sz="600" dirty="0">
                <a:solidFill>
                  <a:schemeClr val="bg1"/>
                </a:solidFill>
              </a:rPr>
              <a:t> </a:t>
            </a:r>
            <a:endParaRPr lang="en-US" sz="1400" dirty="0"/>
          </a:p>
          <a:p>
            <a:pPr indent="0" marL="0">
              <a:buNone/>
            </a:pPr>
            <a:r>
              <a:rPr lang="en-US" sz="1400" b="1" dirty="0">
                <a:solidFill>
                  <a:schemeClr val="accent3"/>
                </a:solidFill>
              </a:rPr>
              <a:t>Days 854–900</a:t>
            </a:r>
            <a:endParaRPr lang="en-US" sz="1400" dirty="0"/>
          </a:p>
          <a:p>
            <a:pPr indent="0" marL="0">
              <a:buNone/>
            </a:pPr>
            <a:r>
              <a:rPr lang="en-US" sz="1400" dirty="0">
                <a:solidFill>
                  <a:schemeClr val="bg1"/>
                </a:solidFill>
              </a:rPr>
              <a:t>Positions within ±0.33 at 4–6× volatility; 14 days exactly flat; direction flips with daily reversals</a:t>
            </a:r>
            <a:endParaRPr lang="en-US" sz="1400" dirty="0"/>
          </a:p>
          <a:p>
            <a:pPr indent="0" marL="0">
              <a:buNone/>
            </a:pPr>
            <a:r>
              <a:rPr lang="en-US" sz="600" dirty="0">
                <a:solidFill>
                  <a:schemeClr val="bg1"/>
                </a:solidFill>
              </a:rPr>
              <a:t> </a:t>
            </a:r>
            <a:endParaRPr lang="en-US" sz="1400" dirty="0"/>
          </a:p>
          <a:p>
            <a:pPr indent="0" marL="0">
              <a:buNone/>
            </a:pPr>
            <a:r>
              <a:rPr lang="en-US" sz="1400" b="1" dirty="0">
                <a:solidFill>
                  <a:schemeClr val="accent3"/>
                </a:solidFill>
              </a:rPr>
              <a:t>Sanity</a:t>
            </a:r>
            <a:endParaRPr lang="en-US" sz="1400" dirty="0"/>
          </a:p>
          <a:p>
            <a:pPr indent="0" marL="0">
              <a:buNone/>
            </a:pPr>
            <a:r>
              <a:rPr lang="en-US" sz="1400" dirty="0">
                <a:solidFill>
                  <a:schemeClr val="bg1"/>
                </a:solidFill>
              </a:rPr>
              <a:t>Model probabilities stay in 0.42–0.58: no garbage outputs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31520"/>
          </a:xfrm>
          <a:prstGeom prst="rect">
            <a:avLst/>
          </a:prstGeom>
          <a:noFill/>
          <a:ln/>
        </p:spPr>
        <p:txBody>
          <a:bodyPr wrap="square" rtlCol="0" anchor="ctr"/>
          <a:lstStyle/>
          <a:p>
            <a:pPr indent="0" marL="0">
              <a:buNone/>
            </a:pPr>
            <a:r>
              <a:rPr lang="en-US" sz="3200" b="1" dirty="0">
                <a:solidFill>
                  <a:schemeClr val="bg1"/>
                </a:solidFill>
              </a:rPr>
              <a:t>Results: +12.7% with 1.8% drawdown while the market fell 9.2%</a:t>
            </a:r>
            <a:endParaRPr lang="en-US" sz="3200" dirty="0"/>
          </a:p>
        </p:txBody>
      </p:sp>
      <p:graphicFrame>
        <p:nvGraphicFramePr>
          <p:cNvPr id="3" name="Chart 0" descr=""/>
          <p:cNvGraphicFramePr/>
          <p:nvPr/>
        </p:nvGraphicFramePr>
        <p:xfrm>
          <a:off x="457200" y="1188720"/>
          <a:ext cx="7680960" cy="5029200"/>
        </p:xfrm>
        <a:graphic xmlns:a="http://schemas.openxmlformats.org/drawingml/2006/main">
          <a:graphicData uri="http://schemas.openxmlformats.org/drawingml/2006/chart">
            <c:chart xmlns:c="http://schemas.openxmlformats.org/drawingml/2006/chart" r:id="rId1"/>
          </a:graphicData>
        </a:graphic>
      </p:graphicFrame>
      <p:sp>
        <p:nvSpPr>
          <p:cNvPr id="4" name="res-card-0"/>
          <p:cNvSpPr/>
          <p:nvPr/>
        </p:nvSpPr>
        <p:spPr>
          <a:xfrm>
            <a:off x="8412480" y="1188720"/>
            <a:ext cx="3291840" cy="1463040"/>
          </a:xfrm>
          <a:prstGeom prst="roundRect">
            <a:avLst>
              <a:gd name="adj" fmla="val 5000"/>
            </a:avLst>
          </a:prstGeom>
          <a:solidFill>
            <a:srgbClr val="14213A"/>
          </a:solidFill>
          <a:ln w="12700">
            <a:solidFill>
              <a:srgbClr val="D9B44A"/>
            </a:solidFill>
            <a:prstDash val="solid"/>
          </a:ln>
        </p:spPr>
      </p:sp>
      <p:sp>
        <p:nvSpPr>
          <p:cNvPr id="5" name="Text 2"/>
          <p:cNvSpPr txBox="1"/>
          <p:nvPr/>
        </p:nvSpPr>
        <p:spPr>
          <a:xfrm>
            <a:off x="8595360" y="1280160"/>
            <a:ext cx="2926080" cy="77724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53.0</a:t>
            </a:r>
            <a:endParaRPr lang="en-US" sz="4000" dirty="0"/>
          </a:p>
        </p:txBody>
      </p:sp>
      <p:sp>
        <p:nvSpPr>
          <p:cNvPr id="6" name="Text 3"/>
          <p:cNvSpPr txBox="1"/>
          <p:nvPr/>
        </p:nvSpPr>
        <p:spPr>
          <a:xfrm>
            <a:off x="8595360" y="2057400"/>
            <a:ext cx="2926080" cy="502920"/>
          </a:xfrm>
          <a:prstGeom prst="rect">
            <a:avLst/>
          </a:prstGeom>
          <a:noFill/>
          <a:ln/>
        </p:spPr>
        <p:txBody>
          <a:bodyPr wrap="square" lIns="635" tIns="635" rIns="635" bIns="635" rtlCol="0" anchor="t"/>
          <a:lstStyle/>
          <a:p>
            <a:pPr indent="0" marL="0">
              <a:buNone/>
            </a:pPr>
            <a:r>
              <a:rPr lang="en-US" sz="1400" dirty="0">
                <a:solidFill>
                  <a:schemeClr val="bg1"/>
                </a:solidFill>
              </a:rPr>
              <a:t>Leaderboard: v3 (v1 35.8, v4 36.4)</a:t>
            </a:r>
            <a:endParaRPr lang="en-US" sz="1400" dirty="0"/>
          </a:p>
        </p:txBody>
      </p:sp>
      <p:sp>
        <p:nvSpPr>
          <p:cNvPr id="7" name="res-card-1"/>
          <p:cNvSpPr/>
          <p:nvPr/>
        </p:nvSpPr>
        <p:spPr>
          <a:xfrm>
            <a:off x="8412480" y="2880360"/>
            <a:ext cx="3291840" cy="1463040"/>
          </a:xfrm>
          <a:prstGeom prst="roundRect">
            <a:avLst>
              <a:gd name="adj" fmla="val 5000"/>
            </a:avLst>
          </a:prstGeom>
          <a:solidFill>
            <a:srgbClr val="14213A"/>
          </a:solidFill>
          <a:ln w="12700">
            <a:solidFill>
              <a:srgbClr val="24324F"/>
            </a:solidFill>
            <a:prstDash val="solid"/>
          </a:ln>
        </p:spPr>
      </p:sp>
      <p:sp>
        <p:nvSpPr>
          <p:cNvPr id="8" name="Text 5"/>
          <p:cNvSpPr txBox="1"/>
          <p:nvPr/>
        </p:nvSpPr>
        <p:spPr>
          <a:xfrm>
            <a:off x="8595360" y="2971800"/>
            <a:ext cx="2926080"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4.75</a:t>
            </a:r>
            <a:endParaRPr lang="en-US" sz="4000" dirty="0"/>
          </a:p>
        </p:txBody>
      </p:sp>
      <p:sp>
        <p:nvSpPr>
          <p:cNvPr id="9" name="Text 6"/>
          <p:cNvSpPr txBox="1"/>
          <p:nvPr/>
        </p:nvSpPr>
        <p:spPr>
          <a:xfrm>
            <a:off x="8595360" y="3749040"/>
            <a:ext cx="2926080" cy="502920"/>
          </a:xfrm>
          <a:prstGeom prst="rect">
            <a:avLst/>
          </a:prstGeom>
          <a:noFill/>
          <a:ln/>
        </p:spPr>
        <p:txBody>
          <a:bodyPr wrap="square" lIns="635" tIns="635" rIns="635" bIns="635" rtlCol="0" anchor="t"/>
          <a:lstStyle/>
          <a:p>
            <a:pPr indent="0" marL="0">
              <a:buNone/>
            </a:pPr>
            <a:r>
              <a:rPr lang="en-US" sz="1400" dirty="0">
                <a:solidFill>
                  <a:schemeClr val="bg1"/>
                </a:solidFill>
              </a:rPr>
              <a:t>Sharpe in the crash (v1 1.65)</a:t>
            </a:r>
            <a:endParaRPr lang="en-US" sz="1400" dirty="0"/>
          </a:p>
        </p:txBody>
      </p:sp>
      <p:sp>
        <p:nvSpPr>
          <p:cNvPr id="10" name="res-card-2"/>
          <p:cNvSpPr/>
          <p:nvPr/>
        </p:nvSpPr>
        <p:spPr>
          <a:xfrm>
            <a:off x="8412480" y="4572000"/>
            <a:ext cx="3291840" cy="1463040"/>
          </a:xfrm>
          <a:prstGeom prst="roundRect">
            <a:avLst>
              <a:gd name="adj" fmla="val 5000"/>
            </a:avLst>
          </a:prstGeom>
          <a:solidFill>
            <a:srgbClr val="14213A"/>
          </a:solidFill>
          <a:ln w="12700">
            <a:solidFill>
              <a:srgbClr val="24324F"/>
            </a:solidFill>
            <a:prstDash val="solid"/>
          </a:ln>
        </p:spPr>
      </p:sp>
      <p:sp>
        <p:nvSpPr>
          <p:cNvPr id="11" name="Text 8"/>
          <p:cNvSpPr txBox="1"/>
          <p:nvPr/>
        </p:nvSpPr>
        <p:spPr>
          <a:xfrm>
            <a:off x="8595360" y="4663440"/>
            <a:ext cx="2926080" cy="77724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73%</a:t>
            </a:r>
            <a:endParaRPr lang="en-US" sz="4000" dirty="0"/>
          </a:p>
        </p:txBody>
      </p:sp>
      <p:sp>
        <p:nvSpPr>
          <p:cNvPr id="12" name="Text 9"/>
          <p:cNvSpPr txBox="1"/>
          <p:nvPr/>
        </p:nvSpPr>
        <p:spPr>
          <a:xfrm>
            <a:off x="8595360" y="5440680"/>
            <a:ext cx="2926080" cy="502920"/>
          </a:xfrm>
          <a:prstGeom prst="rect">
            <a:avLst/>
          </a:prstGeom>
          <a:noFill/>
          <a:ln/>
        </p:spPr>
        <p:txBody>
          <a:bodyPr wrap="square" lIns="635" tIns="635" rIns="635" bIns="635" rtlCol="0" anchor="t"/>
          <a:lstStyle/>
          <a:p>
            <a:pPr indent="0" marL="0">
              <a:buNone/>
            </a:pPr>
            <a:r>
              <a:rPr lang="en-US" sz="1400" dirty="0">
                <a:solidFill>
                  <a:schemeClr val="bg1"/>
                </a:solidFill>
              </a:rPr>
              <a:t>Days the v3 call was right</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31520"/>
          </a:xfrm>
          <a:prstGeom prst="rect">
            <a:avLst/>
          </a:prstGeom>
          <a:noFill/>
          <a:ln/>
        </p:spPr>
        <p:txBody>
          <a:bodyPr wrap="square" rtlCol="0" anchor="ctr"/>
          <a:lstStyle/>
          <a:p>
            <a:pPr indent="0" marL="0">
              <a:buNone/>
            </a:pPr>
            <a:r>
              <a:rPr lang="en-US" sz="3200" b="1" dirty="0">
                <a:solidFill>
                  <a:schemeClr val="bg1"/>
                </a:solidFill>
              </a:rPr>
              <a:t>Failure case and limitations we can defend</a:t>
            </a:r>
            <a:endParaRPr lang="en-US" sz="3200" dirty="0"/>
          </a:p>
        </p:txBody>
      </p:sp>
      <p:sp>
        <p:nvSpPr>
          <p:cNvPr id="3" name="fail-card"/>
          <p:cNvSpPr/>
          <p:nvPr/>
        </p:nvSpPr>
        <p:spPr>
          <a:xfrm>
            <a:off x="457200" y="1234440"/>
            <a:ext cx="5486400" cy="4937760"/>
          </a:xfrm>
          <a:prstGeom prst="roundRect">
            <a:avLst>
              <a:gd name="adj" fmla="val 1481"/>
            </a:avLst>
          </a:prstGeom>
          <a:solidFill>
            <a:srgbClr val="3A1820"/>
          </a:solidFill>
          <a:ln w="12700">
            <a:solidFill>
              <a:srgbClr val="EF4B4B"/>
            </a:solidFill>
            <a:prstDash val="solid"/>
          </a:ln>
        </p:spPr>
      </p:sp>
      <p:sp>
        <p:nvSpPr>
          <p:cNvPr id="4" name="Text 2"/>
          <p:cNvSpPr txBox="1"/>
          <p:nvPr/>
        </p:nvSpPr>
        <p:spPr>
          <a:xfrm>
            <a:off x="685800" y="1371600"/>
            <a:ext cx="5029200" cy="457200"/>
          </a:xfrm>
          <a:prstGeom prst="rect">
            <a:avLst/>
          </a:prstGeom>
          <a:noFill/>
          <a:ln/>
        </p:spPr>
        <p:txBody>
          <a:bodyPr wrap="square" lIns="635" tIns="635" rIns="635" bIns="635" rtlCol="0" anchor="t"/>
          <a:lstStyle/>
          <a:p>
            <a:pPr indent="0" marL="0">
              <a:buNone/>
            </a:pPr>
            <a:r>
              <a:rPr lang="en-US" sz="1800" b="1" dirty="0">
                <a:solidFill>
                  <a:schemeClr val="accent2"/>
                </a:solidFill>
              </a:rPr>
              <a:t>Why smoothing (v4) dropped to 36.4</a:t>
            </a:r>
            <a:endParaRPr lang="en-US" sz="1800" dirty="0"/>
          </a:p>
        </p:txBody>
      </p:sp>
      <p:sp>
        <p:nvSpPr>
          <p:cNvPr id="5" name="Text 3"/>
          <p:cNvSpPr txBox="1"/>
          <p:nvPr/>
        </p:nvSpPr>
        <p:spPr>
          <a:xfrm>
            <a:off x="685800" y="1920240"/>
            <a:ext cx="5029200" cy="41148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chemeClr val="bg1"/>
                </a:solidFill>
              </a:rPr>
              <a:t>The crash reversed daily (autocorrelation −0.16 vs +0.13 in history); yesterday's call was right only 29% of days, and smoothing mixes it in</a:t>
            </a:r>
            <a:endParaRPr lang="en-US" sz="1400" dirty="0"/>
          </a:p>
          <a:p>
            <a:pPr marL="342900" indent="-342900">
              <a:spcAft>
                <a:spcPts val="800"/>
              </a:spcAft>
              <a:buSzPct val="100000"/>
              <a:buChar char="•"/>
            </a:pPr>
            <a:r>
              <a:rPr lang="en-US" sz="1400" dirty="0">
                <a:solidFill>
                  <a:schemeClr val="bg1"/>
                </a:solidFill>
              </a:rPr>
              <a:t>Smoothing shrank positions under the organizer's 0.05 flat threshold: 38 of 50 days flat</a:t>
            </a:r>
            <a:endParaRPr lang="en-US" sz="1400" dirty="0"/>
          </a:p>
          <a:p>
            <a:pPr marL="342900" indent="-342900">
              <a:spcAft>
                <a:spcPts val="800"/>
              </a:spcAft>
              <a:buSzPct val="100000"/>
              <a:buChar char="•"/>
            </a:pPr>
            <a:r>
              <a:rPr lang="en-US" sz="1400" dirty="0">
                <a:solidFill>
                  <a:schemeClr val="bg1"/>
                </a:solidFill>
              </a:rPr>
              <a:t>The score rewards money made, not only Sharpe</a:t>
            </a:r>
            <a:endParaRPr lang="en-US" sz="1400" dirty="0"/>
          </a:p>
          <a:p>
            <a:pPr marL="342900" indent="-342900">
              <a:spcAft>
                <a:spcPts val="800"/>
              </a:spcAft>
              <a:buSzPct val="100000"/>
              <a:buChar char="•"/>
            </a:pPr>
            <a:r>
              <a:rPr lang="en-US" sz="1400" dirty="0">
                <a:solidFill>
                  <a:schemeClr val="bg1"/>
                </a:solidFill>
              </a:rPr>
              <a:t>Our history and simulator both trend, so they favoured smoothing</a:t>
            </a:r>
            <a:endParaRPr lang="en-US" sz="1400" dirty="0"/>
          </a:p>
        </p:txBody>
      </p:sp>
      <p:sp>
        <p:nvSpPr>
          <p:cNvPr id="6" name="limits-card"/>
          <p:cNvSpPr/>
          <p:nvPr/>
        </p:nvSpPr>
        <p:spPr>
          <a:xfrm>
            <a:off x="6217920" y="1234440"/>
            <a:ext cx="5486400" cy="4937760"/>
          </a:xfrm>
          <a:prstGeom prst="roundRect">
            <a:avLst>
              <a:gd name="adj" fmla="val 1481"/>
            </a:avLst>
          </a:prstGeom>
          <a:solidFill>
            <a:srgbClr val="14213A"/>
          </a:solidFill>
          <a:ln w="12700">
            <a:solidFill>
              <a:srgbClr val="24324F"/>
            </a:solidFill>
            <a:prstDash val="solid"/>
          </a:ln>
        </p:spPr>
      </p:sp>
      <p:sp>
        <p:nvSpPr>
          <p:cNvPr id="7" name="Text 5"/>
          <p:cNvSpPr txBox="1"/>
          <p:nvPr/>
        </p:nvSpPr>
        <p:spPr>
          <a:xfrm>
            <a:off x="6446520" y="1371600"/>
            <a:ext cx="5029200" cy="457200"/>
          </a:xfrm>
          <a:prstGeom prst="rect">
            <a:avLst/>
          </a:prstGeom>
          <a:noFill/>
          <a:ln/>
        </p:spPr>
        <p:txBody>
          <a:bodyPr wrap="square" lIns="635" tIns="635" rIns="635" bIns="635" rtlCol="0" anchor="t"/>
          <a:lstStyle/>
          <a:p>
            <a:pPr indent="0" marL="0">
              <a:buNone/>
            </a:pPr>
            <a:r>
              <a:rPr lang="en-US" sz="1800" b="1" dirty="0">
                <a:solidFill>
                  <a:schemeClr val="accent3"/>
                </a:solidFill>
              </a:rPr>
              <a:t>Assumptions and limitations</a:t>
            </a:r>
            <a:endParaRPr lang="en-US" sz="1800" dirty="0"/>
          </a:p>
        </p:txBody>
      </p:sp>
      <p:sp>
        <p:nvSpPr>
          <p:cNvPr id="8" name="Text 6"/>
          <p:cNvSpPr txBox="1"/>
          <p:nvPr/>
        </p:nvSpPr>
        <p:spPr>
          <a:xfrm>
            <a:off x="6446520" y="1920240"/>
            <a:ext cx="5029200" cy="41148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chemeClr val="bg1"/>
                </a:solidFill>
              </a:rPr>
              <a:t>Target inferred: next-close direction (849/849 rows)</a:t>
            </a:r>
            <a:endParaRPr lang="en-US" sz="1400" dirty="0"/>
          </a:p>
          <a:p>
            <a:pPr marL="342900" indent="-342900">
              <a:spcAft>
                <a:spcPts val="800"/>
              </a:spcAft>
              <a:buSzPct val="100000"/>
              <a:buChar char="•"/>
            </a:pPr>
            <a:r>
              <a:rPr lang="en-US" sz="1400" dirty="0">
                <a:solidFill>
                  <a:schemeClr val="bg1"/>
                </a:solidFill>
              </a:rPr>
              <a:t>Same-row timing: indicators at t are known when trading t</a:t>
            </a:r>
            <a:endParaRPr lang="en-US" sz="1400" dirty="0"/>
          </a:p>
          <a:p>
            <a:pPr marL="342900" indent="-342900">
              <a:spcAft>
                <a:spcPts val="800"/>
              </a:spcAft>
              <a:buSzPct val="100000"/>
              <a:buChar char="•"/>
            </a:pPr>
            <a:r>
              <a:rPr lang="en-US" sz="1400" dirty="0">
                <a:solidFill>
                  <a:schemeClr val="bg1"/>
                </a:solidFill>
              </a:rPr>
              <a:t>No real directional edge in calm markets (rounds 1–2)</a:t>
            </a:r>
            <a:endParaRPr lang="en-US" sz="1400" dirty="0"/>
          </a:p>
          <a:p>
            <a:pPr marL="342900" indent="-342900">
              <a:spcAft>
                <a:spcPts val="800"/>
              </a:spcAft>
              <a:buSzPct val="100000"/>
              <a:buChar char="•"/>
            </a:pPr>
            <a:r>
              <a:rPr lang="en-US" sz="1400" dirty="0">
                <a:solidFill>
                  <a:schemeClr val="bg1"/>
                </a:solidFill>
              </a:rPr>
              <a:t>Simulator choices (3×/5× vol, −8% to −15% shocks) are designed, not estimated</a:t>
            </a:r>
            <a:endParaRPr lang="en-US" sz="1400" dirty="0"/>
          </a:p>
          <a:p>
            <a:pPr marL="342900" indent="-342900">
              <a:spcAft>
                <a:spcPts val="800"/>
              </a:spcAft>
              <a:buSzPct val="100000"/>
              <a:buChar char="•"/>
            </a:pPr>
            <a:r>
              <a:rPr lang="en-US" sz="1400" dirty="0">
                <a:solidFill>
                  <a:schemeClr val="bg1"/>
                </a:solidFill>
              </a:rPr>
              <a:t>50-day blocks: Sharpe standard error ≈ 2.2</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31520"/>
          </a:xfrm>
          <a:prstGeom prst="rect">
            <a:avLst/>
          </a:prstGeom>
          <a:noFill/>
          <a:ln/>
        </p:spPr>
        <p:txBody>
          <a:bodyPr wrap="square" rtlCol="0" anchor="ctr"/>
          <a:lstStyle/>
          <a:p>
            <a:pPr indent="0" marL="0">
              <a:buNone/>
            </a:pPr>
            <a:r>
              <a:rPr lang="en-US" sz="3200" b="1" dirty="0">
                <a:solidFill>
                  <a:schemeClr val="bg1"/>
                </a:solidFill>
              </a:rPr>
              <a:t>How a real financial analyst can use this</a:t>
            </a:r>
            <a:endParaRPr lang="en-US" sz="3200" dirty="0"/>
          </a:p>
        </p:txBody>
      </p:sp>
      <p:sp>
        <p:nvSpPr>
          <p:cNvPr id="3" name="analyst-card-0"/>
          <p:cNvSpPr/>
          <p:nvPr/>
        </p:nvSpPr>
        <p:spPr>
          <a:xfrm>
            <a:off x="457200" y="1234440"/>
            <a:ext cx="3611880" cy="2148840"/>
          </a:xfrm>
          <a:prstGeom prst="roundRect">
            <a:avLst>
              <a:gd name="adj" fmla="val 3404"/>
            </a:avLst>
          </a:prstGeom>
          <a:solidFill>
            <a:srgbClr val="14213A"/>
          </a:solidFill>
          <a:ln w="12700">
            <a:solidFill>
              <a:srgbClr val="D9B44A"/>
            </a:solidFill>
            <a:prstDash val="solid"/>
          </a:ln>
        </p:spPr>
      </p:sp>
      <p:sp>
        <p:nvSpPr>
          <p:cNvPr id="4" name="analyst-badge-0"/>
          <p:cNvSpPr/>
          <p:nvPr/>
        </p:nvSpPr>
        <p:spPr>
          <a:xfrm>
            <a:off x="640080" y="1417320"/>
            <a:ext cx="457200" cy="457200"/>
          </a:xfrm>
          <a:prstGeom prst="ellipse">
            <a:avLst/>
          </a:prstGeom>
          <a:solidFill>
            <a:srgbClr val="D9B44A"/>
          </a:solidFill>
          <a:ln w="12700">
            <a:solidFill>
              <a:srgbClr val="D9B44A"/>
            </a:solidFill>
            <a:prstDash val="solid"/>
          </a:ln>
        </p:spPr>
      </p:sp>
      <p:sp>
        <p:nvSpPr>
          <p:cNvPr id="5" name="Text 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Text 4"/>
          <p:cNvSpPr txBox="1"/>
          <p:nvPr/>
        </p:nvSpPr>
        <p:spPr>
          <a:xfrm>
            <a:off x="1234440" y="1417320"/>
            <a:ext cx="2697480" cy="502920"/>
          </a:xfrm>
          <a:prstGeom prst="rect">
            <a:avLst/>
          </a:prstGeom>
          <a:noFill/>
          <a:ln/>
        </p:spPr>
        <p:txBody>
          <a:bodyPr wrap="square" lIns="635" tIns="635" rIns="635" bIns="635" rtlCol="0" anchor="ctr"/>
          <a:lstStyle/>
          <a:p>
            <a:pPr indent="0" marL="0">
              <a:buNone/>
            </a:pPr>
            <a:r>
              <a:rPr lang="en-US" sz="1600" b="1" dirty="0">
                <a:solidFill>
                  <a:schemeClr val="bg1"/>
                </a:solidFill>
              </a:rPr>
              <a:t>Risk desk: stress testing</a:t>
            </a:r>
            <a:endParaRPr lang="en-US" sz="1600" dirty="0"/>
          </a:p>
        </p:txBody>
      </p:sp>
      <p:sp>
        <p:nvSpPr>
          <p:cNvPr id="7" name="Text 5"/>
          <p:cNvSpPr txBox="1"/>
          <p:nvPr/>
        </p:nvSpPr>
        <p:spPr>
          <a:xfrm>
            <a:off x="640080" y="2011680"/>
            <a:ext cx="3291840" cy="1280160"/>
          </a:xfrm>
          <a:prstGeom prst="rect">
            <a:avLst/>
          </a:prstGeom>
          <a:noFill/>
          <a:ln/>
        </p:spPr>
        <p:txBody>
          <a:bodyPr wrap="square" lIns="635" tIns="635" rIns="635" bIns="635" rtlCol="0" anchor="t"/>
          <a:lstStyle/>
          <a:p>
            <a:pPr indent="0" marL="0">
              <a:buNone/>
            </a:pPr>
            <a:r>
              <a:rPr lang="en-US" sz="1400" dirty="0">
                <a:solidFill>
                  <a:schemeClr val="accent6"/>
                </a:solidFill>
              </a:rPr>
              <a:t>Run the Monte Carlo crash engine on any book to see drawdown, VaR and CVaR before a shock arrives</a:t>
            </a:r>
            <a:endParaRPr lang="en-US" sz="1400" dirty="0"/>
          </a:p>
        </p:txBody>
      </p:sp>
      <p:sp>
        <p:nvSpPr>
          <p:cNvPr id="8" name="analyst-card-1"/>
          <p:cNvSpPr/>
          <p:nvPr/>
        </p:nvSpPr>
        <p:spPr>
          <a:xfrm>
            <a:off x="4251960" y="1234440"/>
            <a:ext cx="3611880" cy="2148840"/>
          </a:xfrm>
          <a:prstGeom prst="roundRect">
            <a:avLst>
              <a:gd name="adj" fmla="val 3404"/>
            </a:avLst>
          </a:prstGeom>
          <a:solidFill>
            <a:srgbClr val="14213A"/>
          </a:solidFill>
          <a:ln w="12700">
            <a:solidFill>
              <a:srgbClr val="D9B44A"/>
            </a:solidFill>
            <a:prstDash val="solid"/>
          </a:ln>
        </p:spPr>
      </p:sp>
      <p:sp>
        <p:nvSpPr>
          <p:cNvPr id="9" name="analyst-badge-1"/>
          <p:cNvSpPr/>
          <p:nvPr/>
        </p:nvSpPr>
        <p:spPr>
          <a:xfrm>
            <a:off x="4434840" y="1417320"/>
            <a:ext cx="457200" cy="457200"/>
          </a:xfrm>
          <a:prstGeom prst="ellipse">
            <a:avLst/>
          </a:prstGeom>
          <a:solidFill>
            <a:srgbClr val="D9B44A"/>
          </a:solidFill>
          <a:ln w="12700">
            <a:solidFill>
              <a:srgbClr val="D9B44A"/>
            </a:solidFill>
            <a:prstDash val="solid"/>
          </a:ln>
        </p:spPr>
      </p:sp>
      <p:sp>
        <p:nvSpPr>
          <p:cNvPr id="10" name="Text 8"/>
          <p:cNvSpPr txBox="1"/>
          <p:nvPr/>
        </p:nvSpPr>
        <p:spPr>
          <a:xfrm>
            <a:off x="4434840" y="14173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1" name="Text 9"/>
          <p:cNvSpPr txBox="1"/>
          <p:nvPr/>
        </p:nvSpPr>
        <p:spPr>
          <a:xfrm>
            <a:off x="5029200" y="1417320"/>
            <a:ext cx="2697480" cy="502920"/>
          </a:xfrm>
          <a:prstGeom prst="rect">
            <a:avLst/>
          </a:prstGeom>
          <a:noFill/>
          <a:ln/>
        </p:spPr>
        <p:txBody>
          <a:bodyPr wrap="square" lIns="635" tIns="635" rIns="635" bIns="635" rtlCol="0" anchor="ctr"/>
          <a:lstStyle/>
          <a:p>
            <a:pPr indent="0" marL="0">
              <a:buNone/>
            </a:pPr>
            <a:r>
              <a:rPr lang="en-US" sz="1600" b="1" dirty="0">
                <a:solidFill>
                  <a:schemeClr val="bg1"/>
                </a:solidFill>
              </a:rPr>
              <a:t>Regime early warning</a:t>
            </a:r>
            <a:endParaRPr lang="en-US" sz="1600" dirty="0"/>
          </a:p>
        </p:txBody>
      </p:sp>
      <p:sp>
        <p:nvSpPr>
          <p:cNvPr id="12" name="Text 10"/>
          <p:cNvSpPr txBox="1"/>
          <p:nvPr/>
        </p:nvSpPr>
        <p:spPr>
          <a:xfrm>
            <a:off x="4434840" y="2011680"/>
            <a:ext cx="3291840" cy="1280160"/>
          </a:xfrm>
          <a:prstGeom prst="rect">
            <a:avLst/>
          </a:prstGeom>
          <a:noFill/>
          <a:ln/>
        </p:spPr>
        <p:txBody>
          <a:bodyPr wrap="square" lIns="635" tIns="635" rIns="635" bIns="635" rtlCol="0" anchor="t"/>
          <a:lstStyle/>
          <a:p>
            <a:pPr indent="0" marL="0">
              <a:buNone/>
            </a:pPr>
            <a:r>
              <a:rPr lang="en-US" sz="1400" dirty="0">
                <a:solidFill>
                  <a:schemeClr val="accent6"/>
                </a:solidFill>
              </a:rPr>
              <a:t>The out-of-range volatility detector flags when every model is outside its experience: cut leverage, escalate review</a:t>
            </a:r>
            <a:endParaRPr lang="en-US" sz="1400" dirty="0"/>
          </a:p>
        </p:txBody>
      </p:sp>
      <p:sp>
        <p:nvSpPr>
          <p:cNvPr id="13" name="analyst-card-2"/>
          <p:cNvSpPr/>
          <p:nvPr/>
        </p:nvSpPr>
        <p:spPr>
          <a:xfrm>
            <a:off x="8046720" y="1234440"/>
            <a:ext cx="3611880" cy="2148840"/>
          </a:xfrm>
          <a:prstGeom prst="roundRect">
            <a:avLst>
              <a:gd name="adj" fmla="val 3404"/>
            </a:avLst>
          </a:prstGeom>
          <a:solidFill>
            <a:srgbClr val="14213A"/>
          </a:solidFill>
          <a:ln w="12700">
            <a:solidFill>
              <a:srgbClr val="D9B44A"/>
            </a:solidFill>
            <a:prstDash val="solid"/>
          </a:ln>
        </p:spPr>
      </p:sp>
      <p:sp>
        <p:nvSpPr>
          <p:cNvPr id="14" name="analyst-badge-2"/>
          <p:cNvSpPr/>
          <p:nvPr/>
        </p:nvSpPr>
        <p:spPr>
          <a:xfrm>
            <a:off x="8229600" y="1417320"/>
            <a:ext cx="457200" cy="457200"/>
          </a:xfrm>
          <a:prstGeom prst="ellipse">
            <a:avLst/>
          </a:prstGeom>
          <a:solidFill>
            <a:srgbClr val="D9B44A"/>
          </a:solidFill>
          <a:ln w="12700">
            <a:solidFill>
              <a:srgbClr val="D9B44A"/>
            </a:solidFill>
            <a:prstDash val="solid"/>
          </a:ln>
        </p:spPr>
      </p:sp>
      <p:sp>
        <p:nvSpPr>
          <p:cNvPr id="15" name="Text 13"/>
          <p:cNvSpPr txBox="1"/>
          <p:nvPr/>
        </p:nvSpPr>
        <p:spPr>
          <a:xfrm>
            <a:off x="8229600" y="14173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6" name="Text 14"/>
          <p:cNvSpPr txBox="1"/>
          <p:nvPr/>
        </p:nvSpPr>
        <p:spPr>
          <a:xfrm>
            <a:off x="8823960" y="1417320"/>
            <a:ext cx="2697480" cy="502920"/>
          </a:xfrm>
          <a:prstGeom prst="rect">
            <a:avLst/>
          </a:prstGeom>
          <a:noFill/>
          <a:ln/>
        </p:spPr>
        <p:txBody>
          <a:bodyPr wrap="square" lIns="635" tIns="635" rIns="635" bIns="635" rtlCol="0" anchor="ctr"/>
          <a:lstStyle/>
          <a:p>
            <a:pPr indent="0" marL="0">
              <a:buNone/>
            </a:pPr>
            <a:r>
              <a:rPr lang="en-US" sz="1600" b="1" dirty="0">
                <a:solidFill>
                  <a:schemeClr val="bg1"/>
                </a:solidFill>
              </a:rPr>
              <a:t>Position-sizing overlay</a:t>
            </a:r>
            <a:endParaRPr lang="en-US" sz="1600" dirty="0"/>
          </a:p>
        </p:txBody>
      </p:sp>
      <p:sp>
        <p:nvSpPr>
          <p:cNvPr id="17" name="Text 15"/>
          <p:cNvSpPr txBox="1"/>
          <p:nvPr/>
        </p:nvSpPr>
        <p:spPr>
          <a:xfrm>
            <a:off x="8229600" y="2011680"/>
            <a:ext cx="3291840" cy="1280160"/>
          </a:xfrm>
          <a:prstGeom prst="rect">
            <a:avLst/>
          </a:prstGeom>
          <a:noFill/>
          <a:ln/>
        </p:spPr>
        <p:txBody>
          <a:bodyPr wrap="square" lIns="635" tIns="635" rIns="635" bIns="635" rtlCol="0" anchor="t"/>
          <a:lstStyle/>
          <a:p>
            <a:pPr indent="0" marL="0">
              <a:buNone/>
            </a:pPr>
            <a:r>
              <a:rPr lang="en-US" sz="1400" dirty="0">
                <a:solidFill>
                  <a:schemeClr val="accent6"/>
                </a:solidFill>
              </a:rPr>
              <a:t>Apply volatility scaling and the crash switch on top of an existing strategy to cap drawdowns</a:t>
            </a:r>
            <a:endParaRPr lang="en-US" sz="1400" dirty="0"/>
          </a:p>
        </p:txBody>
      </p:sp>
      <p:sp>
        <p:nvSpPr>
          <p:cNvPr id="18" name="analyst-card-3"/>
          <p:cNvSpPr/>
          <p:nvPr/>
        </p:nvSpPr>
        <p:spPr>
          <a:xfrm>
            <a:off x="457200" y="3611880"/>
            <a:ext cx="3611880" cy="2148840"/>
          </a:xfrm>
          <a:prstGeom prst="roundRect">
            <a:avLst>
              <a:gd name="adj" fmla="val 3404"/>
            </a:avLst>
          </a:prstGeom>
          <a:solidFill>
            <a:srgbClr val="14213A"/>
          </a:solidFill>
          <a:ln w="12700">
            <a:solidFill>
              <a:srgbClr val="24324F"/>
            </a:solidFill>
            <a:prstDash val="solid"/>
          </a:ln>
        </p:spPr>
      </p:sp>
      <p:sp>
        <p:nvSpPr>
          <p:cNvPr id="19" name="analyst-badge-3"/>
          <p:cNvSpPr/>
          <p:nvPr/>
        </p:nvSpPr>
        <p:spPr>
          <a:xfrm>
            <a:off x="640080" y="3794760"/>
            <a:ext cx="457200" cy="457200"/>
          </a:xfrm>
          <a:prstGeom prst="ellipse">
            <a:avLst/>
          </a:prstGeom>
          <a:solidFill>
            <a:srgbClr val="21C17A"/>
          </a:solidFill>
          <a:ln w="12700">
            <a:solidFill>
              <a:srgbClr val="21C17A"/>
            </a:solidFill>
            <a:prstDash val="solid"/>
          </a:ln>
        </p:spPr>
      </p:sp>
      <p:sp>
        <p:nvSpPr>
          <p:cNvPr id="20" name="Text 18"/>
          <p:cNvSpPr txBox="1"/>
          <p:nvPr/>
        </p:nvSpPr>
        <p:spPr>
          <a:xfrm>
            <a:off x="640080" y="37947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21" name="Text 19"/>
          <p:cNvSpPr txBox="1"/>
          <p:nvPr/>
        </p:nvSpPr>
        <p:spPr>
          <a:xfrm>
            <a:off x="1234440" y="3794760"/>
            <a:ext cx="2697480" cy="502920"/>
          </a:xfrm>
          <a:prstGeom prst="rect">
            <a:avLst/>
          </a:prstGeom>
          <a:noFill/>
          <a:ln/>
        </p:spPr>
        <p:txBody>
          <a:bodyPr wrap="square" lIns="635" tIns="635" rIns="635" bIns="635" rtlCol="0" anchor="ctr"/>
          <a:lstStyle/>
          <a:p>
            <a:pPr indent="0" marL="0">
              <a:buNone/>
            </a:pPr>
            <a:r>
              <a:rPr lang="en-US" sz="1600" b="1" dirty="0">
                <a:solidFill>
                  <a:schemeClr val="bg1"/>
                </a:solidFill>
              </a:rPr>
              <a:t>Model validation template</a:t>
            </a:r>
            <a:endParaRPr lang="en-US" sz="1600" dirty="0"/>
          </a:p>
        </p:txBody>
      </p:sp>
      <p:sp>
        <p:nvSpPr>
          <p:cNvPr id="22" name="Text 20"/>
          <p:cNvSpPr txBox="1"/>
          <p:nvPr/>
        </p:nvSpPr>
        <p:spPr>
          <a:xfrm>
            <a:off x="640080" y="4389120"/>
            <a:ext cx="3291840" cy="1280160"/>
          </a:xfrm>
          <a:prstGeom prst="rect">
            <a:avLst/>
          </a:prstGeom>
          <a:noFill/>
          <a:ln/>
        </p:spPr>
        <p:txBody>
          <a:bodyPr wrap="square" lIns="635" tIns="635" rIns="635" bIns="635" rtlCol="0" anchor="t"/>
          <a:lstStyle/>
          <a:p>
            <a:pPr indent="0" marL="0">
              <a:buNone/>
            </a:pPr>
            <a:r>
              <a:rPr lang="en-US" sz="1400" dirty="0">
                <a:solidFill>
                  <a:schemeClr val="accent6"/>
                </a:solidFill>
              </a:rPr>
              <a:t>Reuse leakage tests, purged chronological CV and pre-registered selection rules for model-risk sign-off</a:t>
            </a:r>
            <a:endParaRPr lang="en-US" sz="1400" dirty="0"/>
          </a:p>
        </p:txBody>
      </p:sp>
      <p:sp>
        <p:nvSpPr>
          <p:cNvPr id="23" name="analyst-card-4"/>
          <p:cNvSpPr/>
          <p:nvPr/>
        </p:nvSpPr>
        <p:spPr>
          <a:xfrm>
            <a:off x="4251960" y="3611880"/>
            <a:ext cx="3611880" cy="2148840"/>
          </a:xfrm>
          <a:prstGeom prst="roundRect">
            <a:avLst>
              <a:gd name="adj" fmla="val 3404"/>
            </a:avLst>
          </a:prstGeom>
          <a:solidFill>
            <a:srgbClr val="14213A"/>
          </a:solidFill>
          <a:ln w="12700">
            <a:solidFill>
              <a:srgbClr val="24324F"/>
            </a:solidFill>
            <a:prstDash val="solid"/>
          </a:ln>
        </p:spPr>
      </p:sp>
      <p:sp>
        <p:nvSpPr>
          <p:cNvPr id="24" name="analyst-badge-4"/>
          <p:cNvSpPr/>
          <p:nvPr/>
        </p:nvSpPr>
        <p:spPr>
          <a:xfrm>
            <a:off x="4434840" y="3794760"/>
            <a:ext cx="457200" cy="457200"/>
          </a:xfrm>
          <a:prstGeom prst="ellipse">
            <a:avLst/>
          </a:prstGeom>
          <a:solidFill>
            <a:srgbClr val="21C17A"/>
          </a:solidFill>
          <a:ln w="12700">
            <a:solidFill>
              <a:srgbClr val="21C17A"/>
            </a:solidFill>
            <a:prstDash val="solid"/>
          </a:ln>
        </p:spPr>
      </p:sp>
      <p:sp>
        <p:nvSpPr>
          <p:cNvPr id="25" name="Text 23"/>
          <p:cNvSpPr txBox="1"/>
          <p:nvPr/>
        </p:nvSpPr>
        <p:spPr>
          <a:xfrm>
            <a:off x="4434840" y="37947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26" name="Text 24"/>
          <p:cNvSpPr txBox="1"/>
          <p:nvPr/>
        </p:nvSpPr>
        <p:spPr>
          <a:xfrm>
            <a:off x="5029200" y="3794760"/>
            <a:ext cx="2697480" cy="502920"/>
          </a:xfrm>
          <a:prstGeom prst="rect">
            <a:avLst/>
          </a:prstGeom>
          <a:noFill/>
          <a:ln/>
        </p:spPr>
        <p:txBody>
          <a:bodyPr wrap="square" lIns="635" tIns="635" rIns="635" bIns="635" rtlCol="0" anchor="ctr"/>
          <a:lstStyle/>
          <a:p>
            <a:pPr indent="0" marL="0">
              <a:buNone/>
            </a:pPr>
            <a:r>
              <a:rPr lang="en-US" sz="1600" b="1" dirty="0">
                <a:solidFill>
                  <a:schemeClr val="bg1"/>
                </a:solidFill>
              </a:rPr>
              <a:t>Hedge timing input</a:t>
            </a:r>
            <a:endParaRPr lang="en-US" sz="1600" dirty="0"/>
          </a:p>
        </p:txBody>
      </p:sp>
      <p:sp>
        <p:nvSpPr>
          <p:cNvPr id="27" name="Text 25"/>
          <p:cNvSpPr txBox="1"/>
          <p:nvPr/>
        </p:nvSpPr>
        <p:spPr>
          <a:xfrm>
            <a:off x="4434840" y="4389120"/>
            <a:ext cx="3291840" cy="1280160"/>
          </a:xfrm>
          <a:prstGeom prst="rect">
            <a:avLst/>
          </a:prstGeom>
          <a:noFill/>
          <a:ln/>
        </p:spPr>
        <p:txBody>
          <a:bodyPr wrap="square" lIns="635" tIns="635" rIns="635" bIns="635" rtlCol="0" anchor="t"/>
          <a:lstStyle/>
          <a:p>
            <a:pPr indent="0" marL="0">
              <a:buNone/>
            </a:pPr>
            <a:r>
              <a:rPr lang="en-US" sz="1400" dirty="0">
                <a:solidFill>
                  <a:schemeClr val="accent6"/>
                </a:solidFill>
              </a:rPr>
              <a:t>Use the crash-regime flag as one input to when to add or roll protective hedges</a:t>
            </a:r>
            <a:endParaRPr lang="en-US" sz="1400" dirty="0"/>
          </a:p>
        </p:txBody>
      </p:sp>
      <p:sp>
        <p:nvSpPr>
          <p:cNvPr id="28" name="analyst-card-5"/>
          <p:cNvSpPr/>
          <p:nvPr/>
        </p:nvSpPr>
        <p:spPr>
          <a:xfrm>
            <a:off x="8046720" y="3611880"/>
            <a:ext cx="3611880" cy="2148840"/>
          </a:xfrm>
          <a:prstGeom prst="roundRect">
            <a:avLst>
              <a:gd name="adj" fmla="val 3404"/>
            </a:avLst>
          </a:prstGeom>
          <a:solidFill>
            <a:srgbClr val="14213A"/>
          </a:solidFill>
          <a:ln w="12700">
            <a:solidFill>
              <a:srgbClr val="24324F"/>
            </a:solidFill>
            <a:prstDash val="solid"/>
          </a:ln>
        </p:spPr>
      </p:sp>
      <p:sp>
        <p:nvSpPr>
          <p:cNvPr id="29" name="analyst-badge-5"/>
          <p:cNvSpPr/>
          <p:nvPr/>
        </p:nvSpPr>
        <p:spPr>
          <a:xfrm>
            <a:off x="8229600" y="3794760"/>
            <a:ext cx="457200" cy="457200"/>
          </a:xfrm>
          <a:prstGeom prst="ellipse">
            <a:avLst/>
          </a:prstGeom>
          <a:solidFill>
            <a:srgbClr val="21C17A"/>
          </a:solidFill>
          <a:ln w="12700">
            <a:solidFill>
              <a:srgbClr val="21C17A"/>
            </a:solidFill>
            <a:prstDash val="solid"/>
          </a:ln>
        </p:spPr>
      </p:sp>
      <p:sp>
        <p:nvSpPr>
          <p:cNvPr id="30" name="Text 28"/>
          <p:cNvSpPr txBox="1"/>
          <p:nvPr/>
        </p:nvSpPr>
        <p:spPr>
          <a:xfrm>
            <a:off x="8229600" y="37947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6</a:t>
            </a:r>
            <a:endParaRPr lang="en-US" sz="1600" dirty="0"/>
          </a:p>
        </p:txBody>
      </p:sp>
      <p:sp>
        <p:nvSpPr>
          <p:cNvPr id="31" name="Text 29"/>
          <p:cNvSpPr txBox="1"/>
          <p:nvPr/>
        </p:nvSpPr>
        <p:spPr>
          <a:xfrm>
            <a:off x="8823960" y="3794760"/>
            <a:ext cx="2697480" cy="502920"/>
          </a:xfrm>
          <a:prstGeom prst="rect">
            <a:avLst/>
          </a:prstGeom>
          <a:noFill/>
          <a:ln/>
        </p:spPr>
        <p:txBody>
          <a:bodyPr wrap="square" lIns="635" tIns="635" rIns="635" bIns="635" rtlCol="0" anchor="ctr"/>
          <a:lstStyle/>
          <a:p>
            <a:pPr indent="0" marL="0">
              <a:buNone/>
            </a:pPr>
            <a:r>
              <a:rPr lang="en-US" sz="1600" b="1" dirty="0">
                <a:solidFill>
                  <a:schemeClr val="bg1"/>
                </a:solidFill>
              </a:rPr>
              <a:t>Strategy post-mortems</a:t>
            </a:r>
            <a:endParaRPr lang="en-US" sz="1600" dirty="0"/>
          </a:p>
        </p:txBody>
      </p:sp>
      <p:sp>
        <p:nvSpPr>
          <p:cNvPr id="32" name="Text 30"/>
          <p:cNvSpPr txBox="1"/>
          <p:nvPr/>
        </p:nvSpPr>
        <p:spPr>
          <a:xfrm>
            <a:off x="8229600" y="4389120"/>
            <a:ext cx="3291840" cy="1280160"/>
          </a:xfrm>
          <a:prstGeom prst="rect">
            <a:avLst/>
          </a:prstGeom>
          <a:noFill/>
          <a:ln/>
        </p:spPr>
        <p:txBody>
          <a:bodyPr wrap="square" lIns="635" tIns="635" rIns="635" bIns="635" rtlCol="0" anchor="t"/>
          <a:lstStyle/>
          <a:p>
            <a:pPr indent="0" marL="0">
              <a:buNone/>
            </a:pPr>
            <a:r>
              <a:rPr lang="en-US" sz="1400" dirty="0">
                <a:solidFill>
                  <a:schemeClr val="accent6"/>
                </a:solidFill>
              </a:rPr>
              <a:t>Attribute losses to timing, turnover or thresholds, as in our v4 analysis</a:t>
            </a:r>
            <a:endParaRPr lang="en-US" sz="1400" dirty="0"/>
          </a:p>
        </p:txBody>
      </p:sp>
      <p:sp>
        <p:nvSpPr>
          <p:cNvPr id="33" name="Text 31"/>
          <p:cNvSpPr txBox="1"/>
          <p:nvPr/>
        </p:nvSpPr>
        <p:spPr>
          <a:xfrm>
            <a:off x="457200" y="6035040"/>
            <a:ext cx="11247120" cy="365760"/>
          </a:xfrm>
          <a:prstGeom prst="rect">
            <a:avLst/>
          </a:prstGeom>
          <a:noFill/>
          <a:ln/>
        </p:spPr>
        <p:txBody>
          <a:bodyPr wrap="square" lIns="635" tIns="635" rIns="635" bIns="635" rtlCol="0" anchor="t"/>
          <a:lstStyle/>
          <a:p>
            <a:pPr indent="0" marL="0">
              <a:buNone/>
            </a:pPr>
            <a:r>
              <a:rPr lang="en-US" sz="1400" i="1" dirty="0">
                <a:solidFill>
                  <a:schemeClr val="accent3"/>
                </a:solidFill>
              </a:rPr>
              <a:t>Decision support, not autopilot: a single-asset prototype; validate on your own universe before use.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31520"/>
          </a:xfrm>
          <a:prstGeom prst="rect">
            <a:avLst/>
          </a:prstGeom>
          <a:noFill/>
          <a:ln/>
        </p:spPr>
        <p:txBody>
          <a:bodyPr wrap="square" rtlCol="0" anchor="ctr"/>
          <a:lstStyle/>
          <a:p>
            <a:pPr indent="0" marL="0">
              <a:buNone/>
            </a:pPr>
            <a:r>
              <a:rPr lang="en-US" sz="3200" b="1" dirty="0">
                <a:solidFill>
                  <a:schemeClr val="bg1"/>
                </a:solidFill>
              </a:rPr>
              <a:t>Future scope: technically sound extensions of this architecture</a:t>
            </a:r>
            <a:endParaRPr lang="en-US" sz="3200" dirty="0"/>
          </a:p>
        </p:txBody>
      </p:sp>
      <p:sp>
        <p:nvSpPr>
          <p:cNvPr id="3" name="future-card-0"/>
          <p:cNvSpPr/>
          <p:nvPr/>
        </p:nvSpPr>
        <p:spPr>
          <a:xfrm>
            <a:off x="457200" y="1234440"/>
            <a:ext cx="3611880" cy="2331720"/>
          </a:xfrm>
          <a:prstGeom prst="roundRect">
            <a:avLst>
              <a:gd name="adj" fmla="val 3137"/>
            </a:avLst>
          </a:prstGeom>
          <a:solidFill>
            <a:srgbClr val="0F3329"/>
          </a:solidFill>
          <a:ln w="12700">
            <a:solidFill>
              <a:srgbClr val="21C17A"/>
            </a:solidFill>
            <a:prstDash val="solid"/>
          </a:ln>
        </p:spPr>
      </p:sp>
      <p:sp>
        <p:nvSpPr>
          <p:cNvPr id="4" name="future-badge-0"/>
          <p:cNvSpPr/>
          <p:nvPr/>
        </p:nvSpPr>
        <p:spPr>
          <a:xfrm>
            <a:off x="640080" y="1417320"/>
            <a:ext cx="457200" cy="457200"/>
          </a:xfrm>
          <a:prstGeom prst="ellipse">
            <a:avLst/>
          </a:prstGeom>
          <a:solidFill>
            <a:srgbClr val="21C17A"/>
          </a:solidFill>
          <a:ln w="12700">
            <a:solidFill>
              <a:srgbClr val="21C17A"/>
            </a:solidFill>
            <a:prstDash val="solid"/>
          </a:ln>
        </p:spPr>
      </p:sp>
      <p:sp>
        <p:nvSpPr>
          <p:cNvPr id="5" name="Text 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Text 4"/>
          <p:cNvSpPr txBox="1"/>
          <p:nvPr/>
        </p:nvSpPr>
        <p:spPr>
          <a:xfrm>
            <a:off x="1234440" y="1417320"/>
            <a:ext cx="2697480" cy="502920"/>
          </a:xfrm>
          <a:prstGeom prst="rect">
            <a:avLst/>
          </a:prstGeom>
          <a:noFill/>
          <a:ln/>
        </p:spPr>
        <p:txBody>
          <a:bodyPr wrap="square" lIns="635" tIns="635" rIns="635" bIns="635" rtlCol="0" anchor="ctr"/>
          <a:lstStyle/>
          <a:p>
            <a:pPr indent="0" marL="0">
              <a:buNone/>
            </a:pPr>
            <a:r>
              <a:rPr lang="en-US" sz="1600" b="1" dirty="0">
                <a:solidFill>
                  <a:schemeClr val="bg1"/>
                </a:solidFill>
              </a:rPr>
              <a:t>MC risk engine</a:t>
            </a:r>
            <a:endParaRPr lang="en-US" sz="1600" dirty="0"/>
          </a:p>
        </p:txBody>
      </p:sp>
      <p:sp>
        <p:nvSpPr>
          <p:cNvPr id="7" name="Text 5"/>
          <p:cNvSpPr txBox="1"/>
          <p:nvPr/>
        </p:nvSpPr>
        <p:spPr>
          <a:xfrm>
            <a:off x="640080" y="2011680"/>
            <a:ext cx="3291840" cy="1463040"/>
          </a:xfrm>
          <a:prstGeom prst="rect">
            <a:avLst/>
          </a:prstGeom>
          <a:noFill/>
          <a:ln/>
        </p:spPr>
        <p:txBody>
          <a:bodyPr wrap="square" lIns="635" tIns="635" rIns="635" bIns="635" rtlCol="0" anchor="t"/>
          <a:lstStyle/>
          <a:p>
            <a:pPr indent="0" marL="0">
              <a:buNone/>
            </a:pPr>
            <a:r>
              <a:rPr lang="en-US" sz="1400" dirty="0">
                <a:solidFill>
                  <a:schemeClr val="accent6"/>
                </a:solidFill>
              </a:rPr>
              <a:t>Regime-switching and jump-diffusion paths, including reversal crashes; report VaR/CVaR, drawdown and ruin probability; CVaR-constrained sizing</a:t>
            </a:r>
            <a:endParaRPr lang="en-US" sz="1400" dirty="0"/>
          </a:p>
        </p:txBody>
      </p:sp>
      <p:sp>
        <p:nvSpPr>
          <p:cNvPr id="8" name="future-card-1"/>
          <p:cNvSpPr/>
          <p:nvPr/>
        </p:nvSpPr>
        <p:spPr>
          <a:xfrm>
            <a:off x="4251960" y="1234440"/>
            <a:ext cx="3611880" cy="2331720"/>
          </a:xfrm>
          <a:prstGeom prst="roundRect">
            <a:avLst>
              <a:gd name="adj" fmla="val 3137"/>
            </a:avLst>
          </a:prstGeom>
          <a:solidFill>
            <a:srgbClr val="0F3329"/>
          </a:solidFill>
          <a:ln w="12700">
            <a:solidFill>
              <a:srgbClr val="21C17A"/>
            </a:solidFill>
            <a:prstDash val="solid"/>
          </a:ln>
        </p:spPr>
      </p:sp>
      <p:sp>
        <p:nvSpPr>
          <p:cNvPr id="9" name="future-badge-1"/>
          <p:cNvSpPr/>
          <p:nvPr/>
        </p:nvSpPr>
        <p:spPr>
          <a:xfrm>
            <a:off x="4434840" y="1417320"/>
            <a:ext cx="457200" cy="457200"/>
          </a:xfrm>
          <a:prstGeom prst="ellipse">
            <a:avLst/>
          </a:prstGeom>
          <a:solidFill>
            <a:srgbClr val="21C17A"/>
          </a:solidFill>
          <a:ln w="12700">
            <a:solidFill>
              <a:srgbClr val="21C17A"/>
            </a:solidFill>
            <a:prstDash val="solid"/>
          </a:ln>
        </p:spPr>
      </p:sp>
      <p:sp>
        <p:nvSpPr>
          <p:cNvPr id="10" name="Text 8"/>
          <p:cNvSpPr txBox="1"/>
          <p:nvPr/>
        </p:nvSpPr>
        <p:spPr>
          <a:xfrm>
            <a:off x="4434840" y="14173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1" name="Text 9"/>
          <p:cNvSpPr txBox="1"/>
          <p:nvPr/>
        </p:nvSpPr>
        <p:spPr>
          <a:xfrm>
            <a:off x="5029200" y="1417320"/>
            <a:ext cx="2697480" cy="502920"/>
          </a:xfrm>
          <a:prstGeom prst="rect">
            <a:avLst/>
          </a:prstGeom>
          <a:noFill/>
          <a:ln/>
        </p:spPr>
        <p:txBody>
          <a:bodyPr wrap="square" lIns="635" tIns="635" rIns="635" bIns="635" rtlCol="0" anchor="ctr"/>
          <a:lstStyle/>
          <a:p>
            <a:pPr indent="0" marL="0">
              <a:buNone/>
            </a:pPr>
            <a:r>
              <a:rPr lang="en-US" sz="1600" b="1" dirty="0">
                <a:solidFill>
                  <a:schemeClr val="bg1"/>
                </a:solidFill>
              </a:rPr>
              <a:t>RL agent in the MC crash simulator</a:t>
            </a:r>
            <a:endParaRPr lang="en-US" sz="1600" dirty="0"/>
          </a:p>
        </p:txBody>
      </p:sp>
      <p:sp>
        <p:nvSpPr>
          <p:cNvPr id="12" name="Text 10"/>
          <p:cNvSpPr txBox="1"/>
          <p:nvPr/>
        </p:nvSpPr>
        <p:spPr>
          <a:xfrm>
            <a:off x="4434840" y="2011680"/>
            <a:ext cx="3291840" cy="1463040"/>
          </a:xfrm>
          <a:prstGeom prst="rect">
            <a:avLst/>
          </a:prstGeom>
          <a:noFill/>
          <a:ln/>
        </p:spPr>
        <p:txBody>
          <a:bodyPr wrap="square" lIns="635" tIns="635" rIns="635" bIns="635" rtlCol="0" anchor="t"/>
          <a:lstStyle/>
          <a:p>
            <a:pPr indent="0" marL="0">
              <a:buNone/>
            </a:pPr>
            <a:r>
              <a:rPr lang="en-US" sz="1400" dirty="0">
                <a:solidFill>
                  <a:schemeClr val="accent6"/>
                </a:solidFill>
              </a:rPr>
              <a:t>Not on the 50 real crash rows (too few, would fail in calm markets). Train in the simulator with calm, crash, trend and reversal regimes; reward = differential Sharpe − cost − drawdown</a:t>
            </a:r>
            <a:endParaRPr lang="en-US" sz="1400" dirty="0"/>
          </a:p>
        </p:txBody>
      </p:sp>
      <p:sp>
        <p:nvSpPr>
          <p:cNvPr id="13" name="future-card-2"/>
          <p:cNvSpPr/>
          <p:nvPr/>
        </p:nvSpPr>
        <p:spPr>
          <a:xfrm>
            <a:off x="8046720" y="1234440"/>
            <a:ext cx="3611880" cy="2331720"/>
          </a:xfrm>
          <a:prstGeom prst="roundRect">
            <a:avLst>
              <a:gd name="adj" fmla="val 3137"/>
            </a:avLst>
          </a:prstGeom>
          <a:solidFill>
            <a:srgbClr val="14213A"/>
          </a:solidFill>
          <a:ln w="12700">
            <a:solidFill>
              <a:srgbClr val="24324F"/>
            </a:solidFill>
            <a:prstDash val="solid"/>
          </a:ln>
        </p:spPr>
      </p:sp>
      <p:sp>
        <p:nvSpPr>
          <p:cNvPr id="14" name="future-badge-2"/>
          <p:cNvSpPr/>
          <p:nvPr/>
        </p:nvSpPr>
        <p:spPr>
          <a:xfrm>
            <a:off x="8229600" y="1417320"/>
            <a:ext cx="457200" cy="457200"/>
          </a:xfrm>
          <a:prstGeom prst="ellipse">
            <a:avLst/>
          </a:prstGeom>
          <a:solidFill>
            <a:srgbClr val="D9B44A"/>
          </a:solidFill>
          <a:ln w="12700">
            <a:solidFill>
              <a:srgbClr val="D9B44A"/>
            </a:solidFill>
            <a:prstDash val="solid"/>
          </a:ln>
        </p:spPr>
      </p:sp>
      <p:sp>
        <p:nvSpPr>
          <p:cNvPr id="15" name="Text 13"/>
          <p:cNvSpPr txBox="1"/>
          <p:nvPr/>
        </p:nvSpPr>
        <p:spPr>
          <a:xfrm>
            <a:off x="8229600" y="14173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6" name="Text 14"/>
          <p:cNvSpPr txBox="1"/>
          <p:nvPr/>
        </p:nvSpPr>
        <p:spPr>
          <a:xfrm>
            <a:off x="8823960" y="1417320"/>
            <a:ext cx="2697480" cy="502920"/>
          </a:xfrm>
          <a:prstGeom prst="rect">
            <a:avLst/>
          </a:prstGeom>
          <a:noFill/>
          <a:ln/>
        </p:spPr>
        <p:txBody>
          <a:bodyPr wrap="square" lIns="635" tIns="635" rIns="635" bIns="635" rtlCol="0" anchor="ctr"/>
          <a:lstStyle/>
          <a:p>
            <a:pPr indent="0" marL="0">
              <a:buNone/>
            </a:pPr>
            <a:r>
              <a:rPr lang="en-US" sz="1600" b="1" dirty="0">
                <a:solidFill>
                  <a:schemeClr val="bg1"/>
                </a:solidFill>
              </a:rPr>
              <a:t>Regime detection</a:t>
            </a:r>
            <a:endParaRPr lang="en-US" sz="1600" dirty="0"/>
          </a:p>
        </p:txBody>
      </p:sp>
      <p:sp>
        <p:nvSpPr>
          <p:cNvPr id="17" name="Text 15"/>
          <p:cNvSpPr txBox="1"/>
          <p:nvPr/>
        </p:nvSpPr>
        <p:spPr>
          <a:xfrm>
            <a:off x="8229600" y="2011680"/>
            <a:ext cx="3291840" cy="1463040"/>
          </a:xfrm>
          <a:prstGeom prst="rect">
            <a:avLst/>
          </a:prstGeom>
          <a:noFill/>
          <a:ln/>
        </p:spPr>
        <p:txBody>
          <a:bodyPr wrap="square" lIns="635" tIns="635" rIns="635" bIns="635" rtlCol="0" anchor="t"/>
          <a:lstStyle/>
          <a:p>
            <a:pPr indent="0" marL="0">
              <a:buNone/>
            </a:pPr>
            <a:r>
              <a:rPr lang="en-US" sz="1400" dirty="0">
                <a:solidFill>
                  <a:schemeClr val="accent6"/>
                </a:solidFill>
              </a:rPr>
              <a:t>Hidden Markov or change-point models to detect volatility spikes and concept drift, replacing the fixed volatility threshold</a:t>
            </a:r>
            <a:endParaRPr lang="en-US" sz="1400" dirty="0"/>
          </a:p>
        </p:txBody>
      </p:sp>
      <p:sp>
        <p:nvSpPr>
          <p:cNvPr id="18" name="future-card-3"/>
          <p:cNvSpPr/>
          <p:nvPr/>
        </p:nvSpPr>
        <p:spPr>
          <a:xfrm>
            <a:off x="457200" y="3749040"/>
            <a:ext cx="3611880" cy="2331720"/>
          </a:xfrm>
          <a:prstGeom prst="roundRect">
            <a:avLst>
              <a:gd name="adj" fmla="val 3137"/>
            </a:avLst>
          </a:prstGeom>
          <a:solidFill>
            <a:srgbClr val="14213A"/>
          </a:solidFill>
          <a:ln w="12700">
            <a:solidFill>
              <a:srgbClr val="24324F"/>
            </a:solidFill>
            <a:prstDash val="solid"/>
          </a:ln>
        </p:spPr>
      </p:sp>
      <p:sp>
        <p:nvSpPr>
          <p:cNvPr id="19" name="future-badge-3"/>
          <p:cNvSpPr/>
          <p:nvPr/>
        </p:nvSpPr>
        <p:spPr>
          <a:xfrm>
            <a:off x="640080" y="3931920"/>
            <a:ext cx="457200" cy="457200"/>
          </a:xfrm>
          <a:prstGeom prst="ellipse">
            <a:avLst/>
          </a:prstGeom>
          <a:solidFill>
            <a:srgbClr val="D9B44A"/>
          </a:solidFill>
          <a:ln w="12700">
            <a:solidFill>
              <a:srgbClr val="D9B44A"/>
            </a:solidFill>
            <a:prstDash val="solid"/>
          </a:ln>
        </p:spPr>
      </p:sp>
      <p:sp>
        <p:nvSpPr>
          <p:cNvPr id="20" name="Text 18"/>
          <p:cNvSpPr txBox="1"/>
          <p:nvPr/>
        </p:nvSpPr>
        <p:spPr>
          <a:xfrm>
            <a:off x="640080" y="39319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21" name="Text 19"/>
          <p:cNvSpPr txBox="1"/>
          <p:nvPr/>
        </p:nvSpPr>
        <p:spPr>
          <a:xfrm>
            <a:off x="1234440" y="3931920"/>
            <a:ext cx="2697480" cy="502920"/>
          </a:xfrm>
          <a:prstGeom prst="rect">
            <a:avLst/>
          </a:prstGeom>
          <a:noFill/>
          <a:ln/>
        </p:spPr>
        <p:txBody>
          <a:bodyPr wrap="square" lIns="635" tIns="635" rIns="635" bIns="635" rtlCol="0" anchor="ctr"/>
          <a:lstStyle/>
          <a:p>
            <a:pPr indent="0" marL="0">
              <a:buNone/>
            </a:pPr>
            <a:r>
              <a:rPr lang="en-US" sz="1600" b="1" dirty="0">
                <a:solidFill>
                  <a:schemeClr val="bg1"/>
                </a:solidFill>
              </a:rPr>
              <a:t>Generative crash scenarios</a:t>
            </a:r>
            <a:endParaRPr lang="en-US" sz="1600" dirty="0"/>
          </a:p>
        </p:txBody>
      </p:sp>
      <p:sp>
        <p:nvSpPr>
          <p:cNvPr id="22" name="Text 20"/>
          <p:cNvSpPr txBox="1"/>
          <p:nvPr/>
        </p:nvSpPr>
        <p:spPr>
          <a:xfrm>
            <a:off x="640080" y="4526280"/>
            <a:ext cx="3291840" cy="1463040"/>
          </a:xfrm>
          <a:prstGeom prst="rect">
            <a:avLst/>
          </a:prstGeom>
          <a:noFill/>
          <a:ln/>
        </p:spPr>
        <p:txBody>
          <a:bodyPr wrap="square" lIns="635" tIns="635" rIns="635" bIns="635" rtlCol="0" anchor="t"/>
          <a:lstStyle/>
          <a:p>
            <a:pPr indent="0" marL="0">
              <a:buNone/>
            </a:pPr>
            <a:r>
              <a:rPr lang="en-US" sz="1400" dirty="0">
                <a:solidFill>
                  <a:schemeClr val="accent6"/>
                </a:solidFill>
              </a:rPr>
              <a:t>TimeGAN or diffusion scenarios to widen the simulator; validate tail fidelity, a known weakness</a:t>
            </a:r>
            <a:endParaRPr lang="en-US" sz="1400" dirty="0"/>
          </a:p>
        </p:txBody>
      </p:sp>
      <p:sp>
        <p:nvSpPr>
          <p:cNvPr id="23" name="future-card-4"/>
          <p:cNvSpPr/>
          <p:nvPr/>
        </p:nvSpPr>
        <p:spPr>
          <a:xfrm>
            <a:off x="4251960" y="3749040"/>
            <a:ext cx="3611880" cy="2331720"/>
          </a:xfrm>
          <a:prstGeom prst="roundRect">
            <a:avLst>
              <a:gd name="adj" fmla="val 3137"/>
            </a:avLst>
          </a:prstGeom>
          <a:solidFill>
            <a:srgbClr val="14213A"/>
          </a:solidFill>
          <a:ln w="12700">
            <a:solidFill>
              <a:srgbClr val="24324F"/>
            </a:solidFill>
            <a:prstDash val="solid"/>
          </a:ln>
        </p:spPr>
      </p:sp>
      <p:sp>
        <p:nvSpPr>
          <p:cNvPr id="24" name="future-badge-4"/>
          <p:cNvSpPr/>
          <p:nvPr/>
        </p:nvSpPr>
        <p:spPr>
          <a:xfrm>
            <a:off x="4434840" y="3931920"/>
            <a:ext cx="457200" cy="457200"/>
          </a:xfrm>
          <a:prstGeom prst="ellipse">
            <a:avLst/>
          </a:prstGeom>
          <a:solidFill>
            <a:srgbClr val="D9B44A"/>
          </a:solidFill>
          <a:ln w="12700">
            <a:solidFill>
              <a:srgbClr val="D9B44A"/>
            </a:solidFill>
            <a:prstDash val="solid"/>
          </a:ln>
        </p:spPr>
      </p:sp>
      <p:sp>
        <p:nvSpPr>
          <p:cNvPr id="25" name="Text 23"/>
          <p:cNvSpPr txBox="1"/>
          <p:nvPr/>
        </p:nvSpPr>
        <p:spPr>
          <a:xfrm>
            <a:off x="4434840" y="39319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26" name="Text 24"/>
          <p:cNvSpPr txBox="1"/>
          <p:nvPr/>
        </p:nvSpPr>
        <p:spPr>
          <a:xfrm>
            <a:off x="5029200" y="3931920"/>
            <a:ext cx="2697480" cy="502920"/>
          </a:xfrm>
          <a:prstGeom prst="rect">
            <a:avLst/>
          </a:prstGeom>
          <a:noFill/>
          <a:ln/>
        </p:spPr>
        <p:txBody>
          <a:bodyPr wrap="square" lIns="635" tIns="635" rIns="635" bIns="635" rtlCol="0" anchor="ctr"/>
          <a:lstStyle/>
          <a:p>
            <a:pPr indent="0" marL="0">
              <a:buNone/>
            </a:pPr>
            <a:r>
              <a:rPr lang="en-US" sz="1600" b="1" dirty="0">
                <a:solidFill>
                  <a:schemeClr val="bg1"/>
                </a:solidFill>
              </a:rPr>
              <a:t>Overfitting-aware validation</a:t>
            </a:r>
            <a:endParaRPr lang="en-US" sz="1600" dirty="0"/>
          </a:p>
        </p:txBody>
      </p:sp>
      <p:sp>
        <p:nvSpPr>
          <p:cNvPr id="27" name="Text 25"/>
          <p:cNvSpPr txBox="1"/>
          <p:nvPr/>
        </p:nvSpPr>
        <p:spPr>
          <a:xfrm>
            <a:off x="4434840" y="4526280"/>
            <a:ext cx="3291840" cy="1463040"/>
          </a:xfrm>
          <a:prstGeom prst="rect">
            <a:avLst/>
          </a:prstGeom>
          <a:noFill/>
          <a:ln/>
        </p:spPr>
        <p:txBody>
          <a:bodyPr wrap="square" lIns="635" tIns="635" rIns="635" bIns="635" rtlCol="0" anchor="t"/>
          <a:lstStyle/>
          <a:p>
            <a:pPr indent="0" marL="0">
              <a:buNone/>
            </a:pPr>
            <a:r>
              <a:rPr lang="en-US" sz="1400" dirty="0">
                <a:solidFill>
                  <a:schemeClr val="accent6"/>
                </a:solidFill>
              </a:rPr>
              <a:t>Combinatorial purged CV and probability of backtest overfitting before any policy is trusted</a:t>
            </a:r>
            <a:endParaRPr lang="en-US" sz="1400" dirty="0"/>
          </a:p>
        </p:txBody>
      </p:sp>
      <p:sp>
        <p:nvSpPr>
          <p:cNvPr id="28" name="future-card-5"/>
          <p:cNvSpPr/>
          <p:nvPr/>
        </p:nvSpPr>
        <p:spPr>
          <a:xfrm>
            <a:off x="8046720" y="3749040"/>
            <a:ext cx="3611880" cy="2331720"/>
          </a:xfrm>
          <a:prstGeom prst="roundRect">
            <a:avLst>
              <a:gd name="adj" fmla="val 3137"/>
            </a:avLst>
          </a:prstGeom>
          <a:solidFill>
            <a:srgbClr val="14213A"/>
          </a:solidFill>
          <a:ln w="12700">
            <a:solidFill>
              <a:srgbClr val="24324F"/>
            </a:solidFill>
            <a:prstDash val="solid"/>
          </a:ln>
        </p:spPr>
      </p:sp>
      <p:sp>
        <p:nvSpPr>
          <p:cNvPr id="29" name="future-badge-5"/>
          <p:cNvSpPr/>
          <p:nvPr/>
        </p:nvSpPr>
        <p:spPr>
          <a:xfrm>
            <a:off x="8229600" y="3931920"/>
            <a:ext cx="457200" cy="457200"/>
          </a:xfrm>
          <a:prstGeom prst="ellipse">
            <a:avLst/>
          </a:prstGeom>
          <a:solidFill>
            <a:srgbClr val="D9B44A"/>
          </a:solidFill>
          <a:ln w="12700">
            <a:solidFill>
              <a:srgbClr val="D9B44A"/>
            </a:solidFill>
            <a:prstDash val="solid"/>
          </a:ln>
        </p:spPr>
      </p:sp>
      <p:sp>
        <p:nvSpPr>
          <p:cNvPr id="30" name="Text 28"/>
          <p:cNvSpPr txBox="1"/>
          <p:nvPr/>
        </p:nvSpPr>
        <p:spPr>
          <a:xfrm>
            <a:off x="8229600" y="39319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6</a:t>
            </a:r>
            <a:endParaRPr lang="en-US" sz="1600" dirty="0"/>
          </a:p>
        </p:txBody>
      </p:sp>
      <p:sp>
        <p:nvSpPr>
          <p:cNvPr id="31" name="Text 29"/>
          <p:cNvSpPr txBox="1"/>
          <p:nvPr/>
        </p:nvSpPr>
        <p:spPr>
          <a:xfrm>
            <a:off x="8823960" y="3931920"/>
            <a:ext cx="2697480" cy="502920"/>
          </a:xfrm>
          <a:prstGeom prst="rect">
            <a:avLst/>
          </a:prstGeom>
          <a:noFill/>
          <a:ln/>
        </p:spPr>
        <p:txBody>
          <a:bodyPr wrap="square" lIns="635" tIns="635" rIns="635" bIns="635" rtlCol="0" anchor="ctr"/>
          <a:lstStyle/>
          <a:p>
            <a:pPr indent="0" marL="0">
              <a:buNone/>
            </a:pPr>
            <a:r>
              <a:rPr lang="en-US" sz="1600" b="1" dirty="0">
                <a:solidFill>
                  <a:schemeClr val="bg1"/>
                </a:solidFill>
              </a:rPr>
              <a:t>Autocorrelation-aware smoothing</a:t>
            </a:r>
            <a:endParaRPr lang="en-US" sz="1600" dirty="0"/>
          </a:p>
        </p:txBody>
      </p:sp>
      <p:sp>
        <p:nvSpPr>
          <p:cNvPr id="32" name="Text 30"/>
          <p:cNvSpPr txBox="1"/>
          <p:nvPr/>
        </p:nvSpPr>
        <p:spPr>
          <a:xfrm>
            <a:off x="8229600" y="4526280"/>
            <a:ext cx="3291840" cy="1463040"/>
          </a:xfrm>
          <a:prstGeom prst="rect">
            <a:avLst/>
          </a:prstGeom>
          <a:noFill/>
          <a:ln/>
        </p:spPr>
        <p:txBody>
          <a:bodyPr wrap="square" lIns="635" tIns="635" rIns="635" bIns="635" rtlCol="0" anchor="t"/>
          <a:lstStyle/>
          <a:p>
            <a:pPr indent="0" marL="0">
              <a:buNone/>
            </a:pPr>
            <a:r>
              <a:rPr lang="en-US" sz="1400" dirty="0">
                <a:solidFill>
                  <a:schemeClr val="accent6"/>
                </a:solidFill>
              </a:rPr>
              <a:t>Smooth only when recent return autocorrelation (rows ≤ t) is positive: the v4 lesson</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31520"/>
          </a:xfrm>
          <a:prstGeom prst="rect">
            <a:avLst/>
          </a:prstGeom>
          <a:noFill/>
          <a:ln/>
        </p:spPr>
        <p:txBody>
          <a:bodyPr wrap="square" rtlCol="0" anchor="ctr"/>
          <a:lstStyle/>
          <a:p>
            <a:pPr indent="0" marL="0">
              <a:buNone/>
            </a:pPr>
            <a:r>
              <a:rPr lang="en-US" sz="3200" b="1" dirty="0">
                <a:solidFill>
                  <a:schemeClr val="bg1"/>
                </a:solidFill>
              </a:rPr>
              <a:t>Appendix: reproducibility and sources</a:t>
            </a:r>
            <a:endParaRPr lang="en-US" sz="3200" dirty="0"/>
          </a:p>
        </p:txBody>
      </p:sp>
      <p:sp>
        <p:nvSpPr>
          <p:cNvPr id="3" name="Text 1"/>
          <p:cNvSpPr txBox="1"/>
          <p:nvPr/>
        </p:nvSpPr>
        <p:spPr>
          <a:xfrm>
            <a:off x="457200" y="1234440"/>
            <a:ext cx="11247120" cy="2194560"/>
          </a:xfrm>
          <a:prstGeom prst="rect">
            <a:avLst/>
          </a:prstGeom>
          <a:noFill/>
          <a:ln/>
        </p:spPr>
        <p:txBody>
          <a:bodyPr wrap="square" lIns="635" tIns="635" rIns="635" bIns="635" rtlCol="0" anchor="t"/>
          <a:lstStyle/>
          <a:p>
            <a:pPr indent="0" marL="0">
              <a:spcAft>
                <a:spcPts val="400"/>
              </a:spcAft>
              <a:buNone/>
            </a:pPr>
            <a:r>
              <a:rPr lang="en-US" sz="1400" b="1" dirty="0">
                <a:solidFill>
                  <a:schemeClr val="accent3"/>
                </a:solidFill>
              </a:rPr>
              <a:t>Reproduce</a:t>
            </a:r>
            <a:endParaRPr lang="en-US" sz="1400" dirty="0"/>
          </a:p>
          <a:p>
            <a:pPr marL="342900" indent="-342900">
              <a:spcAft>
                <a:spcPts val="400"/>
              </a:spcAft>
              <a:buSzPct val="100000"/>
              <a:buChar char="•"/>
            </a:pPr>
            <a:r>
              <a:rPr lang="en-US" sz="1400" dirty="0">
                <a:solidFill>
                  <a:schemeClr val="bg1"/>
                </a:solidFill>
              </a:rPr>
              <a:t>python -m src.run_round3 --lstm   (v3 submission, byte-identical rerun)</a:t>
            </a:r>
            <a:endParaRPr lang="en-US" sz="1400" dirty="0"/>
          </a:p>
          <a:p>
            <a:pPr marL="342900" indent="-342900">
              <a:spcAft>
                <a:spcPts val="400"/>
              </a:spcAft>
              <a:buSzPct val="100000"/>
              <a:buChar char="•"/>
            </a:pPr>
            <a:r>
              <a:rPr lang="en-US" sz="1400" dirty="0">
                <a:solidFill>
                  <a:schemeClr val="bg1"/>
                </a:solidFill>
              </a:rPr>
              <a:t>python -m src.run_round2   ·   python -m src.postmortem_round3</a:t>
            </a:r>
            <a:endParaRPr lang="en-US" sz="1400" dirty="0"/>
          </a:p>
          <a:p>
            <a:pPr marL="342900" indent="-342900">
              <a:spcAft>
                <a:spcPts val="400"/>
              </a:spcAft>
              <a:buSzPct val="100000"/>
              <a:buChar char="•"/>
            </a:pPr>
            <a:r>
              <a:rPr lang="en-US" sz="1400" dirty="0">
                <a:solidFill>
                  <a:schemeClr val="bg1"/>
                </a:solidFill>
              </a:rPr>
              <a:t>76 automated leakage and correctness tests run before every experiment</a:t>
            </a:r>
            <a:endParaRPr lang="en-US" sz="1400" dirty="0"/>
          </a:p>
          <a:p>
            <a:pPr marL="342900" indent="-342900">
              <a:spcAft>
                <a:spcPts val="400"/>
              </a:spcAft>
              <a:buSzPct val="100000"/>
              <a:buChar char="•"/>
            </a:pPr>
            <a:r>
              <a:rPr lang="en-US" sz="1400" dirty="0">
                <a:solidFill>
                  <a:schemeClr val="bg1"/>
                </a:solidFill>
              </a:rPr>
              <a:t>Pinned requirements-lock.txt; deterministic CPU PyTorch; dataset, manifest, simulator and submission hashes recorded</a:t>
            </a:r>
            <a:endParaRPr lang="en-US" sz="1400" dirty="0"/>
          </a:p>
        </p:txBody>
      </p:sp>
      <p:sp>
        <p:nvSpPr>
          <p:cNvPr id="4" name="sources-card"/>
          <p:cNvSpPr/>
          <p:nvPr/>
        </p:nvSpPr>
        <p:spPr>
          <a:xfrm>
            <a:off x="457200" y="3611880"/>
            <a:ext cx="11247120" cy="2606040"/>
          </a:xfrm>
          <a:prstGeom prst="roundRect">
            <a:avLst>
              <a:gd name="adj" fmla="val 2807"/>
            </a:avLst>
          </a:prstGeom>
          <a:solidFill>
            <a:srgbClr val="14213A"/>
          </a:solidFill>
          <a:ln w="12700">
            <a:solidFill>
              <a:srgbClr val="24324F"/>
            </a:solidFill>
            <a:prstDash val="solid"/>
          </a:ln>
        </p:spPr>
      </p:sp>
      <p:sp>
        <p:nvSpPr>
          <p:cNvPr id="5" name="Text 3"/>
          <p:cNvSpPr txBox="1"/>
          <p:nvPr/>
        </p:nvSpPr>
        <p:spPr>
          <a:xfrm>
            <a:off x="685800" y="3749040"/>
            <a:ext cx="10789920" cy="2377440"/>
          </a:xfrm>
          <a:prstGeom prst="rect">
            <a:avLst/>
          </a:prstGeom>
          <a:noFill/>
          <a:ln/>
        </p:spPr>
        <p:txBody>
          <a:bodyPr wrap="square" lIns="635" tIns="635" rIns="635" bIns="635" rtlCol="0" anchor="t"/>
          <a:lstStyle/>
          <a:p>
            <a:pPr indent="0" marL="0">
              <a:spcAft>
                <a:spcPts val="200"/>
              </a:spcAft>
              <a:buNone/>
            </a:pPr>
            <a:r>
              <a:rPr lang="en-US" sz="1200" b="1" dirty="0">
                <a:solidFill>
                  <a:schemeClr val="accent3"/>
                </a:solidFill>
              </a:rPr>
              <a:t>Future-scope sources (web search; no Reddit threads surfaced)</a:t>
            </a:r>
            <a:endParaRPr lang="en-US" sz="1200" dirty="0"/>
          </a:p>
          <a:p>
            <a:pPr marL="342900" indent="-342900">
              <a:spcAft>
                <a:spcPts val="200"/>
              </a:spcAft>
              <a:buSzPct val="100000"/>
              <a:buChar char="•"/>
            </a:pPr>
            <a:r>
              <a:rPr lang="en-US" sz="1200" dirty="0">
                <a:solidFill>
                  <a:schemeClr val="accent6"/>
                </a:solidFill>
              </a:rPr>
              <a:t>Gort et al. 2022, DRL backtest overfitting: arxiv.org/abs/2209.05559</a:t>
            </a:r>
            <a:endParaRPr lang="en-US" sz="1200" dirty="0"/>
          </a:p>
          <a:p>
            <a:pPr marL="342900" indent="-342900">
              <a:spcAft>
                <a:spcPts val="200"/>
              </a:spcAft>
              <a:buSzPct val="100000"/>
              <a:buChar char="•"/>
            </a:pPr>
            <a:r>
              <a:rPr lang="en-US" sz="1200" dirty="0">
                <a:solidFill>
                  <a:schemeClr val="accent6"/>
                </a:solidFill>
              </a:rPr>
              <a:t>Regime-conditioned diffusion, CVaR portfolios (MARCD): arxiv.org/pdf/2510.10807</a:t>
            </a:r>
            <a:endParaRPr lang="en-US" sz="1200" dirty="0"/>
          </a:p>
          <a:p>
            <a:pPr marL="342900" indent="-342900">
              <a:spcAft>
                <a:spcPts val="200"/>
              </a:spcAft>
              <a:buSzPct val="100000"/>
              <a:buChar char="•"/>
            </a:pPr>
            <a:r>
              <a:rPr lang="en-US" sz="1200" dirty="0">
                <a:solidFill>
                  <a:schemeClr val="accent6"/>
                </a:solidFill>
              </a:rPr>
              <a:t>Tail risk under jump-diffusion, CVaR: arxiv.org/abs/2607.00883</a:t>
            </a:r>
            <a:endParaRPr lang="en-US" sz="1200" dirty="0"/>
          </a:p>
          <a:p>
            <a:pPr marL="342900" indent="-342900">
              <a:spcAft>
                <a:spcPts val="200"/>
              </a:spcAft>
              <a:buSzPct val="100000"/>
              <a:buChar char="•"/>
            </a:pPr>
            <a:r>
              <a:rPr lang="en-US" sz="1200" dirty="0">
                <a:solidFill>
                  <a:schemeClr val="accent6"/>
                </a:solidFill>
              </a:rPr>
              <a:t>Generative synthetic financial data (TimeGAN, VAE): arxiv.org/abs/2512.21798</a:t>
            </a:r>
            <a:endParaRPr lang="en-US" sz="1200" dirty="0"/>
          </a:p>
          <a:p>
            <a:pPr marL="342900" indent="-342900">
              <a:spcAft>
                <a:spcPts val="200"/>
              </a:spcAft>
              <a:buSzPct val="100000"/>
              <a:buChar char="•"/>
            </a:pPr>
            <a:r>
              <a:rPr lang="en-US" sz="1200" dirty="0">
                <a:solidFill>
                  <a:schemeClr val="accent6"/>
                </a:solidFill>
              </a:rPr>
              <a:t>HMM regime-adaptive trading: blog.quantinsti.com/regime-adaptive-trading-python</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KESTREL Portfolio">
  <a:themeElements>
    <a:clrScheme name="KESTREL Portfolio">
      <a:dk1>
        <a:srgbClr val="0A1222"/>
      </a:dk1>
      <a:lt1>
        <a:srgbClr val="FFFFFF"/>
      </a:lt1>
      <a:dk2>
        <a:srgbClr val="14213A"/>
      </a:dk2>
      <a:lt2>
        <a:srgbClr val="DCE4F0"/>
      </a:lt2>
      <a:accent1>
        <a:srgbClr val="21C17A"/>
      </a:accent1>
      <a:accent2>
        <a:srgbClr val="EF4B4B"/>
      </a:accent2>
      <a:accent3>
        <a:srgbClr val="D9B44A"/>
      </a:accent3>
      <a:accent4>
        <a:srgbClr val="6B7A99"/>
      </a:accent4>
      <a:accent5>
        <a:srgbClr val="8FB3E8"/>
      </a:accent5>
      <a:accent6>
        <a:srgbClr val="A9B6CC"/>
      </a:accent6>
      <a:hlink>
        <a:srgbClr val="D9B44A"/>
      </a:hlink>
      <a:folHlink>
        <a:srgbClr val="8FB3E8"/>
      </a:folHlink>
    </a:clrScheme>
    <a:fontScheme name="KESTREL Portfoli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KESTREL: Crash-Aware Trading Signal Engine</dc:title>
  <dc:subject>PptxGenJS Presentation</dc:subject>
  <dc:creator>BigShort Winners</dc:creator>
  <cp:lastModifiedBy>BigShort Winners</cp:lastModifiedBy>
  <cp:revision>1</cp:revision>
  <dcterms:created xsi:type="dcterms:W3CDTF">2026-10-16T10:11:09Z</dcterms:created>
  <dcterms:modified xsi:type="dcterms:W3CDTF">2026-10-16T10:11:09Z</dcterms:modified>
</cp:coreProperties>
</file>