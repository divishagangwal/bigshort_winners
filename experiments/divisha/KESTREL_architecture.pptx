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4dd2468e-426f-a026-482f-cc03afe6b385}">
          <p14:sldIdLst>
            <p14:sldId id="256"/>
            <p14:sldId id="257"/>
          </p14:sldIdLst>
        </p14:section>
        <p14:section name="Rubric" id="{24bb044e-d2e4-f05e-5013-c21b890a6d2d}">
          <p14:sldIdLst>
            <p14:sldId id="258"/>
            <p14:sldId id="259"/>
            <p14:sldId id="260"/>
            <p14:sldId id="261"/>
            <p14:sldId id="262"/>
            <p14:sldId id="263"/>
            <p14:sldId id="264"/>
          </p14:sldIdLst>
        </p14:section>
        <p14:section name="Future" id="{1bb64710-6423-cbaa-f6a8-07c86ca510e9}">
          <p14:sldIdLst>
            <p14:sldId id="265"/>
          </p14:sldIdLst>
        </p14:section>
        <p14:section name="Appendix" id="{43367eab-e51b-c362-7169-2efb332d4430}">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B44"/>
                </a:solidFill>
                <a:latin typeface="+mn-lt"/>
              </a:defRPr>
            </a:pPr>
            <a:r>
              <a:rPr sz="1300" b="0" i="0" u="none" strike="noStrike">
                <a:solidFill>
                  <a:srgbClr val="1F2B44"/>
                </a:solidFill>
                <a:latin typeface="+mn-lt"/>
              </a:rPr>
              <a:t>Feature importance (final model, |std. coefficient|)</a:t>
            </a:r>
          </a:p>
        </c:rich>
      </c:tx>
      <c:layout/>
      <c:overlay val="0"/>
    </c:title>
    <c:autoTitleDeleted val="0"/>
    <c:plotArea>
      <c:layout/>
      <c:barChart>
        <c:barDir val="bar"/>
        <c:grouping val="clustered"/>
        <c:varyColors val="0"/>
        <c:ser>
          <c:idx val="0"/>
          <c:order val="0"/>
          <c:tx>
            <c:strRef>
              <c:f>Sheet1!$B$1</c:f>
              <c:strCache>
                <c:ptCount val="1"/>
                <c:pt idx="0">
                  <c:v>|standardised coefficient|</c:v>
                </c:pt>
              </c:strCache>
            </c:strRef>
          </c:tx>
          <c:spPr>
            <a:solidFill>
              <a:srgbClr val="0E9F9A"/>
            </a:solidFill>
            <a:effectLst/>
          </c:spPr>
          <c:invertIfNegative val="0"/>
          <c:dLbls>
            <c:numFmt formatCode="0.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cat>
            <c:multiLvlStrRef>
              <c:f>Sheet1!$A$2:$A$11</c:f>
              <c:multiLvlStrCache>
                <c:ptCount val="10"/>
                <c:lvl>
                  <c:pt idx="0">
                    <c:v>momentum, 5-day</c:v>
                  </c:pt>
                  <c:pt idx="1">
                    <c:v>volume z, lag 2</c:v>
                  </c:pt>
                  <c:pt idx="2">
                    <c:v>1-day return</c:v>
                  </c:pt>
                  <c:pt idx="3">
                    <c:v>SMA10/SMA30</c:v>
                  </c:pt>
                  <c:pt idx="4">
                    <c:v>order flow, lag 2</c:v>
                  </c:pt>
                  <c:pt idx="5">
                    <c:v>SMA10/SMA30 ÷ σ</c:v>
                  </c:pt>
                  <c:pt idx="6">
                    <c:v>1-day return ÷ σ</c:v>
                  </c:pt>
                  <c:pt idx="7">
                    <c:v>RSI-14</c:v>
                  </c:pt>
                  <c:pt idx="8">
                    <c:v>momentum ÷ σ√5</c:v>
                  </c:pt>
                  <c:pt idx="9">
                    <c:v>open/SMA10 ÷ σ</c:v>
                  </c:pt>
                </c:lvl>
              </c:multiLvlStrCache>
            </c:multiLvlStrRef>
          </c:cat>
          <c:val>
            <c:numRef>
              <c:f>Sheet1!$B$2:$B$11</c:f>
              <c:numCache>
                <c:formatCode>General</c:formatCode>
                <c:ptCount val="10"/>
                <c:pt idx="0">
                  <c:v>0.07</c:v>
                </c:pt>
                <c:pt idx="1">
                  <c:v>0.087</c:v>
                </c:pt>
                <c:pt idx="2">
                  <c:v>0.099</c:v>
                </c:pt>
                <c:pt idx="3">
                  <c:v>0.112</c:v>
                </c:pt>
                <c:pt idx="4">
                  <c:v>0.117</c:v>
                </c:pt>
                <c:pt idx="5">
                  <c:v>0.168</c:v>
                </c:pt>
                <c:pt idx="6">
                  <c:v>0.189</c:v>
                </c:pt>
                <c:pt idx="7">
                  <c:v>0.256</c:v>
                </c:pt>
                <c:pt idx="8">
                  <c:v>0.338</c:v>
                </c:pt>
                <c:pt idx="9">
                  <c:v>0.578</c:v>
                </c:pt>
              </c:numCache>
            </c:numRef>
          </c:val>
        </c:ser>
        <c:dLbls>
          <c:numFmt formatCode="0.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B44"/>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D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B44"/>
                </a:solidFill>
                <a:latin typeface="+mn-lt"/>
              </a:defRPr>
            </a:pPr>
            <a:r>
              <a:rPr sz="1300" b="0" i="0" u="none" strike="noStrike">
                <a:solidFill>
                  <a:srgbClr val="1F2B44"/>
                </a:solidFill>
                <a:latin typeface="+mn-lt"/>
              </a:rPr>
              <a:t>Round 2 log loss (lower is better)</a:t>
            </a:r>
          </a:p>
        </c:rich>
      </c:tx>
      <c:layout/>
      <c:overlay val="0"/>
    </c:title>
    <c:autoTitleDeleted val="0"/>
    <c:plotArea>
      <c:layout/>
      <c:barChart>
        <c:barDir val="col"/>
        <c:grouping val="clustered"/>
        <c:varyColors val="0"/>
        <c:ser>
          <c:idx val="0"/>
          <c:order val="0"/>
          <c:tx>
            <c:strRef>
              <c:f>Sheet1!$B$1</c:f>
              <c:strCache>
                <c:ptCount val="1"/>
                <c:pt idx="0">
                  <c:v>Real validation</c:v>
                </c:pt>
              </c:strCache>
            </c:strRef>
          </c:tx>
          <c:spPr>
            <a:solidFill>
              <a:srgbClr val="9DB4D3"/>
            </a:solidFill>
            <a:effectLst/>
          </c:spPr>
          <c:invertIfNegative val="0"/>
          <c:dLbls>
            <c:numFmt formatCode="0.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cat>
            <c:multiLvlStrRef>
              <c:f>Sheet1!$A$2:$A$6</c:f>
              <c:multiLvlStrCache>
                <c:ptCount val="5"/>
                <c:lvl>
                  <c:pt idx="0">
                    <c:v>LR standard</c:v>
                  </c:pt>
                  <c:pt idx="1">
                    <c:v>LR + MC</c:v>
                  </c:pt>
                  <c:pt idx="2">
                    <c:v>LR MC+worst</c:v>
                  </c:pt>
                  <c:pt idx="3">
                    <c:v>LSTM standard</c:v>
                  </c:pt>
                  <c:pt idx="4">
                    <c:v>LSTM MC+worst</c:v>
                  </c:pt>
                </c:lvl>
              </c:multiLvlStrCache>
            </c:multiLvlStrRef>
          </c:cat>
          <c:val>
            <c:numRef>
              <c:f>Sheet1!$B$2:$B$6</c:f>
              <c:numCache>
                <c:formatCode>General</c:formatCode>
                <c:ptCount val="5"/>
                <c:pt idx="0">
                  <c:v>0.7136</c:v>
                </c:pt>
                <c:pt idx="1">
                  <c:v>0.7087</c:v>
                </c:pt>
                <c:pt idx="2">
                  <c:v>0.6998</c:v>
                </c:pt>
                <c:pt idx="3">
                  <c:v>0.7592</c:v>
                </c:pt>
                <c:pt idx="4">
                  <c:v>0.6994</c:v>
                </c:pt>
              </c:numCache>
            </c:numRef>
          </c:val>
        </c:ser>
        <c:ser>
          <c:idx val="1"/>
          <c:order val="1"/>
          <c:tx>
            <c:strRef>
              <c:f>Sheet1!$C$1</c:f>
              <c:strCache>
                <c:ptCount val="1"/>
                <c:pt idx="0">
                  <c:v>Simulated crash (synthetic)</c:v>
                </c:pt>
              </c:strCache>
            </c:strRef>
          </c:tx>
          <c:spPr>
            <a:solidFill>
              <a:srgbClr val="E4572E"/>
            </a:solidFill>
            <a:effectLst/>
          </c:spPr>
          <c:invertIfNegative val="0"/>
          <c:dLbls>
            <c:numFmt formatCode="0.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cat>
            <c:multiLvlStrRef>
              <c:f>Sheet1!$A$2:$A$6</c:f>
              <c:multiLvlStrCache>
                <c:ptCount val="5"/>
                <c:lvl>
                  <c:pt idx="0">
                    <c:v>LR standard</c:v>
                  </c:pt>
                  <c:pt idx="1">
                    <c:v>LR + MC</c:v>
                  </c:pt>
                  <c:pt idx="2">
                    <c:v>LR MC+worst</c:v>
                  </c:pt>
                  <c:pt idx="3">
                    <c:v>LSTM standard</c:v>
                  </c:pt>
                  <c:pt idx="4">
                    <c:v>LSTM MC+worst</c:v>
                  </c:pt>
                </c:lvl>
              </c:multiLvlStrCache>
            </c:multiLvlStrRef>
          </c:cat>
          <c:val>
            <c:numRef>
              <c:f>Sheet1!$C$2:$C$6</c:f>
              <c:numCache>
                <c:formatCode>General</c:formatCode>
                <c:ptCount val="5"/>
                <c:pt idx="0">
                  <c:v>1.221</c:v>
                </c:pt>
                <c:pt idx="1">
                  <c:v>0.704</c:v>
                </c:pt>
                <c:pt idx="2">
                  <c:v>0.694</c:v>
                </c:pt>
                <c:pt idx="3">
                  <c:v>0.707</c:v>
                </c:pt>
                <c:pt idx="4">
                  <c:v>0.691</c:v>
                </c:pt>
              </c:numCache>
            </c:numRef>
          </c:val>
        </c:ser>
        <c:dLbls>
          <c:numFmt formatCode="0.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B44"/>
                </a:solidFill>
                <a:latin typeface="+mn-lt"/>
              </a:defRPr>
            </a:pPr>
            <a:endParaRPr lang="en-US"/>
          </a:p>
        </c:txPr>
        <c:crossAx val="2094734552"/>
        <c:crosses val="autoZero"/>
        <c:auto val="1"/>
        <c:lblAlgn val="ctr"/>
        <c:noMultiLvlLbl val="1"/>
      </c:catAx>
      <c:valAx>
        <c:axId val="2094734552"/>
        <c:scaling>
          <c:orientation val="minMax"/>
          <c:max val="1.3"/>
          <c:min val="0.6"/>
        </c:scaling>
        <c:delete val="0"/>
        <c:axPos val="l"/>
        <c:majorGridlines>
          <c:spPr>
            <a:ln w="6350" cap="flat">
              <a:solidFill>
                <a:srgbClr val="DDE3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C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B44"/>
                </a:solidFill>
                <a:latin typeface="+mn-lt"/>
              </a:defRPr>
            </a:pPr>
            <a:r>
              <a:rPr sz="1300" b="0" i="0" u="none" strike="noStrike">
                <a:solidFill>
                  <a:srgbClr val="1F2B44"/>
                </a:solidFill>
                <a:latin typeface="+mn-lt"/>
              </a:rPr>
              <a:t>Policy backtest, net of 10 bps (8 real blocks, 1,600 crash paths)</a:t>
            </a:r>
          </a:p>
        </c:rich>
      </c:tx>
      <c:layout/>
      <c:overlay val="0"/>
    </c:title>
    <c:autoTitleDeleted val="0"/>
    <c:plotArea>
      <c:layout/>
      <c:barChart>
        <c:barDir val="col"/>
        <c:grouping val="clustered"/>
        <c:varyColors val="0"/>
        <c:ser>
          <c:idx val="0"/>
          <c:order val="0"/>
          <c:tx>
            <c:strRef>
              <c:f>Sheet1!$B$1</c:f>
              <c:strCache>
                <c:ptCount val="1"/>
                <c:pt idx="0">
                  <c:v>Real walk-forward Sharpe</c:v>
                </c:pt>
              </c:strCache>
            </c:strRef>
          </c:tx>
          <c:spPr>
            <a:solidFill>
              <a:srgbClr val="1F2B44"/>
            </a:solidFill>
            <a:effectLst/>
          </c:spPr>
          <c:invertIfNegative val="0"/>
          <c:dLbls>
            <c:numFmt formatCode="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cat>
            <c:multiLvlStrRef>
              <c:f>Sheet1!$A$2:$A$7</c:f>
              <c:multiLvlStrCache>
                <c:ptCount val="6"/>
                <c:lvl>
                  <c:pt idx="0">
                    <c:v>Full long</c:v>
                  </c:pt>
                  <c:pt idx="1">
                    <c:v>Vol-scaled long</c:v>
                  </c:pt>
                  <c:pt idx="2">
                    <c:v>Blend</c:v>
                  </c:pt>
                  <c:pt idx="3">
                    <c:v>Model only</c:v>
                  </c:pt>
                  <c:pt idx="4">
                    <c:v>Trend</c:v>
                  </c:pt>
                  <c:pt idx="5">
                    <c:v>Regime switch ✓</c:v>
                  </c:pt>
                </c:lvl>
              </c:multiLvlStrCache>
            </c:multiLvlStrRef>
          </c:cat>
          <c:val>
            <c:numRef>
              <c:f>Sheet1!$B$2:$B$7</c:f>
              <c:numCache>
                <c:formatCode>General</c:formatCode>
                <c:ptCount val="6"/>
                <c:pt idx="0">
                  <c:v>1.05</c:v>
                </c:pt>
                <c:pt idx="1">
                  <c:v>0.94</c:v>
                </c:pt>
                <c:pt idx="2">
                  <c:v>0.27</c:v>
                </c:pt>
                <c:pt idx="3">
                  <c:v>-0.7</c:v>
                </c:pt>
                <c:pt idx="4">
                  <c:v>-0.66</c:v>
                </c:pt>
                <c:pt idx="5">
                  <c:v>0.27</c:v>
                </c:pt>
              </c:numCache>
            </c:numRef>
          </c:val>
        </c:ser>
        <c:ser>
          <c:idx val="1"/>
          <c:order val="1"/>
          <c:tx>
            <c:strRef>
              <c:f>Sheet1!$C$1</c:f>
              <c:strCache>
                <c:ptCount val="1"/>
                <c:pt idx="0">
                  <c:v>MC crash Sharpe</c:v>
                </c:pt>
              </c:strCache>
            </c:strRef>
          </c:tx>
          <c:spPr>
            <a:solidFill>
              <a:srgbClr val="0E9F9A"/>
            </a:solidFill>
            <a:effectLst/>
          </c:spPr>
          <c:invertIfNegative val="0"/>
          <c:dLbls>
            <c:numFmt formatCode="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cat>
            <c:multiLvlStrRef>
              <c:f>Sheet1!$A$2:$A$7</c:f>
              <c:multiLvlStrCache>
                <c:ptCount val="6"/>
                <c:lvl>
                  <c:pt idx="0">
                    <c:v>Full long</c:v>
                  </c:pt>
                  <c:pt idx="1">
                    <c:v>Vol-scaled long</c:v>
                  </c:pt>
                  <c:pt idx="2">
                    <c:v>Blend</c:v>
                  </c:pt>
                  <c:pt idx="3">
                    <c:v>Model only</c:v>
                  </c:pt>
                  <c:pt idx="4">
                    <c:v>Trend</c:v>
                  </c:pt>
                  <c:pt idx="5">
                    <c:v>Regime switch ✓</c:v>
                  </c:pt>
                </c:lvl>
              </c:multiLvlStrCache>
            </c:multiLvlStrRef>
          </c:cat>
          <c:val>
            <c:numRef>
              <c:f>Sheet1!$C$2:$C$7</c:f>
              <c:numCache>
                <c:formatCode>General</c:formatCode>
                <c:ptCount val="6"/>
                <c:pt idx="0">
                  <c:v>-0.69</c:v>
                </c:pt>
                <c:pt idx="1">
                  <c:v>-0.64</c:v>
                </c:pt>
                <c:pt idx="2">
                  <c:v>-0.15</c:v>
                </c:pt>
                <c:pt idx="3">
                  <c:v>0.72</c:v>
                </c:pt>
                <c:pt idx="4">
                  <c:v>-1.1</c:v>
                </c:pt>
                <c:pt idx="5">
                  <c:v>0.73</c:v>
                </c:pt>
              </c:numCache>
            </c:numRef>
          </c:val>
        </c:ser>
        <c:dLbls>
          <c:numFmt formatCode="0.0" sourceLinked="0"/>
          <c:txPr>
            <a:bodyPr/>
            <a:lstStyle/>
            <a:p>
              <a:pPr>
                <a:defRPr b="0" i="0" strike="noStrike" sz="1100" u="none">
                  <a:solidFill>
                    <a:srgbClr val="1F2B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B4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3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C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B44"/>
                </a:solidFill>
                <a:latin typeface="+mn-lt"/>
              </a:defRPr>
            </a:pPr>
            <a:r>
              <a:rPr sz="1300" b="0" i="0" u="none" strike="noStrike">
                <a:solidFill>
                  <a:srgbClr val="1F2B44"/>
                </a:solidFill>
                <a:latin typeface="+mn-lt"/>
              </a:rPr>
              <a:t>Cumulative return, days 852–900 (%), net of 10 bps</a:t>
            </a:r>
          </a:p>
        </c:rich>
      </c:tx>
      <c:layout/>
      <c:overlay val="0"/>
    </c:title>
    <c:autoTitleDeleted val="0"/>
    <c:plotArea>
      <c:layout/>
      <c:lineChart>
        <c:varyColors val="0"/>
        <c:ser>
          <c:idx val="0"/>
          <c:order val="0"/>
          <c:tx>
            <c:strRef>
              <c:f>Sheet1!$B$1</c:f>
              <c:strCache>
                <c:ptCount val="1"/>
                <c:pt idx="0">
                  <c:v>v3 (53.0)</c:v>
                </c:pt>
              </c:strCache>
            </c:strRef>
          </c:tx>
          <c:spPr>
            <a:solidFill>
              <a:srgbClr val="0E9F9A"/>
            </a:solidFill>
            <a:ln w="25400" cap="flat">
              <a:solidFill>
                <a:srgbClr val="0E9F9A"/>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E9F9A"/>
              </a:solidFill>
              <a:ln w="9525" cap="flat">
                <a:solidFill>
                  <a:srgbClr val="0E9F9A"/>
                </a:solidFill>
                <a:prstDash val="solid"/>
                <a:round/>
              </a:ln>
              <a:effectLst/>
            </c:spPr>
          </c:marker>
          <c:cat>
            <c:multiLvlStrRef>
              <c:f>Sheet1!$A$2:$A$50</c:f>
              <c:multiLvlStrCache>
                <c:ptCount val="49"/>
                <c:lvl>
                  <c:pt idx="0">
                    <c:v>852</c:v>
                  </c:pt>
                  <c:pt idx="1">
                    <c:v>853</c:v>
                  </c:pt>
                  <c:pt idx="2">
                    <c:v>854</c:v>
                  </c:pt>
                  <c:pt idx="3">
                    <c:v>855</c:v>
                  </c:pt>
                  <c:pt idx="4">
                    <c:v>856</c:v>
                  </c:pt>
                  <c:pt idx="5">
                    <c:v>857</c:v>
                  </c:pt>
                  <c:pt idx="6">
                    <c:v>858</c:v>
                  </c:pt>
                  <c:pt idx="7">
                    <c:v>859</c:v>
                  </c:pt>
                  <c:pt idx="8">
                    <c:v>860</c:v>
                  </c:pt>
                  <c:pt idx="9">
                    <c:v>861</c:v>
                  </c:pt>
                  <c:pt idx="10">
                    <c:v>862</c:v>
                  </c:pt>
                  <c:pt idx="11">
                    <c:v>863</c:v>
                  </c:pt>
                  <c:pt idx="12">
                    <c:v>864</c:v>
                  </c:pt>
                  <c:pt idx="13">
                    <c:v>865</c:v>
                  </c:pt>
                  <c:pt idx="14">
                    <c:v>866</c:v>
                  </c:pt>
                  <c:pt idx="15">
                    <c:v>867</c:v>
                  </c:pt>
                  <c:pt idx="16">
                    <c:v>868</c:v>
                  </c:pt>
                  <c:pt idx="17">
                    <c:v>869</c:v>
                  </c:pt>
                  <c:pt idx="18">
                    <c:v>870</c:v>
                  </c:pt>
                  <c:pt idx="19">
                    <c:v>871</c:v>
                  </c:pt>
                  <c:pt idx="20">
                    <c:v>872</c:v>
                  </c:pt>
                  <c:pt idx="21">
                    <c:v>873</c:v>
                  </c:pt>
                  <c:pt idx="22">
                    <c:v>874</c:v>
                  </c:pt>
                  <c:pt idx="23">
                    <c:v>875</c:v>
                  </c:pt>
                  <c:pt idx="24">
                    <c:v>876</c:v>
                  </c:pt>
                  <c:pt idx="25">
                    <c:v>877</c:v>
                  </c:pt>
                  <c:pt idx="26">
                    <c:v>878</c:v>
                  </c:pt>
                  <c:pt idx="27">
                    <c:v>879</c:v>
                  </c:pt>
                  <c:pt idx="28">
                    <c:v>880</c:v>
                  </c:pt>
                  <c:pt idx="29">
                    <c:v>881</c:v>
                  </c:pt>
                  <c:pt idx="30">
                    <c:v>882</c:v>
                  </c:pt>
                  <c:pt idx="31">
                    <c:v>883</c:v>
                  </c:pt>
                  <c:pt idx="32">
                    <c:v>884</c:v>
                  </c:pt>
                  <c:pt idx="33">
                    <c:v>885</c:v>
                  </c:pt>
                  <c:pt idx="34">
                    <c:v>886</c:v>
                  </c:pt>
                  <c:pt idx="35">
                    <c:v>887</c:v>
                  </c:pt>
                  <c:pt idx="36">
                    <c:v>888</c:v>
                  </c:pt>
                  <c:pt idx="37">
                    <c:v>889</c:v>
                  </c:pt>
                  <c:pt idx="38">
                    <c:v>890</c:v>
                  </c:pt>
                  <c:pt idx="39">
                    <c:v>891</c:v>
                  </c:pt>
                  <c:pt idx="40">
                    <c:v>892</c:v>
                  </c:pt>
                  <c:pt idx="41">
                    <c:v>893</c:v>
                  </c:pt>
                  <c:pt idx="42">
                    <c:v>894</c:v>
                  </c:pt>
                  <c:pt idx="43">
                    <c:v>895</c:v>
                  </c:pt>
                  <c:pt idx="44">
                    <c:v>896</c:v>
                  </c:pt>
                  <c:pt idx="45">
                    <c:v>897</c:v>
                  </c:pt>
                  <c:pt idx="46">
                    <c:v>898</c:v>
                  </c:pt>
                  <c:pt idx="47">
                    <c:v>899</c:v>
                  </c:pt>
                  <c:pt idx="48">
                    <c:v>900</c:v>
                  </c:pt>
                </c:lvl>
              </c:multiLvlStrCache>
            </c:multiLvlStrRef>
          </c:cat>
          <c:val>
            <c:numRef>
              <c:f>Sheet1!$B$2:$B$50</c:f>
              <c:numCache>
                <c:formatCode>General</c:formatCode>
                <c:ptCount val="49"/>
                <c:pt idx="0">
                  <c:v>0.9</c:v>
                </c:pt>
                <c:pt idx="1">
                  <c:v>5.98</c:v>
                </c:pt>
                <c:pt idx="2">
                  <c:v>5.81</c:v>
                </c:pt>
                <c:pt idx="3">
                  <c:v>5.8</c:v>
                </c:pt>
                <c:pt idx="4">
                  <c:v>4.79</c:v>
                </c:pt>
                <c:pt idx="5">
                  <c:v>4.78</c:v>
                </c:pt>
                <c:pt idx="6">
                  <c:v>5.07</c:v>
                </c:pt>
                <c:pt idx="7">
                  <c:v>4.03</c:v>
                </c:pt>
                <c:pt idx="8">
                  <c:v>4.08</c:v>
                </c:pt>
                <c:pt idx="9">
                  <c:v>4.76</c:v>
                </c:pt>
                <c:pt idx="10">
                  <c:v>5.55</c:v>
                </c:pt>
                <c:pt idx="11">
                  <c:v>5.67</c:v>
                </c:pt>
                <c:pt idx="12">
                  <c:v>5.66</c:v>
                </c:pt>
                <c:pt idx="13">
                  <c:v>6.46</c:v>
                </c:pt>
                <c:pt idx="14">
                  <c:v>6.4</c:v>
                </c:pt>
                <c:pt idx="15">
                  <c:v>6.57</c:v>
                </c:pt>
                <c:pt idx="16">
                  <c:v>6.57</c:v>
                </c:pt>
                <c:pt idx="17">
                  <c:v>7.07</c:v>
                </c:pt>
                <c:pt idx="18">
                  <c:v>7.11</c:v>
                </c:pt>
                <c:pt idx="19">
                  <c:v>7.11</c:v>
                </c:pt>
                <c:pt idx="20">
                  <c:v>7.05</c:v>
                </c:pt>
                <c:pt idx="21">
                  <c:v>7.21</c:v>
                </c:pt>
                <c:pt idx="22">
                  <c:v>7.2</c:v>
                </c:pt>
                <c:pt idx="23">
                  <c:v>7.17</c:v>
                </c:pt>
                <c:pt idx="24">
                  <c:v>7.27</c:v>
                </c:pt>
                <c:pt idx="25">
                  <c:v>7.23</c:v>
                </c:pt>
                <c:pt idx="26">
                  <c:v>7.4</c:v>
                </c:pt>
                <c:pt idx="27">
                  <c:v>7.43</c:v>
                </c:pt>
                <c:pt idx="28">
                  <c:v>7.42</c:v>
                </c:pt>
                <c:pt idx="29">
                  <c:v>6.82</c:v>
                </c:pt>
                <c:pt idx="30">
                  <c:v>6.83</c:v>
                </c:pt>
                <c:pt idx="31">
                  <c:v>6.98</c:v>
                </c:pt>
                <c:pt idx="32">
                  <c:v>7.02</c:v>
                </c:pt>
                <c:pt idx="33">
                  <c:v>7.42</c:v>
                </c:pt>
                <c:pt idx="34">
                  <c:v>7.44</c:v>
                </c:pt>
                <c:pt idx="35">
                  <c:v>7.44</c:v>
                </c:pt>
                <c:pt idx="36">
                  <c:v>7.51</c:v>
                </c:pt>
                <c:pt idx="37">
                  <c:v>7.95</c:v>
                </c:pt>
                <c:pt idx="38">
                  <c:v>7.98</c:v>
                </c:pt>
                <c:pt idx="39">
                  <c:v>8.82</c:v>
                </c:pt>
                <c:pt idx="40">
                  <c:v>10.67</c:v>
                </c:pt>
                <c:pt idx="41">
                  <c:v>10.7</c:v>
                </c:pt>
                <c:pt idx="42">
                  <c:v>11.1</c:v>
                </c:pt>
                <c:pt idx="43">
                  <c:v>10.98</c:v>
                </c:pt>
                <c:pt idx="44">
                  <c:v>11.76</c:v>
                </c:pt>
                <c:pt idx="45">
                  <c:v>11.37</c:v>
                </c:pt>
                <c:pt idx="46">
                  <c:v>11.5</c:v>
                </c:pt>
                <c:pt idx="47">
                  <c:v>12.49</c:v>
                </c:pt>
                <c:pt idx="48">
                  <c:v>12.68</c:v>
                </c:pt>
              </c:numCache>
            </c:numRef>
          </c:val>
          <c:smooth val="0"/>
        </c:ser>
        <c:ser>
          <c:idx val="1"/>
          <c:order val="1"/>
          <c:tx>
            <c:strRef>
              <c:f>Sheet1!$C$1</c:f>
              <c:strCache>
                <c:ptCount val="1"/>
                <c:pt idx="0">
                  <c:v>v1 (35.8)</c:v>
                </c:pt>
              </c:strCache>
            </c:strRef>
          </c:tx>
          <c:spPr>
            <a:solidFill>
              <a:srgbClr val="F2A541"/>
            </a:solidFill>
            <a:ln w="25400" cap="flat">
              <a:solidFill>
                <a:srgbClr val="F2A541"/>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Sheet1!$A$2:$A$50</c:f>
              <c:multiLvlStrCache>
                <c:ptCount val="49"/>
                <c:lvl>
                  <c:pt idx="0">
                    <c:v>852</c:v>
                  </c:pt>
                  <c:pt idx="1">
                    <c:v>853</c:v>
                  </c:pt>
                  <c:pt idx="2">
                    <c:v>854</c:v>
                  </c:pt>
                  <c:pt idx="3">
                    <c:v>855</c:v>
                  </c:pt>
                  <c:pt idx="4">
                    <c:v>856</c:v>
                  </c:pt>
                  <c:pt idx="5">
                    <c:v>857</c:v>
                  </c:pt>
                  <c:pt idx="6">
                    <c:v>858</c:v>
                  </c:pt>
                  <c:pt idx="7">
                    <c:v>859</c:v>
                  </c:pt>
                  <c:pt idx="8">
                    <c:v>860</c:v>
                  </c:pt>
                  <c:pt idx="9">
                    <c:v>861</c:v>
                  </c:pt>
                  <c:pt idx="10">
                    <c:v>862</c:v>
                  </c:pt>
                  <c:pt idx="11">
                    <c:v>863</c:v>
                  </c:pt>
                  <c:pt idx="12">
                    <c:v>864</c:v>
                  </c:pt>
                  <c:pt idx="13">
                    <c:v>865</c:v>
                  </c:pt>
                  <c:pt idx="14">
                    <c:v>866</c:v>
                  </c:pt>
                  <c:pt idx="15">
                    <c:v>867</c:v>
                  </c:pt>
                  <c:pt idx="16">
                    <c:v>868</c:v>
                  </c:pt>
                  <c:pt idx="17">
                    <c:v>869</c:v>
                  </c:pt>
                  <c:pt idx="18">
                    <c:v>870</c:v>
                  </c:pt>
                  <c:pt idx="19">
                    <c:v>871</c:v>
                  </c:pt>
                  <c:pt idx="20">
                    <c:v>872</c:v>
                  </c:pt>
                  <c:pt idx="21">
                    <c:v>873</c:v>
                  </c:pt>
                  <c:pt idx="22">
                    <c:v>874</c:v>
                  </c:pt>
                  <c:pt idx="23">
                    <c:v>875</c:v>
                  </c:pt>
                  <c:pt idx="24">
                    <c:v>876</c:v>
                  </c:pt>
                  <c:pt idx="25">
                    <c:v>877</c:v>
                  </c:pt>
                  <c:pt idx="26">
                    <c:v>878</c:v>
                  </c:pt>
                  <c:pt idx="27">
                    <c:v>879</c:v>
                  </c:pt>
                  <c:pt idx="28">
                    <c:v>880</c:v>
                  </c:pt>
                  <c:pt idx="29">
                    <c:v>881</c:v>
                  </c:pt>
                  <c:pt idx="30">
                    <c:v>882</c:v>
                  </c:pt>
                  <c:pt idx="31">
                    <c:v>883</c:v>
                  </c:pt>
                  <c:pt idx="32">
                    <c:v>884</c:v>
                  </c:pt>
                  <c:pt idx="33">
                    <c:v>885</c:v>
                  </c:pt>
                  <c:pt idx="34">
                    <c:v>886</c:v>
                  </c:pt>
                  <c:pt idx="35">
                    <c:v>887</c:v>
                  </c:pt>
                  <c:pt idx="36">
                    <c:v>888</c:v>
                  </c:pt>
                  <c:pt idx="37">
                    <c:v>889</c:v>
                  </c:pt>
                  <c:pt idx="38">
                    <c:v>890</c:v>
                  </c:pt>
                  <c:pt idx="39">
                    <c:v>891</c:v>
                  </c:pt>
                  <c:pt idx="40">
                    <c:v>892</c:v>
                  </c:pt>
                  <c:pt idx="41">
                    <c:v>893</c:v>
                  </c:pt>
                  <c:pt idx="42">
                    <c:v>894</c:v>
                  </c:pt>
                  <c:pt idx="43">
                    <c:v>895</c:v>
                  </c:pt>
                  <c:pt idx="44">
                    <c:v>896</c:v>
                  </c:pt>
                  <c:pt idx="45">
                    <c:v>897</c:v>
                  </c:pt>
                  <c:pt idx="46">
                    <c:v>898</c:v>
                  </c:pt>
                  <c:pt idx="47">
                    <c:v>899</c:v>
                  </c:pt>
                  <c:pt idx="48">
                    <c:v>900</c:v>
                  </c:pt>
                </c:lvl>
              </c:multiLvlStrCache>
            </c:multiLvlStrRef>
          </c:cat>
          <c:val>
            <c:numRef>
              <c:f>Sheet1!$C$2:$C$50</c:f>
              <c:numCache>
                <c:formatCode>General</c:formatCode>
                <c:ptCount val="49"/>
                <c:pt idx="0">
                  <c:v>9</c:v>
                </c:pt>
                <c:pt idx="1">
                  <c:v>16.02</c:v>
                </c:pt>
                <c:pt idx="2">
                  <c:v>15.74</c:v>
                </c:pt>
                <c:pt idx="3">
                  <c:v>14.57</c:v>
                </c:pt>
                <c:pt idx="4">
                  <c:v>12.17</c:v>
                </c:pt>
                <c:pt idx="5">
                  <c:v>11.48</c:v>
                </c:pt>
                <c:pt idx="6">
                  <c:v>14.15</c:v>
                </c:pt>
                <c:pt idx="7">
                  <c:v>12.03</c:v>
                </c:pt>
                <c:pt idx="8">
                  <c:v>11.76</c:v>
                </c:pt>
                <c:pt idx="9">
                  <c:v>13.88</c:v>
                </c:pt>
                <c:pt idx="10">
                  <c:v>11.56</c:v>
                </c:pt>
                <c:pt idx="11">
                  <c:v>12.84</c:v>
                </c:pt>
                <c:pt idx="12">
                  <c:v>12.8</c:v>
                </c:pt>
                <c:pt idx="13">
                  <c:v>11.04</c:v>
                </c:pt>
                <c:pt idx="14">
                  <c:v>10.96</c:v>
                </c:pt>
                <c:pt idx="15">
                  <c:v>9.15</c:v>
                </c:pt>
                <c:pt idx="16">
                  <c:v>9.11</c:v>
                </c:pt>
                <c:pt idx="17">
                  <c:v>10.75</c:v>
                </c:pt>
                <c:pt idx="18">
                  <c:v>8.93</c:v>
                </c:pt>
                <c:pt idx="19">
                  <c:v>8.96</c:v>
                </c:pt>
                <c:pt idx="20">
                  <c:v>8.88</c:v>
                </c:pt>
                <c:pt idx="21">
                  <c:v>9.78</c:v>
                </c:pt>
                <c:pt idx="22">
                  <c:v>9.77</c:v>
                </c:pt>
                <c:pt idx="23">
                  <c:v>10.81</c:v>
                </c:pt>
                <c:pt idx="24">
                  <c:v>11.73</c:v>
                </c:pt>
                <c:pt idx="25">
                  <c:v>11.97</c:v>
                </c:pt>
                <c:pt idx="26">
                  <c:v>13.01</c:v>
                </c:pt>
                <c:pt idx="27">
                  <c:v>12.61</c:v>
                </c:pt>
                <c:pt idx="28">
                  <c:v>13.05</c:v>
                </c:pt>
                <c:pt idx="29">
                  <c:v>9.72</c:v>
                </c:pt>
                <c:pt idx="30">
                  <c:v>9.05</c:v>
                </c:pt>
                <c:pt idx="31">
                  <c:v>9.87</c:v>
                </c:pt>
                <c:pt idx="32">
                  <c:v>9.29</c:v>
                </c:pt>
                <c:pt idx="33">
                  <c:v>11.49</c:v>
                </c:pt>
                <c:pt idx="34">
                  <c:v>11.28</c:v>
                </c:pt>
                <c:pt idx="35">
                  <c:v>11.23</c:v>
                </c:pt>
                <c:pt idx="36">
                  <c:v>11.55</c:v>
                </c:pt>
                <c:pt idx="37">
                  <c:v>12.95</c:v>
                </c:pt>
                <c:pt idx="38">
                  <c:v>11.83</c:v>
                </c:pt>
                <c:pt idx="39">
                  <c:v>9.5</c:v>
                </c:pt>
                <c:pt idx="40">
                  <c:v>13.31</c:v>
                </c:pt>
                <c:pt idx="41">
                  <c:v>13.09</c:v>
                </c:pt>
                <c:pt idx="42">
                  <c:v>12.54</c:v>
                </c:pt>
                <c:pt idx="43">
                  <c:v>12.09</c:v>
                </c:pt>
                <c:pt idx="44">
                  <c:v>10.15</c:v>
                </c:pt>
                <c:pt idx="45">
                  <c:v>11.16</c:v>
                </c:pt>
                <c:pt idx="46">
                  <c:v>12.23</c:v>
                </c:pt>
                <c:pt idx="47">
                  <c:v>10.92</c:v>
                </c:pt>
                <c:pt idx="48">
                  <c:v>9.83</c:v>
                </c:pt>
              </c:numCache>
            </c:numRef>
          </c:val>
          <c:smooth val="0"/>
        </c:ser>
        <c:ser>
          <c:idx val="2"/>
          <c:order val="2"/>
          <c:tx>
            <c:strRef>
              <c:f>Sheet1!$D$1</c:f>
              <c:strCache>
                <c:ptCount val="1"/>
                <c:pt idx="0">
                  <c:v>v4 (36.4)</c:v>
                </c:pt>
              </c:strCache>
            </c:strRef>
          </c:tx>
          <c:spPr>
            <a:solidFill>
              <a:srgbClr val="5B6C8F"/>
            </a:solidFill>
            <a:ln w="25400" cap="flat">
              <a:solidFill>
                <a:srgbClr val="5B6C8F"/>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5B6C8F"/>
              </a:solidFill>
              <a:ln w="9525" cap="flat">
                <a:solidFill>
                  <a:srgbClr val="5B6C8F"/>
                </a:solidFill>
                <a:prstDash val="solid"/>
                <a:round/>
              </a:ln>
              <a:effectLst/>
            </c:spPr>
          </c:marker>
          <c:cat>
            <c:multiLvlStrRef>
              <c:f>Sheet1!$A$2:$A$50</c:f>
              <c:multiLvlStrCache>
                <c:ptCount val="49"/>
                <c:lvl>
                  <c:pt idx="0">
                    <c:v>852</c:v>
                  </c:pt>
                  <c:pt idx="1">
                    <c:v>853</c:v>
                  </c:pt>
                  <c:pt idx="2">
                    <c:v>854</c:v>
                  </c:pt>
                  <c:pt idx="3">
                    <c:v>855</c:v>
                  </c:pt>
                  <c:pt idx="4">
                    <c:v>856</c:v>
                  </c:pt>
                  <c:pt idx="5">
                    <c:v>857</c:v>
                  </c:pt>
                  <c:pt idx="6">
                    <c:v>858</c:v>
                  </c:pt>
                  <c:pt idx="7">
                    <c:v>859</c:v>
                  </c:pt>
                  <c:pt idx="8">
                    <c:v>860</c:v>
                  </c:pt>
                  <c:pt idx="9">
                    <c:v>861</c:v>
                  </c:pt>
                  <c:pt idx="10">
                    <c:v>862</c:v>
                  </c:pt>
                  <c:pt idx="11">
                    <c:v>863</c:v>
                  </c:pt>
                  <c:pt idx="12">
                    <c:v>864</c:v>
                  </c:pt>
                  <c:pt idx="13">
                    <c:v>865</c:v>
                  </c:pt>
                  <c:pt idx="14">
                    <c:v>866</c:v>
                  </c:pt>
                  <c:pt idx="15">
                    <c:v>867</c:v>
                  </c:pt>
                  <c:pt idx="16">
                    <c:v>868</c:v>
                  </c:pt>
                  <c:pt idx="17">
                    <c:v>869</c:v>
                  </c:pt>
                  <c:pt idx="18">
                    <c:v>870</c:v>
                  </c:pt>
                  <c:pt idx="19">
                    <c:v>871</c:v>
                  </c:pt>
                  <c:pt idx="20">
                    <c:v>872</c:v>
                  </c:pt>
                  <c:pt idx="21">
                    <c:v>873</c:v>
                  </c:pt>
                  <c:pt idx="22">
                    <c:v>874</c:v>
                  </c:pt>
                  <c:pt idx="23">
                    <c:v>875</c:v>
                  </c:pt>
                  <c:pt idx="24">
                    <c:v>876</c:v>
                  </c:pt>
                  <c:pt idx="25">
                    <c:v>877</c:v>
                  </c:pt>
                  <c:pt idx="26">
                    <c:v>878</c:v>
                  </c:pt>
                  <c:pt idx="27">
                    <c:v>879</c:v>
                  </c:pt>
                  <c:pt idx="28">
                    <c:v>880</c:v>
                  </c:pt>
                  <c:pt idx="29">
                    <c:v>881</c:v>
                  </c:pt>
                  <c:pt idx="30">
                    <c:v>882</c:v>
                  </c:pt>
                  <c:pt idx="31">
                    <c:v>883</c:v>
                  </c:pt>
                  <c:pt idx="32">
                    <c:v>884</c:v>
                  </c:pt>
                  <c:pt idx="33">
                    <c:v>885</c:v>
                  </c:pt>
                  <c:pt idx="34">
                    <c:v>886</c:v>
                  </c:pt>
                  <c:pt idx="35">
                    <c:v>887</c:v>
                  </c:pt>
                  <c:pt idx="36">
                    <c:v>888</c:v>
                  </c:pt>
                  <c:pt idx="37">
                    <c:v>889</c:v>
                  </c:pt>
                  <c:pt idx="38">
                    <c:v>890</c:v>
                  </c:pt>
                  <c:pt idx="39">
                    <c:v>891</c:v>
                  </c:pt>
                  <c:pt idx="40">
                    <c:v>892</c:v>
                  </c:pt>
                  <c:pt idx="41">
                    <c:v>893</c:v>
                  </c:pt>
                  <c:pt idx="42">
                    <c:v>894</c:v>
                  </c:pt>
                  <c:pt idx="43">
                    <c:v>895</c:v>
                  </c:pt>
                  <c:pt idx="44">
                    <c:v>896</c:v>
                  </c:pt>
                  <c:pt idx="45">
                    <c:v>897</c:v>
                  </c:pt>
                  <c:pt idx="46">
                    <c:v>898</c:v>
                  </c:pt>
                  <c:pt idx="47">
                    <c:v>899</c:v>
                  </c:pt>
                  <c:pt idx="48">
                    <c:v>900</c:v>
                  </c:pt>
                </c:lvl>
              </c:multiLvlStrCache>
            </c:multiLvlStrRef>
          </c:cat>
          <c:val>
            <c:numRef>
              <c:f>Sheet1!$D$2:$D$50</c:f>
              <c:numCache>
                <c:formatCode>General</c:formatCode>
                <c:ptCount val="49"/>
                <c:pt idx="0">
                  <c:v>0.45</c:v>
                </c:pt>
                <c:pt idx="1">
                  <c:v>3.31</c:v>
                </c:pt>
                <c:pt idx="2">
                  <c:v>3.15</c:v>
                </c:pt>
                <c:pt idx="3">
                  <c:v>2.8</c:v>
                </c:pt>
                <c:pt idx="4">
                  <c:v>1.96</c:v>
                </c:pt>
                <c:pt idx="5">
                  <c:v>1.82</c:v>
                </c:pt>
                <c:pt idx="6">
                  <c:v>2.22</c:v>
                </c:pt>
                <c:pt idx="7">
                  <c:v>1.54</c:v>
                </c:pt>
                <c:pt idx="8">
                  <c:v>1.53</c:v>
                </c:pt>
                <c:pt idx="9">
                  <c:v>1.9</c:v>
                </c:pt>
                <c:pt idx="10">
                  <c:v>2.07</c:v>
                </c:pt>
                <c:pt idx="11">
                  <c:v>2.08</c:v>
                </c:pt>
                <c:pt idx="12">
                  <c:v>2.07</c:v>
                </c:pt>
                <c:pt idx="13">
                  <c:v>2.4</c:v>
                </c:pt>
                <c:pt idx="14">
                  <c:v>2.38</c:v>
                </c:pt>
                <c:pt idx="15">
                  <c:v>2.35</c:v>
                </c:pt>
                <c:pt idx="16">
                  <c:v>2.35</c:v>
                </c:pt>
                <c:pt idx="17">
                  <c:v>2.59</c:v>
                </c:pt>
                <c:pt idx="18">
                  <c:v>2.47</c:v>
                </c:pt>
                <c:pt idx="19">
                  <c:v>2.47</c:v>
                </c:pt>
                <c:pt idx="20">
                  <c:v>2.44</c:v>
                </c:pt>
                <c:pt idx="21">
                  <c:v>2.66</c:v>
                </c:pt>
                <c:pt idx="22">
                  <c:v>2.66</c:v>
                </c:pt>
                <c:pt idx="23">
                  <c:v>2.79</c:v>
                </c:pt>
                <c:pt idx="24">
                  <c:v>2.9</c:v>
                </c:pt>
                <c:pt idx="25">
                  <c:v>2.89</c:v>
                </c:pt>
                <c:pt idx="26">
                  <c:v>2.97</c:v>
                </c:pt>
                <c:pt idx="27">
                  <c:v>2.97</c:v>
                </c:pt>
                <c:pt idx="28">
                  <c:v>2.97</c:v>
                </c:pt>
                <c:pt idx="29">
                  <c:v>2.69</c:v>
                </c:pt>
                <c:pt idx="30">
                  <c:v>2.66</c:v>
                </c:pt>
                <c:pt idx="31">
                  <c:v>2.74</c:v>
                </c:pt>
                <c:pt idx="32">
                  <c:v>2.73</c:v>
                </c:pt>
                <c:pt idx="33">
                  <c:v>2.94</c:v>
                </c:pt>
                <c:pt idx="34">
                  <c:v>2.94</c:v>
                </c:pt>
                <c:pt idx="35">
                  <c:v>2.95</c:v>
                </c:pt>
                <c:pt idx="36">
                  <c:v>2.96</c:v>
                </c:pt>
                <c:pt idx="37">
                  <c:v>3.23</c:v>
                </c:pt>
                <c:pt idx="38">
                  <c:v>3.14</c:v>
                </c:pt>
                <c:pt idx="39">
                  <c:v>3.46</c:v>
                </c:pt>
                <c:pt idx="40">
                  <c:v>4.04</c:v>
                </c:pt>
                <c:pt idx="41">
                  <c:v>4.04</c:v>
                </c:pt>
                <c:pt idx="42">
                  <c:v>4.23</c:v>
                </c:pt>
                <c:pt idx="43">
                  <c:v>4.26</c:v>
                </c:pt>
                <c:pt idx="44">
                  <c:v>4.71</c:v>
                </c:pt>
                <c:pt idx="45">
                  <c:v>4.4</c:v>
                </c:pt>
                <c:pt idx="46">
                  <c:v>4.29</c:v>
                </c:pt>
                <c:pt idx="47">
                  <c:v>4.82</c:v>
                </c:pt>
                <c:pt idx="48">
                  <c:v>5.15</c:v>
                </c:pt>
              </c:numCache>
            </c:numRef>
          </c:val>
          <c:smooth val="0"/>
        </c:ser>
        <c:ser>
          <c:idx val="3"/>
          <c:order val="3"/>
          <c:tx>
            <c:strRef>
              <c:f>Sheet1!$E$1</c:f>
              <c:strCache>
                <c:ptCount val="1"/>
                <c:pt idx="0">
                  <c:v>Buy &amp; hold</c:v>
                </c:pt>
              </c:strCache>
            </c:strRef>
          </c:tx>
          <c:spPr>
            <a:solidFill>
              <a:srgbClr val="E4572E"/>
            </a:solidFill>
            <a:ln w="25400" cap="flat">
              <a:solidFill>
                <a:srgbClr val="E4572E"/>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Sheet1!$A$2:$A$50</c:f>
              <c:multiLvlStrCache>
                <c:ptCount val="49"/>
                <c:lvl>
                  <c:pt idx="0">
                    <c:v>852</c:v>
                  </c:pt>
                  <c:pt idx="1">
                    <c:v>853</c:v>
                  </c:pt>
                  <c:pt idx="2">
                    <c:v>854</c:v>
                  </c:pt>
                  <c:pt idx="3">
                    <c:v>855</c:v>
                  </c:pt>
                  <c:pt idx="4">
                    <c:v>856</c:v>
                  </c:pt>
                  <c:pt idx="5">
                    <c:v>857</c:v>
                  </c:pt>
                  <c:pt idx="6">
                    <c:v>858</c:v>
                  </c:pt>
                  <c:pt idx="7">
                    <c:v>859</c:v>
                  </c:pt>
                  <c:pt idx="8">
                    <c:v>860</c:v>
                  </c:pt>
                  <c:pt idx="9">
                    <c:v>861</c:v>
                  </c:pt>
                  <c:pt idx="10">
                    <c:v>862</c:v>
                  </c:pt>
                  <c:pt idx="11">
                    <c:v>863</c:v>
                  </c:pt>
                  <c:pt idx="12">
                    <c:v>864</c:v>
                  </c:pt>
                  <c:pt idx="13">
                    <c:v>865</c:v>
                  </c:pt>
                  <c:pt idx="14">
                    <c:v>866</c:v>
                  </c:pt>
                  <c:pt idx="15">
                    <c:v>867</c:v>
                  </c:pt>
                  <c:pt idx="16">
                    <c:v>868</c:v>
                  </c:pt>
                  <c:pt idx="17">
                    <c:v>869</c:v>
                  </c:pt>
                  <c:pt idx="18">
                    <c:v>870</c:v>
                  </c:pt>
                  <c:pt idx="19">
                    <c:v>871</c:v>
                  </c:pt>
                  <c:pt idx="20">
                    <c:v>872</c:v>
                  </c:pt>
                  <c:pt idx="21">
                    <c:v>873</c:v>
                  </c:pt>
                  <c:pt idx="22">
                    <c:v>874</c:v>
                  </c:pt>
                  <c:pt idx="23">
                    <c:v>875</c:v>
                  </c:pt>
                  <c:pt idx="24">
                    <c:v>876</c:v>
                  </c:pt>
                  <c:pt idx="25">
                    <c:v>877</c:v>
                  </c:pt>
                  <c:pt idx="26">
                    <c:v>878</c:v>
                  </c:pt>
                  <c:pt idx="27">
                    <c:v>879</c:v>
                  </c:pt>
                  <c:pt idx="28">
                    <c:v>880</c:v>
                  </c:pt>
                  <c:pt idx="29">
                    <c:v>881</c:v>
                  </c:pt>
                  <c:pt idx="30">
                    <c:v>882</c:v>
                  </c:pt>
                  <c:pt idx="31">
                    <c:v>883</c:v>
                  </c:pt>
                  <c:pt idx="32">
                    <c:v>884</c:v>
                  </c:pt>
                  <c:pt idx="33">
                    <c:v>885</c:v>
                  </c:pt>
                  <c:pt idx="34">
                    <c:v>886</c:v>
                  </c:pt>
                  <c:pt idx="35">
                    <c:v>887</c:v>
                  </c:pt>
                  <c:pt idx="36">
                    <c:v>888</c:v>
                  </c:pt>
                  <c:pt idx="37">
                    <c:v>889</c:v>
                  </c:pt>
                  <c:pt idx="38">
                    <c:v>890</c:v>
                  </c:pt>
                  <c:pt idx="39">
                    <c:v>891</c:v>
                  </c:pt>
                  <c:pt idx="40">
                    <c:v>892</c:v>
                  </c:pt>
                  <c:pt idx="41">
                    <c:v>893</c:v>
                  </c:pt>
                  <c:pt idx="42">
                    <c:v>894</c:v>
                  </c:pt>
                  <c:pt idx="43">
                    <c:v>895</c:v>
                  </c:pt>
                  <c:pt idx="44">
                    <c:v>896</c:v>
                  </c:pt>
                  <c:pt idx="45">
                    <c:v>897</c:v>
                  </c:pt>
                  <c:pt idx="46">
                    <c:v>898</c:v>
                  </c:pt>
                  <c:pt idx="47">
                    <c:v>899</c:v>
                  </c:pt>
                  <c:pt idx="48">
                    <c:v>900</c:v>
                  </c:pt>
                </c:lvl>
              </c:multiLvlStrCache>
            </c:multiLvlStrRef>
          </c:cat>
          <c:val>
            <c:numRef>
              <c:f>Sheet1!$E$2:$E$50</c:f>
              <c:numCache>
                <c:formatCode>General</c:formatCode>
                <c:ptCount val="49"/>
                <c:pt idx="0">
                  <c:v>9.79</c:v>
                </c:pt>
                <c:pt idx="1">
                  <c:v>25.26</c:v>
                </c:pt>
                <c:pt idx="2">
                  <c:v>24.28</c:v>
                </c:pt>
                <c:pt idx="3">
                  <c:v>20</c:v>
                </c:pt>
                <c:pt idx="4">
                  <c:v>11.19</c:v>
                </c:pt>
                <c:pt idx="5">
                  <c:v>8.57</c:v>
                </c:pt>
                <c:pt idx="6">
                  <c:v>18.59</c:v>
                </c:pt>
                <c:pt idx="7">
                  <c:v>9.34</c:v>
                </c:pt>
                <c:pt idx="8">
                  <c:v>8.16</c:v>
                </c:pt>
                <c:pt idx="9">
                  <c:v>17.41</c:v>
                </c:pt>
                <c:pt idx="10">
                  <c:v>6.06</c:v>
                </c:pt>
                <c:pt idx="11">
                  <c:v>12.37</c:v>
                </c:pt>
                <c:pt idx="12">
                  <c:v>12.12</c:v>
                </c:pt>
                <c:pt idx="13">
                  <c:v>2.92</c:v>
                </c:pt>
                <c:pt idx="14">
                  <c:v>2.52</c:v>
                </c:pt>
                <c:pt idx="15">
                  <c:v>-6.77</c:v>
                </c:pt>
                <c:pt idx="16">
                  <c:v>-6.96</c:v>
                </c:pt>
                <c:pt idx="17">
                  <c:v>1.18</c:v>
                </c:pt>
                <c:pt idx="18">
                  <c:v>-8.88</c:v>
                </c:pt>
                <c:pt idx="19">
                  <c:v>-8.71</c:v>
                </c:pt>
                <c:pt idx="20">
                  <c:v>-9.15</c:v>
                </c:pt>
                <c:pt idx="21">
                  <c:v>-4.64</c:v>
                </c:pt>
                <c:pt idx="22">
                  <c:v>-4.67</c:v>
                </c:pt>
                <c:pt idx="23">
                  <c:v>0.16</c:v>
                </c:pt>
                <c:pt idx="24">
                  <c:v>4.67</c:v>
                </c:pt>
                <c:pt idx="25">
                  <c:v>5.91</c:v>
                </c:pt>
                <c:pt idx="26">
                  <c:v>11.15</c:v>
                </c:pt>
                <c:pt idx="27">
                  <c:v>9.16</c:v>
                </c:pt>
                <c:pt idx="28">
                  <c:v>11.23</c:v>
                </c:pt>
                <c:pt idx="29">
                  <c:v>-4.86</c:v>
                </c:pt>
                <c:pt idx="30">
                  <c:v>-7.99</c:v>
                </c:pt>
                <c:pt idx="31">
                  <c:v>-4.42</c:v>
                </c:pt>
                <c:pt idx="32">
                  <c:v>-6.94</c:v>
                </c:pt>
                <c:pt idx="33">
                  <c:v>2.49</c:v>
                </c:pt>
                <c:pt idx="34">
                  <c:v>1.49</c:v>
                </c:pt>
                <c:pt idx="35">
                  <c:v>1.25</c:v>
                </c:pt>
                <c:pt idx="36">
                  <c:v>2.65</c:v>
                </c:pt>
                <c:pt idx="37">
                  <c:v>8.96</c:v>
                </c:pt>
                <c:pt idx="38">
                  <c:v>3.84</c:v>
                </c:pt>
                <c:pt idx="39">
                  <c:v>-5.66</c:v>
                </c:pt>
                <c:pt idx="40">
                  <c:v>10.07</c:v>
                </c:pt>
                <c:pt idx="41">
                  <c:v>8.86</c:v>
                </c:pt>
                <c:pt idx="42">
                  <c:v>5.88</c:v>
                </c:pt>
                <c:pt idx="43">
                  <c:v>3.45</c:v>
                </c:pt>
                <c:pt idx="44">
                  <c:v>-6.69</c:v>
                </c:pt>
                <c:pt idx="45">
                  <c:v>-1.62</c:v>
                </c:pt>
                <c:pt idx="46">
                  <c:v>4.09</c:v>
                </c:pt>
                <c:pt idx="47">
                  <c:v>-3.27</c:v>
                </c:pt>
                <c:pt idx="48">
                  <c:v>-9.15</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B44"/>
                </a:solidFill>
                <a:latin typeface="+mn-lt"/>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6350" cap="flat">
              <a:solidFill>
                <a:srgbClr val="DDE3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C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Divisha (about 20 s). Single asset, three rounds; the scored period is a crash with volatility up to 6.4 times the labelled median and no labelled precedent. Headline: 53.0 on the leaderboard, +12.7% while the market fell 9.2%, 1.8% maximum drawdown. Return and drawdown figures come from a post-scoring analysis; nothing from the scored period was used to build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Divisha (30 s). Walk left to right. The teal layers (regimes, Monte Carlo crashes, robust losses) are our core contribution: the scored period is a crash that never appears in labelled history, so we manufactured crashes and optimised the worst regime instead of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Friday (40 s). Rubric 1. Our strongest inputs are volatility ratios: open-to-SMA gap and momentum divided by volatility. Dividing by volatility is what keeps inputs inside the training range when volatility is 6 times higher; without it standardised inputs reached |z| = 24. Standardise on training rows, clip at ±5. The close is rebuilt from the same row only; tomorrow's close is never reconstructed. Importance is the absolute standardised logistic-regression coefficient on the final MC-augmented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Navjyot (40 s). Rubric 2. Seven expanding folds plus a reserved block, never shuffled, with a one-row purge. We compared logistic regression, gradient boosting, Extra Trees and an attention LSTM under identical folds and metrics (accuracy, balanced accuracy, AUC, log loss, Brier, calibration). Every selection rule was written before results, which guards against leaderboard overfitting. In round 2 the training prior won, so we stopped instead of picking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Divisha (40 s). Five training arms on identical folds, so differences come from the loss alone. B is Group-DRO style: penalise the worst regime's loss. We solve the exact max with an epigraph constraint rather than a softmax approximation, so we know which regime is genuinely worst. D adds Monte Carlo crashes; E combines both and treats the simulated crash as its own regime. Arm E was the best real-data model in round 2 and the LSTM we submitted in round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Navjyot (40 s). Labelled volatility never exceeds 0.0204; the scored block reaches 0.074. So we simulate crashes from each fold's training rows only: real starting state, bootstrapped returns scaled to 3x or 5x volatility, injected shocks, indicators recomputed with formulas we verified against the dataset. One seed trains, an independent seed stress-tests. The standard logistic regression blew up on crash inputs (log loss 1.22); MC-trained versions stayed near 0.69 to 0.70. Stress labels are synthetic, so this measures robustness, not prediction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Friday (40 s). Rubric 3. Detection: when volatility leaves the training range we stop trusting the long bias and hand control to the crash-trained ensemble. Sizing: positions scale inversely with volatility, so risk per day stays roughly constant. Control: every policy is judged net of costs, with drawdown caps, on real walk-forward blocks and on 1,600 simulated crashes. Full long has the best calm-market Sharpe but loses in crashes; the regime switch is the only policy positive on both. This is Sharpe versus raw PnL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Divisha (30 s). v3, the regime-switching hybrid with the MC-trained worst-group LSTM, scored 53.0. In the post-scoring analysis it made 12.7% while buy-and-hold lost 9.2%, with a 1.8% maximum drawdown and the right direction on 73% of days. Be explicit: these curves use closes rebuilt after scoring; nothing from the scored period was used to build any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Navjyot (30 s). Rubric 4: state assumptions, limitations and failure cases. Our second submission smoothed v3 and dropped to 36.4. The post-mortem found three causes: the crash reversed daily, smoothing pushed positions below the organizer's flat threshold, and the score rewards money made. Our backtest favoured smoothing because history and the simulator trend. Fixes: reversal scenarios in the simulator and no smoothing at high volatility.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Friday (30 s). 1 and 2 are the team's proposals, reframed to be technically sound. Monte Carlo for risk: extend our simulator with regime-switching, jump and reversal paths and report VaR, CVaR and drawdown distributions. RL: training only on the 50 real crash rows would overfit and fail in normal markets, so the sound version uses our Monte Carlo simulator as the environment with domain randomisation across regimes, so crashes are normal for the agent without forgetting calm markets, with costs and drawdown in the reward and an overfitting test before use. 3 to 6 come from current research: HMM regime detection, generative scenarios with tail checks, purged combinatorial validation, and autocorrelation-aware smoothing.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not presented in the 3–5 minute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11064240" cy="12801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2697480"/>
            <a:ext cx="11064240" cy="73152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457200" y="6446520"/>
            <a:ext cx="5486400" cy="274320"/>
          </a:xfrm>
          <a:prstGeom prst="rect">
            <a:avLst/>
          </a:prstGeom>
          <a:noFill/>
          <a:ln/>
        </p:spPr>
        <p:txBody>
          <a:bodyPr wrap="square" rtlCol="0" anchor="ctr"/>
          <a:lstStyle/>
          <a:p>
            <a:pPr indent="0" marL="0">
              <a:buNone/>
            </a:pPr>
            <a:r>
              <a:rPr lang="en-US" sz="1000" dirty="0">
                <a:solidFill>
                  <a:schemeClr val="accent4"/>
                </a:solidFill>
              </a:rPr>
              <a:t>KESTREL · BigShort Winners</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11064240" cy="1280160"/>
          </a:xfrm>
          <a:prstGeom prst="rect">
            <a:avLst/>
          </a:prstGeom>
          <a:noFill/>
          <a:ln/>
        </p:spPr>
        <p:txBody>
          <a:bodyPr wrap="square" rtlCol="0" anchor="t"/>
          <a:lstStyle/>
          <a:p>
            <a:pPr indent="0" marL="0">
              <a:buNone/>
            </a:pPr>
            <a:r>
              <a:rPr lang="en-US" sz="4400" b="1" dirty="0">
                <a:solidFill>
                  <a:schemeClr val="bg1"/>
                </a:solidFill>
              </a:rPr>
              <a:t>Surviving a 6× Volatility Crash</a:t>
            </a:r>
            <a:endParaRPr lang="en-US" sz="4400" dirty="0"/>
          </a:p>
        </p:txBody>
      </p:sp>
      <p:sp>
        <p:nvSpPr>
          <p:cNvPr id="3" name="Text 0"/>
          <p:cNvSpPr/>
          <p:nvPr>
            <p:ph idx="101" type="body" hasCustomPrompt="1"/>
          </p:nvPr>
        </p:nvSpPr>
        <p:spPr>
          <a:xfrm>
            <a:off x="548640" y="2697480"/>
            <a:ext cx="11064240" cy="731520"/>
          </a:xfrm>
          <a:prstGeom prst="rect">
            <a:avLst/>
          </a:prstGeom>
          <a:noFill/>
          <a:ln/>
        </p:spPr>
        <p:txBody>
          <a:bodyPr wrap="square" rtlCol="0" anchor="t"/>
          <a:lstStyle/>
          <a:p>
            <a:pPr indent="0" marL="0">
              <a:buNone/>
            </a:pPr>
            <a:r>
              <a:rPr lang="en-US" sz="2000" dirty="0">
                <a:solidFill>
                  <a:schemeClr val="accent5"/>
                </a:solidFill>
              </a:rPr>
              <a:t>Crash-aware regime modelling: leak-free features, Monte Carlo crashes, robust losses, risk-sized positions</a:t>
            </a:r>
            <a:endParaRPr lang="en-US" sz="2000" dirty="0"/>
          </a:p>
        </p:txBody>
      </p:sp>
      <p:sp>
        <p:nvSpPr>
          <p:cNvPr id="4" name="title-stat-0"/>
          <p:cNvSpPr/>
          <p:nvPr/>
        </p:nvSpPr>
        <p:spPr>
          <a:xfrm>
            <a:off x="548640" y="3977640"/>
            <a:ext cx="3383280" cy="1828800"/>
          </a:xfrm>
          <a:prstGeom prst="roundRect">
            <a:avLst>
              <a:gd name="adj" fmla="val 4000"/>
            </a:avLst>
          </a:prstGeom>
          <a:solidFill>
            <a:schemeClr val="tx1"/>
          </a:solidFill>
          <a:ln w="12700">
            <a:solidFill>
              <a:schemeClr val="accent1"/>
            </a:solidFill>
            <a:prstDash val="solid"/>
          </a:ln>
        </p:spPr>
      </p:sp>
      <p:sp>
        <p:nvSpPr>
          <p:cNvPr id="5" name="Text 3"/>
          <p:cNvSpPr txBox="1"/>
          <p:nvPr/>
        </p:nvSpPr>
        <p:spPr>
          <a:xfrm>
            <a:off x="777240" y="4114800"/>
            <a:ext cx="292608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53.0</a:t>
            </a:r>
            <a:endParaRPr lang="en-US" sz="4800" dirty="0"/>
          </a:p>
        </p:txBody>
      </p:sp>
      <p:sp>
        <p:nvSpPr>
          <p:cNvPr id="6" name="Text 4"/>
          <p:cNvSpPr txBox="1"/>
          <p:nvPr/>
        </p:nvSpPr>
        <p:spPr>
          <a:xfrm>
            <a:off x="777240" y="5029200"/>
            <a:ext cx="2926080" cy="548640"/>
          </a:xfrm>
          <a:prstGeom prst="rect">
            <a:avLst/>
          </a:prstGeom>
          <a:noFill/>
          <a:ln/>
        </p:spPr>
        <p:txBody>
          <a:bodyPr wrap="square" lIns="0" tIns="0" rIns="0" bIns="0" rtlCol="0" anchor="ctr"/>
          <a:lstStyle/>
          <a:p>
            <a:pPr indent="0" marL="0">
              <a:buNone/>
            </a:pPr>
            <a:r>
              <a:rPr lang="en-US" sz="1500" dirty="0">
                <a:solidFill>
                  <a:schemeClr val="bg1"/>
                </a:solidFill>
              </a:rPr>
              <a:t>Round-3 leaderboard score</a:t>
            </a:r>
            <a:endParaRPr lang="en-US" sz="1500" dirty="0"/>
          </a:p>
        </p:txBody>
      </p:sp>
      <p:sp>
        <p:nvSpPr>
          <p:cNvPr id="7" name="title-stat-1"/>
          <p:cNvSpPr/>
          <p:nvPr/>
        </p:nvSpPr>
        <p:spPr>
          <a:xfrm>
            <a:off x="4297680" y="3977640"/>
            <a:ext cx="3383280" cy="1828800"/>
          </a:xfrm>
          <a:prstGeom prst="roundRect">
            <a:avLst>
              <a:gd name="adj" fmla="val 4000"/>
            </a:avLst>
          </a:prstGeom>
          <a:solidFill>
            <a:schemeClr val="tx1"/>
          </a:solidFill>
          <a:ln w="12700">
            <a:solidFill>
              <a:schemeClr val="accent1"/>
            </a:solidFill>
            <a:prstDash val="solid"/>
          </a:ln>
        </p:spPr>
      </p:sp>
      <p:sp>
        <p:nvSpPr>
          <p:cNvPr id="8" name="Text 6"/>
          <p:cNvSpPr txBox="1"/>
          <p:nvPr/>
        </p:nvSpPr>
        <p:spPr>
          <a:xfrm>
            <a:off x="4526280" y="4114800"/>
            <a:ext cx="292608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+12.7%</a:t>
            </a:r>
            <a:endParaRPr lang="en-US" sz="4800" dirty="0"/>
          </a:p>
        </p:txBody>
      </p:sp>
      <p:sp>
        <p:nvSpPr>
          <p:cNvPr id="9" name="Text 7"/>
          <p:cNvSpPr txBox="1"/>
          <p:nvPr/>
        </p:nvSpPr>
        <p:spPr>
          <a:xfrm>
            <a:off x="4526280" y="5029200"/>
            <a:ext cx="2926080" cy="548640"/>
          </a:xfrm>
          <a:prstGeom prst="rect">
            <a:avLst/>
          </a:prstGeom>
          <a:noFill/>
          <a:ln/>
        </p:spPr>
        <p:txBody>
          <a:bodyPr wrap="square" lIns="0" tIns="0" rIns="0" bIns="0" rtlCol="0" anchor="ctr"/>
          <a:lstStyle/>
          <a:p>
            <a:pPr indent="0" marL="0">
              <a:buNone/>
            </a:pPr>
            <a:r>
              <a:rPr lang="en-US" sz="1500" dirty="0">
                <a:solidFill>
                  <a:schemeClr val="bg1"/>
                </a:solidFill>
              </a:rPr>
              <a:t>Return while the market fell 9.2%</a:t>
            </a:r>
            <a:endParaRPr lang="en-US" sz="1500" dirty="0"/>
          </a:p>
        </p:txBody>
      </p:sp>
      <p:sp>
        <p:nvSpPr>
          <p:cNvPr id="10" name="title-stat-2"/>
          <p:cNvSpPr/>
          <p:nvPr/>
        </p:nvSpPr>
        <p:spPr>
          <a:xfrm>
            <a:off x="8046720" y="3977640"/>
            <a:ext cx="3383280" cy="1828800"/>
          </a:xfrm>
          <a:prstGeom prst="roundRect">
            <a:avLst>
              <a:gd name="adj" fmla="val 4000"/>
            </a:avLst>
          </a:prstGeom>
          <a:solidFill>
            <a:schemeClr val="tx1"/>
          </a:solidFill>
          <a:ln w="12700">
            <a:solidFill>
              <a:schemeClr val="accent1"/>
            </a:solidFill>
            <a:prstDash val="solid"/>
          </a:ln>
        </p:spPr>
      </p:sp>
      <p:sp>
        <p:nvSpPr>
          <p:cNvPr id="11" name="Text 9"/>
          <p:cNvSpPr txBox="1"/>
          <p:nvPr/>
        </p:nvSpPr>
        <p:spPr>
          <a:xfrm>
            <a:off x="8275320" y="4114800"/>
            <a:ext cx="292608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1.8%</a:t>
            </a:r>
            <a:endParaRPr lang="en-US" sz="4800" dirty="0"/>
          </a:p>
        </p:txBody>
      </p:sp>
      <p:sp>
        <p:nvSpPr>
          <p:cNvPr id="12" name="Text 10"/>
          <p:cNvSpPr txBox="1"/>
          <p:nvPr/>
        </p:nvSpPr>
        <p:spPr>
          <a:xfrm>
            <a:off x="8275320" y="5029200"/>
            <a:ext cx="2926080" cy="548640"/>
          </a:xfrm>
          <a:prstGeom prst="rect">
            <a:avLst/>
          </a:prstGeom>
          <a:noFill/>
          <a:ln/>
        </p:spPr>
        <p:txBody>
          <a:bodyPr wrap="square" lIns="0" tIns="0" rIns="0" bIns="0" rtlCol="0" anchor="ctr"/>
          <a:lstStyle/>
          <a:p>
            <a:pPr indent="0" marL="0">
              <a:buNone/>
            </a:pPr>
            <a:r>
              <a:rPr lang="en-US" sz="1500" dirty="0">
                <a:solidFill>
                  <a:schemeClr val="bg1"/>
                </a:solidFill>
              </a:rPr>
              <a:t>Maximum drawdown in the crash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One question drives every layer: what happens at 6× volatility?</a:t>
            </a:r>
            <a:endParaRPr lang="en-US" sz="3200" dirty="0"/>
          </a:p>
        </p:txBody>
      </p:sp>
      <p:sp>
        <p:nvSpPr>
          <p:cNvPr id="3" name="arch-box-0"/>
          <p:cNvSpPr/>
          <p:nvPr/>
        </p:nvSpPr>
        <p:spPr>
          <a:xfrm>
            <a:off x="457200" y="1417320"/>
            <a:ext cx="1691640" cy="1143000"/>
          </a:xfrm>
          <a:prstGeom prst="roundRect">
            <a:avLst>
              <a:gd name="adj" fmla="val 6400"/>
            </a:avLst>
          </a:prstGeom>
          <a:solidFill>
            <a:schemeClr val="tx2"/>
          </a:solidFill>
          <a:ln w="12700">
            <a:solidFill>
              <a:schemeClr val="tx2"/>
            </a:solidFill>
            <a:prstDash val="solid"/>
          </a:ln>
          <a:effectLst>
            <a:outerShdw sx="100000" sy="100000" kx="0" ky="0" algn="bl" rotWithShape="0" blurRad="76200" dist="25400" dir="5400000">
              <a:srgbClr val="1F2B44">
                <a:alpha val="18000"/>
              </a:srgbClr>
            </a:outerShdw>
          </a:effectLst>
        </p:spPr>
      </p:sp>
      <p:sp>
        <p:nvSpPr>
          <p:cNvPr id="4" name="Text 2"/>
          <p:cNvSpPr txBox="1"/>
          <p:nvPr/>
        </p:nvSpPr>
        <p:spPr>
          <a:xfrm>
            <a:off x="548640" y="1463040"/>
            <a:ext cx="1508760" cy="1051560"/>
          </a:xfrm>
          <a:prstGeom prst="rect">
            <a:avLst/>
          </a:prstGeom>
          <a:noFill/>
          <a:ln/>
        </p:spPr>
        <p:txBody>
          <a:bodyPr wrap="square" lIns="0" tIns="0" rIns="0" bIns="0" rtlCol="0" anchor="ctr"/>
          <a:lstStyle/>
          <a:p>
            <a:pPr algn="ctr" indent="0" marL="0">
              <a:buNone/>
            </a:pPr>
            <a:r>
              <a:rPr lang="en-US" sz="1600" b="1" dirty="0">
                <a:solidFill>
                  <a:schemeClr val="bg1"/>
                </a:solidFill>
              </a:rPr>
              <a:t>Data contract</a:t>
            </a:r>
            <a:endParaRPr lang="en-US" sz="1600" dirty="0"/>
          </a:p>
        </p:txBody>
      </p:sp>
      <p:sp>
        <p:nvSpPr>
          <p:cNvPr id="5" name="Text 3"/>
          <p:cNvSpPr txBox="1"/>
          <p:nvPr/>
        </p:nvSpPr>
        <p:spPr>
          <a:xfrm>
            <a:off x="457200" y="2697480"/>
            <a:ext cx="1691640" cy="1371600"/>
          </a:xfrm>
          <a:prstGeom prst="rect">
            <a:avLst/>
          </a:prstGeom>
          <a:noFill/>
          <a:ln/>
        </p:spPr>
        <p:txBody>
          <a:bodyPr wrap="square" lIns="635" tIns="635" rIns="635" bIns="635" rtlCol="0" anchor="t"/>
          <a:lstStyle/>
          <a:p>
            <a:pPr indent="0" marL="0">
              <a:buNone/>
            </a:pPr>
            <a:r>
              <a:rPr lang="en-US" sz="1400" dirty="0">
                <a:solidFill>
                  <a:schemeClr val="tx2"/>
                </a:solidFill>
              </a:rPr>
              <a:t>Hash-checked; rows ≤ t only; 76 leakage tests</a:t>
            </a:r>
            <a:endParaRPr lang="en-US" sz="1400" dirty="0"/>
          </a:p>
        </p:txBody>
      </p:sp>
      <p:sp>
        <p:nvSpPr>
          <p:cNvPr id="6" name="arch-arrow-0"/>
          <p:cNvSpPr/>
          <p:nvPr/>
        </p:nvSpPr>
        <p:spPr>
          <a:xfrm>
            <a:off x="2167128" y="1988820"/>
            <a:ext cx="182880" cy="0"/>
          </a:xfrm>
          <a:prstGeom prst="line">
            <a:avLst/>
          </a:prstGeom>
          <a:noFill/>
          <a:ln w="19050">
            <a:solidFill>
              <a:schemeClr val="accent4"/>
            </a:solidFill>
            <a:prstDash val="solid"/>
            <a:tailEnd type="triangle"/>
          </a:ln>
        </p:spPr>
      </p:sp>
      <p:sp>
        <p:nvSpPr>
          <p:cNvPr id="7" name="arch-box-1"/>
          <p:cNvSpPr/>
          <p:nvPr/>
        </p:nvSpPr>
        <p:spPr>
          <a:xfrm>
            <a:off x="2368296" y="1417320"/>
            <a:ext cx="1691640" cy="1143000"/>
          </a:xfrm>
          <a:prstGeom prst="roundRect">
            <a:avLst>
              <a:gd name="adj" fmla="val 6400"/>
            </a:avLst>
          </a:prstGeom>
          <a:solidFill>
            <a:schemeClr val="tx2"/>
          </a:solidFill>
          <a:ln w="12700">
            <a:solidFill>
              <a:schemeClr val="tx2"/>
            </a:solidFill>
            <a:prstDash val="solid"/>
          </a:ln>
          <a:effectLst>
            <a:outerShdw sx="100000" sy="100000" kx="0" ky="0" algn="bl" rotWithShape="0" blurRad="76200" dist="25400" dir="5400000">
              <a:srgbClr val="1F2B44">
                <a:alpha val="18000"/>
              </a:srgbClr>
            </a:outerShdw>
          </a:effectLst>
        </p:spPr>
      </p:sp>
      <p:sp>
        <p:nvSpPr>
          <p:cNvPr id="8" name="Text 6"/>
          <p:cNvSpPr txBox="1"/>
          <p:nvPr/>
        </p:nvSpPr>
        <p:spPr>
          <a:xfrm>
            <a:off x="2459736" y="1463040"/>
            <a:ext cx="1508760" cy="1051560"/>
          </a:xfrm>
          <a:prstGeom prst="rect">
            <a:avLst/>
          </a:prstGeom>
          <a:noFill/>
          <a:ln/>
        </p:spPr>
        <p:txBody>
          <a:bodyPr wrap="square" lIns="0" tIns="0" rIns="0" bIns="0" rtlCol="0" anchor="ctr"/>
          <a:lstStyle/>
          <a:p>
            <a:pPr algn="ctr" indent="0" marL="0">
              <a:buNone/>
            </a:pPr>
            <a:r>
              <a:rPr lang="en-US" sz="1600" b="1" dirty="0">
                <a:solidFill>
                  <a:schemeClr val="bg1"/>
                </a:solidFill>
              </a:rPr>
              <a:t>Causal features</a:t>
            </a:r>
            <a:endParaRPr lang="en-US" sz="1600" dirty="0"/>
          </a:p>
        </p:txBody>
      </p:sp>
      <p:sp>
        <p:nvSpPr>
          <p:cNvPr id="9" name="Text 7"/>
          <p:cNvSpPr txBox="1"/>
          <p:nvPr/>
        </p:nvSpPr>
        <p:spPr>
          <a:xfrm>
            <a:off x="2368296" y="2697480"/>
            <a:ext cx="1691640" cy="1371600"/>
          </a:xfrm>
          <a:prstGeom prst="rect">
            <a:avLst/>
          </a:prstGeom>
          <a:noFill/>
          <a:ln/>
        </p:spPr>
        <p:txBody>
          <a:bodyPr wrap="square" lIns="635" tIns="635" rIns="635" bIns="635" rtlCol="0" anchor="t"/>
          <a:lstStyle/>
          <a:p>
            <a:pPr indent="0" marL="0">
              <a:buNone/>
            </a:pPr>
            <a:r>
              <a:rPr lang="en-US" sz="1400" dirty="0">
                <a:solidFill>
                  <a:schemeClr val="tx2"/>
                </a:solidFill>
              </a:rPr>
              <a:t>Scale-free, vol-normalised, clipped at ±5σ</a:t>
            </a:r>
            <a:endParaRPr lang="en-US" sz="1400" dirty="0"/>
          </a:p>
        </p:txBody>
      </p:sp>
      <p:sp>
        <p:nvSpPr>
          <p:cNvPr id="10" name="arch-arrow-1"/>
          <p:cNvSpPr/>
          <p:nvPr/>
        </p:nvSpPr>
        <p:spPr>
          <a:xfrm>
            <a:off x="4078224" y="1988820"/>
            <a:ext cx="182880" cy="0"/>
          </a:xfrm>
          <a:prstGeom prst="line">
            <a:avLst/>
          </a:prstGeom>
          <a:noFill/>
          <a:ln w="19050">
            <a:solidFill>
              <a:schemeClr val="accent4"/>
            </a:solidFill>
            <a:prstDash val="solid"/>
            <a:tailEnd type="triangle"/>
          </a:ln>
        </p:spPr>
      </p:sp>
      <p:sp>
        <p:nvSpPr>
          <p:cNvPr id="11" name="arch-box-2"/>
          <p:cNvSpPr/>
          <p:nvPr/>
        </p:nvSpPr>
        <p:spPr>
          <a:xfrm>
            <a:off x="4279392" y="1417320"/>
            <a:ext cx="1691640" cy="1143000"/>
          </a:xfrm>
          <a:prstGeom prst="roundRect">
            <a:avLst>
              <a:gd name="adj" fmla="val 6400"/>
            </a:avLst>
          </a:prstGeom>
          <a:solidFill>
            <a:schemeClr val="accent1"/>
          </a:solidFill>
          <a:ln w="12700">
            <a:solidFill>
              <a:schemeClr val="accent1"/>
            </a:solidFill>
            <a:prstDash val="solid"/>
          </a:ln>
          <a:effectLst>
            <a:outerShdw sx="100000" sy="100000" kx="0" ky="0" algn="bl" rotWithShape="0" blurRad="76200" dist="25400" dir="5400000">
              <a:srgbClr val="1F2B44">
                <a:alpha val="18000"/>
              </a:srgbClr>
            </a:outerShdw>
          </a:effectLst>
        </p:spPr>
      </p:sp>
      <p:sp>
        <p:nvSpPr>
          <p:cNvPr id="12" name="Text 10"/>
          <p:cNvSpPr txBox="1"/>
          <p:nvPr/>
        </p:nvSpPr>
        <p:spPr>
          <a:xfrm>
            <a:off x="4370832" y="1463040"/>
            <a:ext cx="1508760" cy="1051560"/>
          </a:xfrm>
          <a:prstGeom prst="rect">
            <a:avLst/>
          </a:prstGeom>
          <a:noFill/>
          <a:ln/>
        </p:spPr>
        <p:txBody>
          <a:bodyPr wrap="square" lIns="0" tIns="0" rIns="0" bIns="0" rtlCol="0" anchor="ctr"/>
          <a:lstStyle/>
          <a:p>
            <a:pPr algn="ctr" indent="0" marL="0">
              <a:buNone/>
            </a:pPr>
            <a:r>
              <a:rPr lang="en-US" sz="1600" b="1" dirty="0">
                <a:solidFill>
                  <a:schemeClr val="bg1"/>
                </a:solidFill>
              </a:rPr>
              <a:t>Regimes + MC crashes</a:t>
            </a:r>
            <a:endParaRPr lang="en-US" sz="1600" dirty="0"/>
          </a:p>
        </p:txBody>
      </p:sp>
      <p:sp>
        <p:nvSpPr>
          <p:cNvPr id="13" name="Text 11"/>
          <p:cNvSpPr txBox="1"/>
          <p:nvPr/>
        </p:nvSpPr>
        <p:spPr>
          <a:xfrm>
            <a:off x="4279392" y="2697480"/>
            <a:ext cx="1691640" cy="1371600"/>
          </a:xfrm>
          <a:prstGeom prst="rect">
            <a:avLst/>
          </a:prstGeom>
          <a:noFill/>
          <a:ln/>
        </p:spPr>
        <p:txBody>
          <a:bodyPr wrap="square" lIns="635" tIns="635" rIns="635" bIns="635" rtlCol="0" anchor="t"/>
          <a:lstStyle/>
          <a:p>
            <a:pPr indent="0" marL="0">
              <a:buNone/>
            </a:pPr>
            <a:r>
              <a:rPr lang="en-US" sz="1400" dirty="0">
                <a:solidFill>
                  <a:schemeClr val="tx2"/>
                </a:solidFill>
              </a:rPr>
              <a:t>Vol/RSI regimes; 10,000 simulated crash rows per fold</a:t>
            </a:r>
            <a:endParaRPr lang="en-US" sz="1400" dirty="0"/>
          </a:p>
        </p:txBody>
      </p:sp>
      <p:sp>
        <p:nvSpPr>
          <p:cNvPr id="14" name="arch-arrow-2"/>
          <p:cNvSpPr/>
          <p:nvPr/>
        </p:nvSpPr>
        <p:spPr>
          <a:xfrm>
            <a:off x="5989320" y="1988820"/>
            <a:ext cx="182880" cy="0"/>
          </a:xfrm>
          <a:prstGeom prst="line">
            <a:avLst/>
          </a:prstGeom>
          <a:noFill/>
          <a:ln w="19050">
            <a:solidFill>
              <a:schemeClr val="accent4"/>
            </a:solidFill>
            <a:prstDash val="solid"/>
            <a:tailEnd type="triangle"/>
          </a:ln>
        </p:spPr>
      </p:sp>
      <p:sp>
        <p:nvSpPr>
          <p:cNvPr id="15" name="arch-box-3"/>
          <p:cNvSpPr/>
          <p:nvPr/>
        </p:nvSpPr>
        <p:spPr>
          <a:xfrm>
            <a:off x="6190488" y="1417320"/>
            <a:ext cx="1691640" cy="1143000"/>
          </a:xfrm>
          <a:prstGeom prst="roundRect">
            <a:avLst>
              <a:gd name="adj" fmla="val 6400"/>
            </a:avLst>
          </a:prstGeom>
          <a:solidFill>
            <a:schemeClr val="accent1"/>
          </a:solidFill>
          <a:ln w="12700">
            <a:solidFill>
              <a:schemeClr val="accent1"/>
            </a:solidFill>
            <a:prstDash val="solid"/>
          </a:ln>
          <a:effectLst>
            <a:outerShdw sx="100000" sy="100000" kx="0" ky="0" algn="bl" rotWithShape="0" blurRad="76200" dist="25400" dir="5400000">
              <a:srgbClr val="1F2B44">
                <a:alpha val="18000"/>
              </a:srgbClr>
            </a:outerShdw>
          </a:effectLst>
        </p:spPr>
      </p:sp>
      <p:sp>
        <p:nvSpPr>
          <p:cNvPr id="16" name="Text 14"/>
          <p:cNvSpPr txBox="1"/>
          <p:nvPr/>
        </p:nvSpPr>
        <p:spPr>
          <a:xfrm>
            <a:off x="6281928" y="1463040"/>
            <a:ext cx="1508760" cy="1051560"/>
          </a:xfrm>
          <a:prstGeom prst="rect">
            <a:avLst/>
          </a:prstGeom>
          <a:noFill/>
          <a:ln/>
        </p:spPr>
        <p:txBody>
          <a:bodyPr wrap="square" lIns="0" tIns="0" rIns="0" bIns="0" rtlCol="0" anchor="ctr"/>
          <a:lstStyle/>
          <a:p>
            <a:pPr algn="ctr" indent="0" marL="0">
              <a:buNone/>
            </a:pPr>
            <a:r>
              <a:rPr lang="en-US" sz="1600" b="1" dirty="0">
                <a:solidFill>
                  <a:schemeClr val="bg1"/>
                </a:solidFill>
              </a:rPr>
              <a:t>Robust losses</a:t>
            </a:r>
            <a:endParaRPr lang="en-US" sz="1600" dirty="0"/>
          </a:p>
        </p:txBody>
      </p:sp>
      <p:sp>
        <p:nvSpPr>
          <p:cNvPr id="17" name="Text 15"/>
          <p:cNvSpPr txBox="1"/>
          <p:nvPr/>
        </p:nvSpPr>
        <p:spPr>
          <a:xfrm>
            <a:off x="6190488" y="2697480"/>
            <a:ext cx="1691640" cy="1371600"/>
          </a:xfrm>
          <a:prstGeom prst="rect">
            <a:avLst/>
          </a:prstGeom>
          <a:noFill/>
          <a:ln/>
        </p:spPr>
        <p:txBody>
          <a:bodyPr wrap="square" lIns="635" tIns="635" rIns="635" bIns="635" rtlCol="0" anchor="t"/>
          <a:lstStyle/>
          <a:p>
            <a:pPr indent="0" marL="0">
              <a:buNone/>
            </a:pPr>
            <a:r>
              <a:rPr lang="en-US" sz="1400" dirty="0">
                <a:solidFill>
                  <a:schemeClr val="tx2"/>
                </a:solidFill>
              </a:rPr>
              <a:t>Worst-regime (exact max) + MC augmentation</a:t>
            </a:r>
            <a:endParaRPr lang="en-US" sz="1400" dirty="0"/>
          </a:p>
        </p:txBody>
      </p:sp>
      <p:sp>
        <p:nvSpPr>
          <p:cNvPr id="18" name="arch-arrow-3"/>
          <p:cNvSpPr/>
          <p:nvPr/>
        </p:nvSpPr>
        <p:spPr>
          <a:xfrm>
            <a:off x="7900416" y="1988820"/>
            <a:ext cx="182880" cy="0"/>
          </a:xfrm>
          <a:prstGeom prst="line">
            <a:avLst/>
          </a:prstGeom>
          <a:noFill/>
          <a:ln w="19050">
            <a:solidFill>
              <a:schemeClr val="accent4"/>
            </a:solidFill>
            <a:prstDash val="solid"/>
            <a:tailEnd type="triangle"/>
          </a:ln>
        </p:spPr>
      </p:sp>
      <p:sp>
        <p:nvSpPr>
          <p:cNvPr id="19" name="arch-box-4"/>
          <p:cNvSpPr/>
          <p:nvPr/>
        </p:nvSpPr>
        <p:spPr>
          <a:xfrm>
            <a:off x="8101584" y="1417320"/>
            <a:ext cx="1691640" cy="1143000"/>
          </a:xfrm>
          <a:prstGeom prst="roundRect">
            <a:avLst>
              <a:gd name="adj" fmla="val 6400"/>
            </a:avLst>
          </a:prstGeom>
          <a:solidFill>
            <a:schemeClr val="tx2"/>
          </a:solidFill>
          <a:ln w="12700">
            <a:solidFill>
              <a:schemeClr val="tx2"/>
            </a:solidFill>
            <a:prstDash val="solid"/>
          </a:ln>
          <a:effectLst>
            <a:outerShdw sx="100000" sy="100000" kx="0" ky="0" algn="bl" rotWithShape="0" blurRad="76200" dist="25400" dir="5400000">
              <a:srgbClr val="1F2B44">
                <a:alpha val="18000"/>
              </a:srgbClr>
            </a:outerShdw>
          </a:effectLst>
        </p:spPr>
      </p:sp>
      <p:sp>
        <p:nvSpPr>
          <p:cNvPr id="20" name="Text 18"/>
          <p:cNvSpPr txBox="1"/>
          <p:nvPr/>
        </p:nvSpPr>
        <p:spPr>
          <a:xfrm>
            <a:off x="8193024" y="1463040"/>
            <a:ext cx="1508760" cy="1051560"/>
          </a:xfrm>
          <a:prstGeom prst="rect">
            <a:avLst/>
          </a:prstGeom>
          <a:noFill/>
          <a:ln/>
        </p:spPr>
        <p:txBody>
          <a:bodyPr wrap="square" lIns="0" tIns="0" rIns="0" bIns="0" rtlCol="0" anchor="ctr"/>
          <a:lstStyle/>
          <a:p>
            <a:pPr algn="ctr" indent="0" marL="0">
              <a:buNone/>
            </a:pPr>
            <a:r>
              <a:rPr lang="en-US" sz="1600" b="1" dirty="0">
                <a:solidFill>
                  <a:schemeClr val="bg1"/>
                </a:solidFill>
              </a:rPr>
              <a:t>Crash-aware hybrid</a:t>
            </a:r>
            <a:endParaRPr lang="en-US" sz="1600" dirty="0"/>
          </a:p>
        </p:txBody>
      </p:sp>
      <p:sp>
        <p:nvSpPr>
          <p:cNvPr id="21" name="Text 19"/>
          <p:cNvSpPr txBox="1"/>
          <p:nvPr/>
        </p:nvSpPr>
        <p:spPr>
          <a:xfrm>
            <a:off x="8101584" y="2697480"/>
            <a:ext cx="1691640" cy="1371600"/>
          </a:xfrm>
          <a:prstGeom prst="rect">
            <a:avLst/>
          </a:prstGeom>
          <a:noFill/>
          <a:ln/>
        </p:spPr>
        <p:txBody>
          <a:bodyPr wrap="square" lIns="635" tIns="635" rIns="635" bIns="635" rtlCol="0" anchor="t"/>
          <a:lstStyle/>
          <a:p>
            <a:pPr indent="0" marL="0">
              <a:buNone/>
            </a:pPr>
            <a:r>
              <a:rPr lang="en-US" sz="1400" dirty="0">
                <a:solidFill>
                  <a:schemeClr val="tx2"/>
                </a:solidFill>
              </a:rPr>
              <a:t>LR + boosting + attention LSTM</a:t>
            </a:r>
            <a:endParaRPr lang="en-US" sz="1400" dirty="0"/>
          </a:p>
        </p:txBody>
      </p:sp>
      <p:sp>
        <p:nvSpPr>
          <p:cNvPr id="22" name="arch-arrow-4"/>
          <p:cNvSpPr/>
          <p:nvPr/>
        </p:nvSpPr>
        <p:spPr>
          <a:xfrm>
            <a:off x="9811512" y="1988820"/>
            <a:ext cx="182880" cy="0"/>
          </a:xfrm>
          <a:prstGeom prst="line">
            <a:avLst/>
          </a:prstGeom>
          <a:noFill/>
          <a:ln w="19050">
            <a:solidFill>
              <a:schemeClr val="accent4"/>
            </a:solidFill>
            <a:prstDash val="solid"/>
            <a:tailEnd type="triangle"/>
          </a:ln>
        </p:spPr>
      </p:sp>
      <p:sp>
        <p:nvSpPr>
          <p:cNvPr id="23" name="arch-box-5"/>
          <p:cNvSpPr/>
          <p:nvPr/>
        </p:nvSpPr>
        <p:spPr>
          <a:xfrm>
            <a:off x="10012680" y="1417320"/>
            <a:ext cx="1691640" cy="1143000"/>
          </a:xfrm>
          <a:prstGeom prst="roundRect">
            <a:avLst>
              <a:gd name="adj" fmla="val 6400"/>
            </a:avLst>
          </a:prstGeom>
          <a:solidFill>
            <a:schemeClr val="tx2"/>
          </a:solidFill>
          <a:ln w="12700">
            <a:solidFill>
              <a:schemeClr val="tx2"/>
            </a:solidFill>
            <a:prstDash val="solid"/>
          </a:ln>
          <a:effectLst>
            <a:outerShdw sx="100000" sy="100000" kx="0" ky="0" algn="bl" rotWithShape="0" blurRad="76200" dist="25400" dir="5400000">
              <a:srgbClr val="1F2B44">
                <a:alpha val="18000"/>
              </a:srgbClr>
            </a:outerShdw>
          </a:effectLst>
        </p:spPr>
      </p:sp>
      <p:sp>
        <p:nvSpPr>
          <p:cNvPr id="24" name="Text 22"/>
          <p:cNvSpPr txBox="1"/>
          <p:nvPr/>
        </p:nvSpPr>
        <p:spPr>
          <a:xfrm>
            <a:off x="10104120" y="1463040"/>
            <a:ext cx="1508760" cy="1051560"/>
          </a:xfrm>
          <a:prstGeom prst="rect">
            <a:avLst/>
          </a:prstGeom>
          <a:noFill/>
          <a:ln/>
        </p:spPr>
        <p:txBody>
          <a:bodyPr wrap="square" lIns="0" tIns="0" rIns="0" bIns="0" rtlCol="0" anchor="ctr"/>
          <a:lstStyle/>
          <a:p>
            <a:pPr algn="ctr" indent="0" marL="0">
              <a:buNone/>
            </a:pPr>
            <a:r>
              <a:rPr lang="en-US" sz="1600" b="1" dirty="0">
                <a:solidFill>
                  <a:schemeClr val="bg1"/>
                </a:solidFill>
              </a:rPr>
              <a:t>Risk-sized signal</a:t>
            </a:r>
            <a:endParaRPr lang="en-US" sz="1600" dirty="0"/>
          </a:p>
        </p:txBody>
      </p:sp>
      <p:sp>
        <p:nvSpPr>
          <p:cNvPr id="25" name="Text 23"/>
          <p:cNvSpPr txBox="1"/>
          <p:nvPr/>
        </p:nvSpPr>
        <p:spPr>
          <a:xfrm>
            <a:off x="10012680" y="2697480"/>
            <a:ext cx="1691640" cy="1371600"/>
          </a:xfrm>
          <a:prstGeom prst="rect">
            <a:avLst/>
          </a:prstGeom>
          <a:noFill/>
          <a:ln/>
        </p:spPr>
        <p:txBody>
          <a:bodyPr wrap="square" lIns="635" tIns="635" rIns="635" bIns="635" rtlCol="0" anchor="t"/>
          <a:lstStyle/>
          <a:p>
            <a:pPr indent="0" marL="0">
              <a:buNone/>
            </a:pPr>
            <a:r>
              <a:rPr lang="en-US" sz="1400" dirty="0">
                <a:solidFill>
                  <a:schemeClr val="tx2"/>
                </a:solidFill>
              </a:rPr>
              <a:t>Regime switch, vol scaling, cost-aware</a:t>
            </a:r>
            <a:endParaRPr lang="en-US" sz="1400" dirty="0"/>
          </a:p>
        </p:txBody>
      </p:sp>
      <p:sp>
        <p:nvSpPr>
          <p:cNvPr id="26" name="arch-callout"/>
          <p:cNvSpPr/>
          <p:nvPr/>
        </p:nvSpPr>
        <p:spPr>
          <a:xfrm>
            <a:off x="457200" y="4343400"/>
            <a:ext cx="11247120" cy="1691640"/>
          </a:xfrm>
          <a:prstGeom prst="roundRect">
            <a:avLst>
              <a:gd name="adj" fmla="val 4324"/>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27" name="Text 25"/>
          <p:cNvSpPr txBox="1"/>
          <p:nvPr/>
        </p:nvSpPr>
        <p:spPr>
          <a:xfrm>
            <a:off x="731520" y="4526280"/>
            <a:ext cx="10698480" cy="1371600"/>
          </a:xfrm>
          <a:prstGeom prst="rect">
            <a:avLst/>
          </a:prstGeom>
          <a:noFill/>
          <a:ln/>
        </p:spPr>
        <p:txBody>
          <a:bodyPr wrap="square" lIns="635" tIns="635" rIns="635" bIns="635" rtlCol="0" anchor="t"/>
          <a:lstStyle/>
          <a:p>
            <a:pPr indent="0" marL="0">
              <a:spcAft>
                <a:spcPts val="800"/>
              </a:spcAft>
              <a:buNone/>
            </a:pPr>
            <a:r>
              <a:rPr lang="en-US" sz="1600" b="1" dirty="0">
                <a:solidFill>
                  <a:schemeClr val="tx1"/>
                </a:solidFill>
              </a:rPr>
              <a:t>Rounds 1–2: </a:t>
            </a:r>
            <a:pPr indent="0" marL="0">
              <a:spcAft>
                <a:spcPts val="800"/>
              </a:spcAft>
              <a:buNone/>
            </a:pPr>
            <a:r>
              <a:rPr lang="en-US" sz="1600" dirty="0">
                <a:solidFill>
                  <a:schemeClr val="tx1"/>
                </a:solidFill>
              </a:rPr>
              <a:t>next-day direction. No model beat the prior on real data, but MC-trained models stopped blowing up on crash inputs.</a:t>
            </a:r>
            <a:endParaRPr lang="en-US" sz="1600" dirty="0"/>
          </a:p>
          <a:p>
            <a:pPr indent="0" marL="0">
              <a:spcAft>
                <a:spcPts val="800"/>
              </a:spcAft>
              <a:buNone/>
            </a:pPr>
            <a:r>
              <a:rPr lang="en-US" sz="1600" b="1" dirty="0">
                <a:solidFill>
                  <a:schemeClr val="tx1"/>
                </a:solidFill>
              </a:rPr>
              <a:t>Round 3: </a:t>
            </a:r>
            <a:pPr indent="0" marL="0">
              <a:spcAft>
                <a:spcPts val="800"/>
              </a:spcAft>
              <a:buNone/>
            </a:pPr>
            <a:r>
              <a:rPr lang="en-US" sz="1600" dirty="0">
                <a:solidFill>
                  <a:schemeClr val="tx1"/>
                </a:solidFill>
              </a:rPr>
              <a:t>signal in [−1, 1] scored as a portfolio (Sharpe, money made, drawdown, cost). Robustness became the edge.</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Features: volatility ratios carry the signal, with zero lookahead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035040" cy="914400"/>
        </p:xfrm>
        <a:graphic>
          <a:graphicData uri="http://schemas.openxmlformats.org/drawingml/2006/table">
            <a:tbl>
              <a:tblPr/>
              <a:tblGrid>
                <a:gridCol w="1417320"/>
                <a:gridCol w="2743200"/>
                <a:gridCol w="187452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F2B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Examples</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F2B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1F2B44"/>
                    </a:solidFill>
                  </a:tcPr>
                </a:tc>
              </a:tr>
              <a:tr h="566928">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Vol ratios</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return ÷ σ, momentum ÷ σ√5, range ÷ σ</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Same scale in calm and crash</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Momentum / trend</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2F7"/>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open/SMA10, SMA10/SMA30, momentum_5</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2F7"/>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Trend state, scale-free</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2F7"/>
                    </a:solidFill>
                  </a:tcPr>
                </a:tc>
              </a:tr>
              <a:tr h="566928">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Lag returns</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open-to-open 1, 3, 5 days; flow and volume lags</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Short memory</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Bar shape</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2F7"/>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(high−low)/open, wicks, close location</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2F7"/>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Intraday pressure</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2F7"/>
                    </a:solidFill>
                  </a:tcPr>
                </a:tc>
              </a:tr>
              <a:tr h="566928">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Same-row close</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close[t] = close[t−5]·(1+mom5[t])</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161B26"/>
                          </a:solidFill>
                          <a:latin typeface="Calibri" pitchFamily="34" charset="0"/>
                          <a:ea typeface="Calibri" pitchFamily="34" charset="-122"/>
                          <a:cs typeface="Calibri" pitchFamily="34" charset="-120"/>
                        </a:rPr>
                        <a:t>Rows ≤ t only; 0.013% error</a:t>
                      </a:r>
                      <a:endParaRPr lang="en-US" sz="13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937760"/>
            <a:ext cx="6035040" cy="1005840"/>
          </a:xfrm>
          <a:prstGeom prst="rect">
            <a:avLst/>
          </a:prstGeom>
          <a:noFill/>
          <a:ln/>
        </p:spPr>
        <p:txBody>
          <a:bodyPr wrap="square" lIns="635" tIns="635" rIns="635" bIns="635" rtlCol="0" anchor="t"/>
          <a:lstStyle/>
          <a:p>
            <a:pPr indent="0" marL="0">
              <a:buNone/>
            </a:pPr>
            <a:r>
              <a:rPr lang="en-US" sz="1400" b="1" dirty="0">
                <a:solidFill>
                  <a:schemeClr val="tx1"/>
                </a:solidFill>
              </a:rPr>
              <a:t>No lookahead: </a:t>
            </a:r>
            <a:pPr indent="0" marL="0">
              <a:buNone/>
            </a:pPr>
            <a:r>
              <a:rPr lang="en-US" sz="1400" dirty="0">
                <a:solidFill>
                  <a:schemeClr val="tx1"/>
                </a:solidFill>
              </a:rPr>
              <a:t>scaler and cutoffs fit on training rows only; tests prove perturbing any later row never changes a feature at t.</a:t>
            </a:r>
            <a:endParaRPr lang="en-US" sz="1400" dirty="0"/>
          </a:p>
        </p:txBody>
      </p:sp>
      <p:graphicFrame>
        <p:nvGraphicFramePr>
          <p:cNvPr id="5" name="Chart 0" descr=""/>
          <p:cNvGraphicFramePr/>
          <p:nvPr/>
        </p:nvGraphicFramePr>
        <p:xfrm>
          <a:off x="6766560" y="1188720"/>
          <a:ext cx="4937760" cy="50292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Validation: chronological, purged, rules fixed before results</a:t>
            </a:r>
            <a:endParaRPr lang="en-US" sz="3200" dirty="0"/>
          </a:p>
        </p:txBody>
      </p:sp>
      <p:sp>
        <p:nvSpPr>
          <p:cNvPr id="3" name="fold-train-0"/>
          <p:cNvSpPr/>
          <p:nvPr/>
        </p:nvSpPr>
        <p:spPr>
          <a:xfrm>
            <a:off x="822960" y="1325880"/>
            <a:ext cx="2968717" cy="256032"/>
          </a:xfrm>
          <a:prstGeom prst="rect">
            <a:avLst/>
          </a:prstGeom>
          <a:solidFill>
            <a:schemeClr val="accent5"/>
          </a:solidFill>
          <a:ln w="12700">
            <a:solidFill>
              <a:schemeClr val="accent5"/>
            </a:solidFill>
            <a:prstDash val="solid"/>
          </a:ln>
        </p:spPr>
      </p:sp>
      <p:sp>
        <p:nvSpPr>
          <p:cNvPr id="4" name="fold-val-0"/>
          <p:cNvSpPr/>
          <p:nvPr/>
        </p:nvSpPr>
        <p:spPr>
          <a:xfrm>
            <a:off x="3805681" y="1325880"/>
            <a:ext cx="343083" cy="256032"/>
          </a:xfrm>
          <a:prstGeom prst="rect">
            <a:avLst/>
          </a:prstGeom>
          <a:solidFill>
            <a:schemeClr val="accent3"/>
          </a:solidFill>
          <a:ln w="12700">
            <a:solidFill>
              <a:schemeClr val="accent3"/>
            </a:solidFill>
            <a:prstDash val="solid"/>
          </a:ln>
        </p:spPr>
      </p:sp>
      <p:sp>
        <p:nvSpPr>
          <p:cNvPr id="5" name="fold-train-1"/>
          <p:cNvSpPr/>
          <p:nvPr/>
        </p:nvSpPr>
        <p:spPr>
          <a:xfrm>
            <a:off x="822960" y="1709928"/>
            <a:ext cx="3318802" cy="256032"/>
          </a:xfrm>
          <a:prstGeom prst="rect">
            <a:avLst/>
          </a:prstGeom>
          <a:solidFill>
            <a:schemeClr val="accent5"/>
          </a:solidFill>
          <a:ln w="12700">
            <a:solidFill>
              <a:schemeClr val="accent5"/>
            </a:solidFill>
            <a:prstDash val="solid"/>
          </a:ln>
        </p:spPr>
      </p:sp>
      <p:sp>
        <p:nvSpPr>
          <p:cNvPr id="6" name="fold-val-1"/>
          <p:cNvSpPr/>
          <p:nvPr/>
        </p:nvSpPr>
        <p:spPr>
          <a:xfrm>
            <a:off x="4155765" y="1709928"/>
            <a:ext cx="343083" cy="256032"/>
          </a:xfrm>
          <a:prstGeom prst="rect">
            <a:avLst/>
          </a:prstGeom>
          <a:solidFill>
            <a:schemeClr val="accent3"/>
          </a:solidFill>
          <a:ln w="12700">
            <a:solidFill>
              <a:schemeClr val="accent3"/>
            </a:solidFill>
            <a:prstDash val="solid"/>
          </a:ln>
        </p:spPr>
      </p:sp>
      <p:sp>
        <p:nvSpPr>
          <p:cNvPr id="7" name="fold-train-2"/>
          <p:cNvSpPr/>
          <p:nvPr/>
        </p:nvSpPr>
        <p:spPr>
          <a:xfrm>
            <a:off x="822960" y="2093976"/>
            <a:ext cx="3668886" cy="256032"/>
          </a:xfrm>
          <a:prstGeom prst="rect">
            <a:avLst/>
          </a:prstGeom>
          <a:solidFill>
            <a:schemeClr val="accent5"/>
          </a:solidFill>
          <a:ln w="12700">
            <a:solidFill>
              <a:schemeClr val="accent5"/>
            </a:solidFill>
            <a:prstDash val="solid"/>
          </a:ln>
        </p:spPr>
      </p:sp>
      <p:sp>
        <p:nvSpPr>
          <p:cNvPr id="8" name="fold-val-2"/>
          <p:cNvSpPr/>
          <p:nvPr/>
        </p:nvSpPr>
        <p:spPr>
          <a:xfrm>
            <a:off x="4505850" y="2093976"/>
            <a:ext cx="343083" cy="256032"/>
          </a:xfrm>
          <a:prstGeom prst="rect">
            <a:avLst/>
          </a:prstGeom>
          <a:solidFill>
            <a:schemeClr val="accent3"/>
          </a:solidFill>
          <a:ln w="12700">
            <a:solidFill>
              <a:schemeClr val="accent3"/>
            </a:solidFill>
            <a:prstDash val="solid"/>
          </a:ln>
        </p:spPr>
      </p:sp>
      <p:sp>
        <p:nvSpPr>
          <p:cNvPr id="9" name="fold-train-3"/>
          <p:cNvSpPr/>
          <p:nvPr/>
        </p:nvSpPr>
        <p:spPr>
          <a:xfrm>
            <a:off x="822960" y="2478024"/>
            <a:ext cx="4018971" cy="256032"/>
          </a:xfrm>
          <a:prstGeom prst="rect">
            <a:avLst/>
          </a:prstGeom>
          <a:solidFill>
            <a:schemeClr val="accent5"/>
          </a:solidFill>
          <a:ln w="12700">
            <a:solidFill>
              <a:schemeClr val="accent5"/>
            </a:solidFill>
            <a:prstDash val="solid"/>
          </a:ln>
        </p:spPr>
      </p:sp>
      <p:sp>
        <p:nvSpPr>
          <p:cNvPr id="10" name="fold-val-3"/>
          <p:cNvSpPr/>
          <p:nvPr/>
        </p:nvSpPr>
        <p:spPr>
          <a:xfrm>
            <a:off x="4855934" y="2478024"/>
            <a:ext cx="343083" cy="256032"/>
          </a:xfrm>
          <a:prstGeom prst="rect">
            <a:avLst/>
          </a:prstGeom>
          <a:solidFill>
            <a:schemeClr val="accent3"/>
          </a:solidFill>
          <a:ln w="12700">
            <a:solidFill>
              <a:schemeClr val="accent3"/>
            </a:solidFill>
            <a:prstDash val="solid"/>
          </a:ln>
        </p:spPr>
      </p:sp>
      <p:sp>
        <p:nvSpPr>
          <p:cNvPr id="11" name="fold-train-4"/>
          <p:cNvSpPr/>
          <p:nvPr/>
        </p:nvSpPr>
        <p:spPr>
          <a:xfrm>
            <a:off x="822960" y="2862072"/>
            <a:ext cx="4369055" cy="256032"/>
          </a:xfrm>
          <a:prstGeom prst="rect">
            <a:avLst/>
          </a:prstGeom>
          <a:solidFill>
            <a:schemeClr val="accent5"/>
          </a:solidFill>
          <a:ln w="12700">
            <a:solidFill>
              <a:schemeClr val="accent5"/>
            </a:solidFill>
            <a:prstDash val="solid"/>
          </a:ln>
        </p:spPr>
      </p:sp>
      <p:sp>
        <p:nvSpPr>
          <p:cNvPr id="12" name="fold-val-4"/>
          <p:cNvSpPr/>
          <p:nvPr/>
        </p:nvSpPr>
        <p:spPr>
          <a:xfrm>
            <a:off x="5206019" y="2862072"/>
            <a:ext cx="343083" cy="256032"/>
          </a:xfrm>
          <a:prstGeom prst="rect">
            <a:avLst/>
          </a:prstGeom>
          <a:solidFill>
            <a:schemeClr val="accent3"/>
          </a:solidFill>
          <a:ln w="12700">
            <a:solidFill>
              <a:schemeClr val="accent3"/>
            </a:solidFill>
            <a:prstDash val="solid"/>
          </a:ln>
        </p:spPr>
      </p:sp>
      <p:sp>
        <p:nvSpPr>
          <p:cNvPr id="13" name="fold-train-5"/>
          <p:cNvSpPr/>
          <p:nvPr/>
        </p:nvSpPr>
        <p:spPr>
          <a:xfrm>
            <a:off x="822960" y="3246120"/>
            <a:ext cx="4719140" cy="256032"/>
          </a:xfrm>
          <a:prstGeom prst="rect">
            <a:avLst/>
          </a:prstGeom>
          <a:solidFill>
            <a:schemeClr val="accent5"/>
          </a:solidFill>
          <a:ln w="12700">
            <a:solidFill>
              <a:schemeClr val="accent5"/>
            </a:solidFill>
            <a:prstDash val="solid"/>
          </a:ln>
        </p:spPr>
      </p:sp>
      <p:sp>
        <p:nvSpPr>
          <p:cNvPr id="14" name="fold-val-5"/>
          <p:cNvSpPr/>
          <p:nvPr/>
        </p:nvSpPr>
        <p:spPr>
          <a:xfrm>
            <a:off x="5556103" y="3246120"/>
            <a:ext cx="343083" cy="256032"/>
          </a:xfrm>
          <a:prstGeom prst="rect">
            <a:avLst/>
          </a:prstGeom>
          <a:solidFill>
            <a:schemeClr val="accent3"/>
          </a:solidFill>
          <a:ln w="12700">
            <a:solidFill>
              <a:schemeClr val="accent3"/>
            </a:solidFill>
            <a:prstDash val="solid"/>
          </a:ln>
        </p:spPr>
      </p:sp>
      <p:sp>
        <p:nvSpPr>
          <p:cNvPr id="15" name="fold-train-6"/>
          <p:cNvSpPr/>
          <p:nvPr/>
        </p:nvSpPr>
        <p:spPr>
          <a:xfrm>
            <a:off x="822960" y="3630168"/>
            <a:ext cx="5069225" cy="256032"/>
          </a:xfrm>
          <a:prstGeom prst="rect">
            <a:avLst/>
          </a:prstGeom>
          <a:solidFill>
            <a:schemeClr val="accent5"/>
          </a:solidFill>
          <a:ln w="12700">
            <a:solidFill>
              <a:schemeClr val="accent5"/>
            </a:solidFill>
            <a:prstDash val="solid"/>
          </a:ln>
        </p:spPr>
      </p:sp>
      <p:sp>
        <p:nvSpPr>
          <p:cNvPr id="16" name="fold-val-6"/>
          <p:cNvSpPr/>
          <p:nvPr/>
        </p:nvSpPr>
        <p:spPr>
          <a:xfrm>
            <a:off x="5906188" y="3630168"/>
            <a:ext cx="343083" cy="256032"/>
          </a:xfrm>
          <a:prstGeom prst="rect">
            <a:avLst/>
          </a:prstGeom>
          <a:solidFill>
            <a:schemeClr val="accent3"/>
          </a:solidFill>
          <a:ln w="12700">
            <a:solidFill>
              <a:schemeClr val="accent3"/>
            </a:solidFill>
            <a:prstDash val="solid"/>
          </a:ln>
        </p:spPr>
      </p:sp>
      <p:sp>
        <p:nvSpPr>
          <p:cNvPr id="17" name="fold-train-7"/>
          <p:cNvSpPr/>
          <p:nvPr/>
        </p:nvSpPr>
        <p:spPr>
          <a:xfrm>
            <a:off x="822960" y="4014216"/>
            <a:ext cx="5419309" cy="256032"/>
          </a:xfrm>
          <a:prstGeom prst="rect">
            <a:avLst/>
          </a:prstGeom>
          <a:solidFill>
            <a:schemeClr val="accent5"/>
          </a:solidFill>
          <a:ln w="12700">
            <a:solidFill>
              <a:schemeClr val="accent5"/>
            </a:solidFill>
            <a:prstDash val="solid"/>
          </a:ln>
        </p:spPr>
      </p:sp>
      <p:sp>
        <p:nvSpPr>
          <p:cNvPr id="18" name="fold-val-7"/>
          <p:cNvSpPr/>
          <p:nvPr/>
        </p:nvSpPr>
        <p:spPr>
          <a:xfrm>
            <a:off x="6256273" y="4014216"/>
            <a:ext cx="343083" cy="256032"/>
          </a:xfrm>
          <a:prstGeom prst="rect">
            <a:avLst/>
          </a:prstGeom>
          <a:solidFill>
            <a:schemeClr val="accent2"/>
          </a:solidFill>
          <a:ln w="12700">
            <a:solidFill>
              <a:schemeClr val="accent2"/>
            </a:solidFill>
            <a:prstDash val="solid"/>
          </a:ln>
        </p:spPr>
      </p:sp>
      <p:sp>
        <p:nvSpPr>
          <p:cNvPr id="19" name="fold-predict"/>
          <p:cNvSpPr/>
          <p:nvPr/>
        </p:nvSpPr>
        <p:spPr>
          <a:xfrm>
            <a:off x="6606357" y="4398264"/>
            <a:ext cx="343083" cy="256032"/>
          </a:xfrm>
          <a:prstGeom prst="rect">
            <a:avLst/>
          </a:prstGeom>
          <a:solidFill>
            <a:schemeClr val="tx2"/>
          </a:solidFill>
          <a:ln w="12700">
            <a:solidFill>
              <a:schemeClr val="tx2"/>
            </a:solidFill>
            <a:prstDash val="solid"/>
          </a:ln>
        </p:spPr>
      </p:sp>
      <p:sp>
        <p:nvSpPr>
          <p:cNvPr id="20" name="Text 18"/>
          <p:cNvSpPr txBox="1"/>
          <p:nvPr/>
        </p:nvSpPr>
        <p:spPr>
          <a:xfrm>
            <a:off x="822960" y="4617720"/>
            <a:ext cx="914400" cy="320040"/>
          </a:xfrm>
          <a:prstGeom prst="rect">
            <a:avLst/>
          </a:prstGeom>
          <a:noFill/>
          <a:ln/>
        </p:spPr>
        <p:txBody>
          <a:bodyPr wrap="square" lIns="635" tIns="635" rIns="635" bIns="635" rtlCol="0" anchor="t"/>
          <a:lstStyle/>
          <a:p>
            <a:pPr indent="0" marL="0">
              <a:buNone/>
            </a:pPr>
            <a:r>
              <a:rPr lang="en-US" sz="1400" dirty="0">
                <a:solidFill>
                  <a:schemeClr val="accent4"/>
                </a:solidFill>
              </a:rPr>
              <a:t>Train</a:t>
            </a:r>
            <a:endParaRPr lang="en-US" sz="1400" dirty="0"/>
          </a:p>
        </p:txBody>
      </p:sp>
      <p:sp>
        <p:nvSpPr>
          <p:cNvPr id="21" name="Text 19"/>
          <p:cNvSpPr txBox="1"/>
          <p:nvPr/>
        </p:nvSpPr>
        <p:spPr>
          <a:xfrm>
            <a:off x="1737360" y="4617720"/>
            <a:ext cx="1097280" cy="320040"/>
          </a:xfrm>
          <a:prstGeom prst="rect">
            <a:avLst/>
          </a:prstGeom>
          <a:noFill/>
          <a:ln/>
        </p:spPr>
        <p:txBody>
          <a:bodyPr wrap="square" lIns="635" tIns="635" rIns="635" bIns="635" rtlCol="0" anchor="t"/>
          <a:lstStyle/>
          <a:p>
            <a:pPr indent="0" marL="0">
              <a:buNone/>
            </a:pPr>
            <a:r>
              <a:rPr lang="en-US" sz="1400" dirty="0">
                <a:solidFill>
                  <a:srgbClr val="B07A1E"/>
                </a:solidFill>
              </a:rPr>
              <a:t>Validate</a:t>
            </a:r>
            <a:endParaRPr lang="en-US" sz="1400" dirty="0"/>
          </a:p>
        </p:txBody>
      </p:sp>
      <p:sp>
        <p:nvSpPr>
          <p:cNvPr id="22" name="Text 20"/>
          <p:cNvSpPr txBox="1"/>
          <p:nvPr/>
        </p:nvSpPr>
        <p:spPr>
          <a:xfrm>
            <a:off x="2834640" y="4617720"/>
            <a:ext cx="1737360" cy="320040"/>
          </a:xfrm>
          <a:prstGeom prst="rect">
            <a:avLst/>
          </a:prstGeom>
          <a:noFill/>
          <a:ln/>
        </p:spPr>
        <p:txBody>
          <a:bodyPr wrap="square" lIns="635" tIns="635" rIns="635" bIns="635" rtlCol="0" anchor="t"/>
          <a:lstStyle/>
          <a:p>
            <a:pPr indent="0" marL="0">
              <a:buNone/>
            </a:pPr>
            <a:r>
              <a:rPr lang="en-US" sz="1400" dirty="0">
                <a:solidFill>
                  <a:schemeClr val="accent2"/>
                </a:solidFill>
              </a:rPr>
              <a:t>Reserved (once)</a:t>
            </a:r>
            <a:endParaRPr lang="en-US" sz="1400" dirty="0"/>
          </a:p>
        </p:txBody>
      </p:sp>
      <p:sp>
        <p:nvSpPr>
          <p:cNvPr id="23" name="Text 21"/>
          <p:cNvSpPr txBox="1"/>
          <p:nvPr/>
        </p:nvSpPr>
        <p:spPr>
          <a:xfrm>
            <a:off x="4572000" y="4617720"/>
            <a:ext cx="2194560" cy="320040"/>
          </a:xfrm>
          <a:prstGeom prst="rect">
            <a:avLst/>
          </a:prstGeom>
          <a:noFill/>
          <a:ln/>
        </p:spPr>
        <p:txBody>
          <a:bodyPr wrap="square" lIns="635" tIns="635" rIns="635" bIns="635" rtlCol="0" anchor="t"/>
          <a:lstStyle/>
          <a:p>
            <a:pPr indent="0" marL="0">
              <a:buNone/>
            </a:pPr>
            <a:r>
              <a:rPr lang="en-US" sz="1400" dirty="0">
                <a:solidFill>
                  <a:schemeClr val="tx2"/>
                </a:solidFill>
              </a:rPr>
              <a:t>Predict 851–900</a:t>
            </a:r>
            <a:endParaRPr lang="en-US" sz="1400" dirty="0"/>
          </a:p>
        </p:txBody>
      </p:sp>
      <p:sp>
        <p:nvSpPr>
          <p:cNvPr id="24" name="Text 22"/>
          <p:cNvSpPr txBox="1"/>
          <p:nvPr/>
        </p:nvSpPr>
        <p:spPr>
          <a:xfrm>
            <a:off x="457200" y="5074920"/>
            <a:ext cx="6492240" cy="1097280"/>
          </a:xfrm>
          <a:prstGeom prst="rect">
            <a:avLst/>
          </a:prstGeom>
          <a:noFill/>
          <a:ln/>
        </p:spPr>
        <p:txBody>
          <a:bodyPr wrap="square" lIns="635" tIns="635" rIns="635" bIns="635" rtlCol="0" anchor="t"/>
          <a:lstStyle/>
          <a:p>
            <a:pPr indent="0" marL="0">
              <a:buNone/>
            </a:pPr>
            <a:r>
              <a:rPr lang="en-US" sz="1400" dirty="0">
                <a:solidFill>
                  <a:schemeClr val="tx1"/>
                </a:solidFill>
              </a:rPr>
              <a:t>One-row purge before every block (label t uses close t+1). Scaler, regime cutoffs and the crash simulator are refit inside each fold on training rows only.</a:t>
            </a:r>
            <a:endParaRPr lang="en-US" sz="1400" dirty="0"/>
          </a:p>
        </p:txBody>
      </p:sp>
      <p:sp>
        <p:nvSpPr>
          <p:cNvPr id="25" name="val-card-0"/>
          <p:cNvSpPr/>
          <p:nvPr/>
        </p:nvSpPr>
        <p:spPr>
          <a:xfrm>
            <a:off x="7406640" y="1280160"/>
            <a:ext cx="429768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26" name="Text 24"/>
          <p:cNvSpPr txBox="1"/>
          <p:nvPr/>
        </p:nvSpPr>
        <p:spPr>
          <a:xfrm>
            <a:off x="7589520" y="1417320"/>
            <a:ext cx="1371600" cy="11430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19</a:t>
            </a:r>
            <a:endParaRPr lang="en-US" sz="3600" dirty="0"/>
          </a:p>
        </p:txBody>
      </p:sp>
      <p:sp>
        <p:nvSpPr>
          <p:cNvPr id="27" name="Text 25"/>
          <p:cNvSpPr txBox="1"/>
          <p:nvPr/>
        </p:nvSpPr>
        <p:spPr>
          <a:xfrm>
            <a:off x="8961120" y="1463040"/>
            <a:ext cx="2606040" cy="1097280"/>
          </a:xfrm>
          <a:prstGeom prst="rect">
            <a:avLst/>
          </a:prstGeom>
          <a:noFill/>
          <a:ln/>
        </p:spPr>
        <p:txBody>
          <a:bodyPr wrap="square" lIns="635" tIns="635" rIns="635" bIns="635" rtlCol="0" anchor="ctr"/>
          <a:lstStyle/>
          <a:p>
            <a:pPr indent="0" marL="0">
              <a:buNone/>
            </a:pPr>
            <a:r>
              <a:rPr lang="en-US" sz="1400" dirty="0">
                <a:solidFill>
                  <a:schemeClr val="tx1"/>
                </a:solidFill>
              </a:rPr>
              <a:t>round-2 configurations: LR and LSTM × 5 loss arms, plus the prior baseline</a:t>
            </a:r>
            <a:endParaRPr lang="en-US" sz="1400" dirty="0"/>
          </a:p>
        </p:txBody>
      </p:sp>
      <p:sp>
        <p:nvSpPr>
          <p:cNvPr id="28" name="val-card-1"/>
          <p:cNvSpPr/>
          <p:nvPr/>
        </p:nvSpPr>
        <p:spPr>
          <a:xfrm>
            <a:off x="7406640" y="2926080"/>
            <a:ext cx="429768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29" name="Text 27"/>
          <p:cNvSpPr txBox="1"/>
          <p:nvPr/>
        </p:nvSpPr>
        <p:spPr>
          <a:xfrm>
            <a:off x="7589520" y="3063240"/>
            <a:ext cx="1371600" cy="11430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Fixed</a:t>
            </a:r>
            <a:endParaRPr lang="en-US" sz="3600" dirty="0"/>
          </a:p>
        </p:txBody>
      </p:sp>
      <p:sp>
        <p:nvSpPr>
          <p:cNvPr id="30" name="Text 28"/>
          <p:cNvSpPr txBox="1"/>
          <p:nvPr/>
        </p:nvSpPr>
        <p:spPr>
          <a:xfrm>
            <a:off x="8961120" y="3108960"/>
            <a:ext cx="2606040" cy="1097280"/>
          </a:xfrm>
          <a:prstGeom prst="rect">
            <a:avLst/>
          </a:prstGeom>
          <a:noFill/>
          <a:ln/>
        </p:spPr>
        <p:txBody>
          <a:bodyPr wrap="square" lIns="635" tIns="635" rIns="635" bIns="635" rtlCol="0" anchor="ctr"/>
          <a:lstStyle/>
          <a:p>
            <a:pPr indent="0" marL="0">
              <a:buNone/>
            </a:pPr>
            <a:r>
              <a:rPr lang="en-US" sz="1400" dirty="0">
                <a:solidFill>
                  <a:schemeClr val="tx1"/>
                </a:solidFill>
              </a:rPr>
              <a:t>hyperparameters; every selection rule written before running</a:t>
            </a:r>
            <a:endParaRPr lang="en-US" sz="1400" dirty="0"/>
          </a:p>
        </p:txBody>
      </p:sp>
      <p:sp>
        <p:nvSpPr>
          <p:cNvPr id="31" name="val-card-2"/>
          <p:cNvSpPr/>
          <p:nvPr/>
        </p:nvSpPr>
        <p:spPr>
          <a:xfrm>
            <a:off x="7406640" y="4572000"/>
            <a:ext cx="429768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32" name="Text 30"/>
          <p:cNvSpPr txBox="1"/>
          <p:nvPr/>
        </p:nvSpPr>
        <p:spPr>
          <a:xfrm>
            <a:off x="7589520" y="4709160"/>
            <a:ext cx="1371600" cy="11430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Stop</a:t>
            </a:r>
            <a:endParaRPr lang="en-US" sz="3600" dirty="0"/>
          </a:p>
        </p:txBody>
      </p:sp>
      <p:sp>
        <p:nvSpPr>
          <p:cNvPr id="33" name="Text 31"/>
          <p:cNvSpPr txBox="1"/>
          <p:nvPr/>
        </p:nvSpPr>
        <p:spPr>
          <a:xfrm>
            <a:off x="8961120" y="4754880"/>
            <a:ext cx="2606040" cy="1097280"/>
          </a:xfrm>
          <a:prstGeom prst="rect">
            <a:avLst/>
          </a:prstGeom>
          <a:noFill/>
          <a:ln/>
        </p:spPr>
        <p:txBody>
          <a:bodyPr wrap="square" lIns="635" tIns="635" rIns="635" bIns="635" rtlCol="0" anchor="ctr"/>
          <a:lstStyle/>
          <a:p>
            <a:pPr indent="0" marL="0">
              <a:buNone/>
            </a:pPr>
            <a:r>
              <a:rPr lang="en-US" sz="1400" dirty="0">
                <a:solidFill>
                  <a:schemeClr val="tx1"/>
                </a:solidFill>
              </a:rPr>
              <a:t>round 2: prior baseline won the rule, so we did not force a model</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Loss regimes: optimise the worst market state, not the average</a:t>
            </a:r>
            <a:endParaRPr lang="en-US" sz="3200" dirty="0"/>
          </a:p>
        </p:txBody>
      </p:sp>
      <p:sp>
        <p:nvSpPr>
          <p:cNvPr id="3" name="arm-card-A"/>
          <p:cNvSpPr/>
          <p:nvPr/>
        </p:nvSpPr>
        <p:spPr>
          <a:xfrm>
            <a:off x="457200" y="123444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4" name="arm-badge-A"/>
          <p:cNvSpPr/>
          <p:nvPr/>
        </p:nvSpPr>
        <p:spPr>
          <a:xfrm>
            <a:off x="640080" y="1417320"/>
            <a:ext cx="457200" cy="457200"/>
          </a:xfrm>
          <a:prstGeom prst="ellipse">
            <a:avLst/>
          </a:prstGeom>
          <a:solidFill>
            <a:schemeClr val="accent4"/>
          </a:solidFill>
          <a:ln w="12700">
            <a:solidFill>
              <a:schemeClr val="accent4"/>
            </a:solidFill>
            <a:prstDash val="solid"/>
          </a:ln>
        </p:spPr>
      </p:sp>
      <p:sp>
        <p:nvSpPr>
          <p:cNvPr id="5" name="Text 3"/>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6" name="Text 4"/>
          <p:cNvSpPr txBox="1"/>
          <p:nvPr/>
        </p:nvSpPr>
        <p:spPr>
          <a:xfrm>
            <a:off x="640080" y="1965960"/>
            <a:ext cx="1783080" cy="411480"/>
          </a:xfrm>
          <a:prstGeom prst="rect">
            <a:avLst/>
          </a:prstGeom>
          <a:noFill/>
          <a:ln/>
        </p:spPr>
        <p:txBody>
          <a:bodyPr wrap="square" lIns="635" tIns="635" rIns="635" bIns="635" rtlCol="0" anchor="t"/>
          <a:lstStyle/>
          <a:p>
            <a:pPr indent="0" marL="0">
              <a:buNone/>
            </a:pPr>
            <a:r>
              <a:rPr lang="en-US" sz="1600" b="1" dirty="0">
                <a:solidFill>
                  <a:schemeClr val="tx2"/>
                </a:solidFill>
              </a:rPr>
              <a:t>Standard</a:t>
            </a:r>
            <a:endParaRPr lang="en-US" sz="1600" dirty="0"/>
          </a:p>
        </p:txBody>
      </p:sp>
      <p:sp>
        <p:nvSpPr>
          <p:cNvPr id="7" name="Text 5"/>
          <p:cNvSpPr txBox="1"/>
          <p:nvPr/>
        </p:nvSpPr>
        <p:spPr>
          <a:xfrm>
            <a:off x="640080" y="2377440"/>
            <a:ext cx="1783080" cy="1280160"/>
          </a:xfrm>
          <a:prstGeom prst="rect">
            <a:avLst/>
          </a:prstGeom>
          <a:noFill/>
          <a:ln/>
        </p:spPr>
        <p:txBody>
          <a:bodyPr wrap="square" lIns="635" tIns="635" rIns="635" bIns="635" rtlCol="0" anchor="t"/>
          <a:lstStyle/>
          <a:p>
            <a:pPr indent="0" marL="0">
              <a:buNone/>
            </a:pPr>
            <a:r>
              <a:rPr lang="en-US" sz="1400" dirty="0">
                <a:solidFill>
                  <a:schemeClr val="tx1"/>
                </a:solidFill>
              </a:rPr>
              <a:t>Mean log loss: the reference</a:t>
            </a:r>
            <a:endParaRPr lang="en-US" sz="1400" dirty="0"/>
          </a:p>
        </p:txBody>
      </p:sp>
      <p:sp>
        <p:nvSpPr>
          <p:cNvPr id="8" name="arm-card-B"/>
          <p:cNvSpPr/>
          <p:nvPr/>
        </p:nvSpPr>
        <p:spPr>
          <a:xfrm>
            <a:off x="2743200" y="123444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9" name="arm-badge-B"/>
          <p:cNvSpPr/>
          <p:nvPr/>
        </p:nvSpPr>
        <p:spPr>
          <a:xfrm>
            <a:off x="2926080" y="1417320"/>
            <a:ext cx="457200" cy="457200"/>
          </a:xfrm>
          <a:prstGeom prst="ellipse">
            <a:avLst/>
          </a:prstGeom>
          <a:solidFill>
            <a:schemeClr val="accent4"/>
          </a:solidFill>
          <a:ln w="12700">
            <a:solidFill>
              <a:schemeClr val="accent4"/>
            </a:solidFill>
            <a:prstDash val="solid"/>
          </a:ln>
        </p:spPr>
      </p:sp>
      <p:sp>
        <p:nvSpPr>
          <p:cNvPr id="10" name="Text 8"/>
          <p:cNvSpPr txBox="1"/>
          <p:nvPr/>
        </p:nvSpPr>
        <p:spPr>
          <a:xfrm>
            <a:off x="29260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Text 9"/>
          <p:cNvSpPr txBox="1"/>
          <p:nvPr/>
        </p:nvSpPr>
        <p:spPr>
          <a:xfrm>
            <a:off x="2926080" y="1965960"/>
            <a:ext cx="1783080" cy="411480"/>
          </a:xfrm>
          <a:prstGeom prst="rect">
            <a:avLst/>
          </a:prstGeom>
          <a:noFill/>
          <a:ln/>
        </p:spPr>
        <p:txBody>
          <a:bodyPr wrap="square" lIns="635" tIns="635" rIns="635" bIns="635" rtlCol="0" anchor="t"/>
          <a:lstStyle/>
          <a:p>
            <a:pPr indent="0" marL="0">
              <a:buNone/>
            </a:pPr>
            <a:r>
              <a:rPr lang="en-US" sz="1600" b="1" dirty="0">
                <a:solidFill>
                  <a:schemeClr val="tx2"/>
                </a:solidFill>
              </a:rPr>
              <a:t>Worst-regime</a:t>
            </a:r>
            <a:endParaRPr lang="en-US" sz="1600" dirty="0"/>
          </a:p>
        </p:txBody>
      </p:sp>
      <p:sp>
        <p:nvSpPr>
          <p:cNvPr id="12" name="Text 10"/>
          <p:cNvSpPr txBox="1"/>
          <p:nvPr/>
        </p:nvSpPr>
        <p:spPr>
          <a:xfrm>
            <a:off x="2926080" y="2377440"/>
            <a:ext cx="1783080" cy="1280160"/>
          </a:xfrm>
          <a:prstGeom prst="rect">
            <a:avLst/>
          </a:prstGeom>
          <a:noFill/>
          <a:ln/>
        </p:spPr>
        <p:txBody>
          <a:bodyPr wrap="square" lIns="635" tIns="635" rIns="635" bIns="635" rtlCol="0" anchor="t"/>
          <a:lstStyle/>
          <a:p>
            <a:pPr indent="0" marL="0">
              <a:buNone/>
            </a:pPr>
            <a:r>
              <a:rPr lang="en-US" sz="1400" dirty="0">
                <a:solidFill>
                  <a:schemeClr val="tx1"/>
                </a:solidFill>
              </a:rPr>
              <a:t>(1−λ)·mean + λ·max over regimes; λ ∈ {0.25, 0.5, 0.75}</a:t>
            </a:r>
            <a:endParaRPr lang="en-US" sz="1400" dirty="0"/>
          </a:p>
        </p:txBody>
      </p:sp>
      <p:sp>
        <p:nvSpPr>
          <p:cNvPr id="13" name="arm-card-C"/>
          <p:cNvSpPr/>
          <p:nvPr/>
        </p:nvSpPr>
        <p:spPr>
          <a:xfrm>
            <a:off x="5029200" y="1234440"/>
            <a:ext cx="2103120" cy="251460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14" name="arm-badge-C"/>
          <p:cNvSpPr/>
          <p:nvPr/>
        </p:nvSpPr>
        <p:spPr>
          <a:xfrm>
            <a:off x="5212080" y="1417320"/>
            <a:ext cx="457200" cy="457200"/>
          </a:xfrm>
          <a:prstGeom prst="ellipse">
            <a:avLst/>
          </a:prstGeom>
          <a:solidFill>
            <a:schemeClr val="accent4"/>
          </a:solidFill>
          <a:ln w="12700">
            <a:solidFill>
              <a:schemeClr val="accent4"/>
            </a:solidFill>
            <a:prstDash val="solid"/>
          </a:ln>
        </p:spPr>
      </p:sp>
      <p:sp>
        <p:nvSpPr>
          <p:cNvPr id="15" name="Text 13"/>
          <p:cNvSpPr txBox="1"/>
          <p:nvPr/>
        </p:nvSpPr>
        <p:spPr>
          <a:xfrm>
            <a:off x="52120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6" name="Text 14"/>
          <p:cNvSpPr txBox="1"/>
          <p:nvPr/>
        </p:nvSpPr>
        <p:spPr>
          <a:xfrm>
            <a:off x="5212080" y="1965960"/>
            <a:ext cx="1783080" cy="411480"/>
          </a:xfrm>
          <a:prstGeom prst="rect">
            <a:avLst/>
          </a:prstGeom>
          <a:noFill/>
          <a:ln/>
        </p:spPr>
        <p:txBody>
          <a:bodyPr wrap="square" lIns="635" tIns="635" rIns="635" bIns="635" rtlCol="0" anchor="t"/>
          <a:lstStyle/>
          <a:p>
            <a:pPr indent="0" marL="0">
              <a:buNone/>
            </a:pPr>
            <a:r>
              <a:rPr lang="en-US" sz="1600" b="1" dirty="0">
                <a:solidFill>
                  <a:schemeClr val="tx2"/>
                </a:solidFill>
              </a:rPr>
              <a:t>Regime-weighted</a:t>
            </a:r>
            <a:endParaRPr lang="en-US" sz="1600" dirty="0"/>
          </a:p>
        </p:txBody>
      </p:sp>
      <p:sp>
        <p:nvSpPr>
          <p:cNvPr id="17" name="Text 15"/>
          <p:cNvSpPr txBox="1"/>
          <p:nvPr/>
        </p:nvSpPr>
        <p:spPr>
          <a:xfrm>
            <a:off x="5212080" y="2377440"/>
            <a:ext cx="1783080" cy="1280160"/>
          </a:xfrm>
          <a:prstGeom prst="rect">
            <a:avLst/>
          </a:prstGeom>
          <a:noFill/>
          <a:ln/>
        </p:spPr>
        <p:txBody>
          <a:bodyPr wrap="square" lIns="635" tIns="635" rIns="635" bIns="635" rtlCol="0" anchor="t"/>
          <a:lstStyle/>
          <a:p>
            <a:pPr indent="0" marL="0">
              <a:buNone/>
            </a:pPr>
            <a:r>
              <a:rPr lang="en-US" sz="1400" dirty="0">
                <a:solidFill>
                  <a:schemeClr val="tx1"/>
                </a:solidFill>
              </a:rPr>
              <a:t>Weight 1.5–3× on high-vol and high-RSI rows</a:t>
            </a:r>
            <a:endParaRPr lang="en-US" sz="1400" dirty="0"/>
          </a:p>
        </p:txBody>
      </p:sp>
      <p:sp>
        <p:nvSpPr>
          <p:cNvPr id="18" name="arm-card-D"/>
          <p:cNvSpPr/>
          <p:nvPr/>
        </p:nvSpPr>
        <p:spPr>
          <a:xfrm>
            <a:off x="7315200" y="1234440"/>
            <a:ext cx="2103120" cy="2514600"/>
          </a:xfrm>
          <a:prstGeom prst="roundRect">
            <a:avLst>
              <a:gd name="adj" fmla="val 3478"/>
            </a:avLst>
          </a:prstGeom>
          <a:solidFill>
            <a:srgbClr val="E3F4F3"/>
          </a:solidFill>
          <a:ln w="12700">
            <a:solidFill>
              <a:srgbClr val="E3F4F3"/>
            </a:solidFill>
            <a:prstDash val="solid"/>
          </a:ln>
          <a:effectLst>
            <a:outerShdw sx="100000" sy="100000" kx="0" ky="0" algn="bl" rotWithShape="0" blurRad="76200" dist="25400" dir="5400000">
              <a:srgbClr val="1F2B44">
                <a:alpha val="18000"/>
              </a:srgbClr>
            </a:outerShdw>
          </a:effectLst>
        </p:spPr>
      </p:sp>
      <p:sp>
        <p:nvSpPr>
          <p:cNvPr id="19" name="arm-badge-D"/>
          <p:cNvSpPr/>
          <p:nvPr/>
        </p:nvSpPr>
        <p:spPr>
          <a:xfrm>
            <a:off x="7498080" y="141732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74980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1" name="Text 19"/>
          <p:cNvSpPr txBox="1"/>
          <p:nvPr/>
        </p:nvSpPr>
        <p:spPr>
          <a:xfrm>
            <a:off x="7498080" y="1965960"/>
            <a:ext cx="1783080" cy="411480"/>
          </a:xfrm>
          <a:prstGeom prst="rect">
            <a:avLst/>
          </a:prstGeom>
          <a:noFill/>
          <a:ln/>
        </p:spPr>
        <p:txBody>
          <a:bodyPr wrap="square" lIns="635" tIns="635" rIns="635" bIns="635" rtlCol="0" anchor="t"/>
          <a:lstStyle/>
          <a:p>
            <a:pPr indent="0" marL="0">
              <a:buNone/>
            </a:pPr>
            <a:r>
              <a:rPr lang="en-US" sz="1600" b="1" dirty="0">
                <a:solidFill>
                  <a:schemeClr val="tx2"/>
                </a:solidFill>
              </a:rPr>
              <a:t>MC augmented</a:t>
            </a:r>
            <a:endParaRPr lang="en-US" sz="1600" dirty="0"/>
          </a:p>
        </p:txBody>
      </p:sp>
      <p:sp>
        <p:nvSpPr>
          <p:cNvPr id="22" name="Text 20"/>
          <p:cNvSpPr txBox="1"/>
          <p:nvPr/>
        </p:nvSpPr>
        <p:spPr>
          <a:xfrm>
            <a:off x="7498080" y="2377440"/>
            <a:ext cx="1783080" cy="1280160"/>
          </a:xfrm>
          <a:prstGeom prst="rect">
            <a:avLst/>
          </a:prstGeom>
          <a:noFill/>
          <a:ln/>
        </p:spPr>
        <p:txBody>
          <a:bodyPr wrap="square" lIns="635" tIns="635" rIns="635" bIns="635" rtlCol="0" anchor="t"/>
          <a:lstStyle/>
          <a:p>
            <a:pPr indent="0" marL="0">
              <a:buNone/>
            </a:pPr>
            <a:r>
              <a:rPr lang="en-US" sz="1400" dirty="0">
                <a:solidFill>
                  <a:schemeClr val="tx1"/>
                </a:solidFill>
              </a:rPr>
              <a:t>Real rows + simulated crashes at 25% weight</a:t>
            </a:r>
            <a:endParaRPr lang="en-US" sz="1400" dirty="0"/>
          </a:p>
        </p:txBody>
      </p:sp>
      <p:sp>
        <p:nvSpPr>
          <p:cNvPr id="23" name="arm-card-E"/>
          <p:cNvSpPr/>
          <p:nvPr/>
        </p:nvSpPr>
        <p:spPr>
          <a:xfrm>
            <a:off x="9601200" y="1234440"/>
            <a:ext cx="2103120" cy="2514600"/>
          </a:xfrm>
          <a:prstGeom prst="roundRect">
            <a:avLst>
              <a:gd name="adj" fmla="val 3478"/>
            </a:avLst>
          </a:prstGeom>
          <a:solidFill>
            <a:srgbClr val="E3F4F3"/>
          </a:solidFill>
          <a:ln w="12700">
            <a:solidFill>
              <a:srgbClr val="E3F4F3"/>
            </a:solidFill>
            <a:prstDash val="solid"/>
          </a:ln>
          <a:effectLst>
            <a:outerShdw sx="100000" sy="100000" kx="0" ky="0" algn="bl" rotWithShape="0" blurRad="76200" dist="25400" dir="5400000">
              <a:srgbClr val="1F2B44">
                <a:alpha val="18000"/>
              </a:srgbClr>
            </a:outerShdw>
          </a:effectLst>
        </p:spPr>
      </p:sp>
      <p:sp>
        <p:nvSpPr>
          <p:cNvPr id="24" name="arm-badge-E"/>
          <p:cNvSpPr/>
          <p:nvPr/>
        </p:nvSpPr>
        <p:spPr>
          <a:xfrm>
            <a:off x="9784080" y="1417320"/>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97840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26" name="Text 24"/>
          <p:cNvSpPr txBox="1"/>
          <p:nvPr/>
        </p:nvSpPr>
        <p:spPr>
          <a:xfrm>
            <a:off x="9784080" y="1965960"/>
            <a:ext cx="1783080" cy="411480"/>
          </a:xfrm>
          <a:prstGeom prst="rect">
            <a:avLst/>
          </a:prstGeom>
          <a:noFill/>
          <a:ln/>
        </p:spPr>
        <p:txBody>
          <a:bodyPr wrap="square" lIns="635" tIns="635" rIns="635" bIns="635" rtlCol="0" anchor="t"/>
          <a:lstStyle/>
          <a:p>
            <a:pPr indent="0" marL="0">
              <a:buNone/>
            </a:pPr>
            <a:r>
              <a:rPr lang="en-US" sz="1600" b="1" dirty="0">
                <a:solidFill>
                  <a:schemeClr val="tx2"/>
                </a:solidFill>
              </a:rPr>
              <a:t>MC + worst-regime</a:t>
            </a:r>
            <a:endParaRPr lang="en-US" sz="1600" dirty="0"/>
          </a:p>
        </p:txBody>
      </p:sp>
      <p:sp>
        <p:nvSpPr>
          <p:cNvPr id="27" name="Text 25"/>
          <p:cNvSpPr txBox="1"/>
          <p:nvPr/>
        </p:nvSpPr>
        <p:spPr>
          <a:xfrm>
            <a:off x="9784080" y="2377440"/>
            <a:ext cx="1783080" cy="1280160"/>
          </a:xfrm>
          <a:prstGeom prst="rect">
            <a:avLst/>
          </a:prstGeom>
          <a:noFill/>
          <a:ln/>
        </p:spPr>
        <p:txBody>
          <a:bodyPr wrap="square" lIns="635" tIns="635" rIns="635" bIns="635" rtlCol="0" anchor="t"/>
          <a:lstStyle/>
          <a:p>
            <a:pPr indent="0" marL="0">
              <a:buNone/>
            </a:pPr>
            <a:r>
              <a:rPr lang="en-US" sz="1400" dirty="0">
                <a:solidFill>
                  <a:schemeClr val="tx1"/>
                </a:solidFill>
              </a:rPr>
              <a:t>D's data, B's objective, sim_crash as a regime</a:t>
            </a:r>
            <a:endParaRPr lang="en-US" sz="1400" dirty="0"/>
          </a:p>
        </p:txBody>
      </p:sp>
      <p:sp>
        <p:nvSpPr>
          <p:cNvPr id="28" name="epigraph-box"/>
          <p:cNvSpPr/>
          <p:nvPr/>
        </p:nvSpPr>
        <p:spPr>
          <a:xfrm>
            <a:off x="457200" y="4023360"/>
            <a:ext cx="11247120" cy="2148840"/>
          </a:xfrm>
          <a:prstGeom prst="roundRect">
            <a:avLst>
              <a:gd name="adj" fmla="val 3404"/>
            </a:avLst>
          </a:prstGeom>
          <a:solidFill>
            <a:schemeClr val="tx2"/>
          </a:solidFill>
          <a:ln w="12700">
            <a:solidFill>
              <a:schemeClr val="tx2"/>
            </a:solidFill>
            <a:prstDash val="solid"/>
          </a:ln>
          <a:effectLst>
            <a:outerShdw sx="100000" sy="100000" kx="0" ky="0" algn="bl" rotWithShape="0" blurRad="76200" dist="25400" dir="5400000">
              <a:srgbClr val="1F2B44">
                <a:alpha val="18000"/>
              </a:srgbClr>
            </a:outerShdw>
          </a:effectLst>
        </p:spPr>
      </p:sp>
      <p:sp>
        <p:nvSpPr>
          <p:cNvPr id="29" name="Text 27"/>
          <p:cNvSpPr txBox="1"/>
          <p:nvPr/>
        </p:nvSpPr>
        <p:spPr>
          <a:xfrm>
            <a:off x="731520" y="4160520"/>
            <a:ext cx="10698480" cy="54864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min (1−λ)·L̄ + λ·t + η·‖w‖²/2    s.t.   L_g ≤ t  for every regime g</a:t>
            </a:r>
            <a:endParaRPr lang="en-US" sz="1800" dirty="0"/>
          </a:p>
        </p:txBody>
      </p:sp>
      <p:sp>
        <p:nvSpPr>
          <p:cNvPr id="30" name="Text 28"/>
          <p:cNvSpPr txBox="1"/>
          <p:nvPr/>
        </p:nvSpPr>
        <p:spPr>
          <a:xfrm>
            <a:off x="731520" y="4754880"/>
            <a:ext cx="10698480" cy="132588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chemeClr val="bg1"/>
                </a:solidFill>
              </a:rPr>
              <a:t>Exact max, not a soft approximation: SLSQP with analytic gradients; all 15 fits converged (violation ≤ 1e-12)</a:t>
            </a:r>
            <a:endParaRPr lang="en-US" sz="1400" dirty="0"/>
          </a:p>
          <a:p>
            <a:pPr marL="342900" indent="-342900">
              <a:spcAft>
                <a:spcPts val="400"/>
              </a:spcAft>
              <a:buSzPct val="100000"/>
              <a:buChar char="•"/>
            </a:pPr>
            <a:r>
              <a:rPr lang="en-US" sz="1400" dirty="0">
                <a:solidFill>
                  <a:schemeClr val="bg1"/>
                </a:solidFill>
              </a:rPr>
              <a:t>η = 1/(n·C), so λ = 0 equals sklearn logistic regression (tested to 1e-10); LSTM uses the exact full-batch group max</a:t>
            </a:r>
            <a:endParaRPr lang="en-US" sz="1400" dirty="0"/>
          </a:p>
          <a:p>
            <a:pPr marL="342900" indent="-342900">
              <a:spcAft>
                <a:spcPts val="400"/>
              </a:spcAft>
              <a:buSzPct val="100000"/>
              <a:buChar char="•"/>
            </a:pPr>
            <a:r>
              <a:rPr lang="en-US" sz="1400" dirty="0">
                <a:solidFill>
                  <a:schemeClr val="bg1"/>
                </a:solidFill>
              </a:rPr>
              <a:t>Regimes: high/low vol, high/low RSI (cutoffs per fold) + sim_crash</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Monte Carlo crash regime: train on crashes history never showed us</a:t>
            </a:r>
            <a:endParaRPr lang="en-US" sz="3200" dirty="0"/>
          </a:p>
        </p:txBody>
      </p:sp>
      <p:sp>
        <p:nvSpPr>
          <p:cNvPr id="3" name="mc-step-0"/>
          <p:cNvSpPr/>
          <p:nvPr/>
        </p:nvSpPr>
        <p:spPr>
          <a:xfrm>
            <a:off x="457200" y="12801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51560" y="1234440"/>
            <a:ext cx="5120640" cy="731520"/>
          </a:xfrm>
          <a:prstGeom prst="rect">
            <a:avLst/>
          </a:prstGeom>
          <a:noFill/>
          <a:ln/>
        </p:spPr>
        <p:txBody>
          <a:bodyPr wrap="square" lIns="635" tIns="635" rIns="635" bIns="635" rtlCol="0" anchor="ctr"/>
          <a:lstStyle/>
          <a:p>
            <a:pPr indent="0" marL="0">
              <a:buNone/>
            </a:pPr>
            <a:r>
              <a:rPr lang="en-US" sz="1400" dirty="0">
                <a:solidFill>
                  <a:schemeClr val="tx1"/>
                </a:solidFill>
              </a:rPr>
              <a:t>Start from a random training day; 60-day real burn-in</a:t>
            </a:r>
            <a:endParaRPr lang="en-US" sz="1400" dirty="0"/>
          </a:p>
        </p:txBody>
      </p:sp>
      <p:sp>
        <p:nvSpPr>
          <p:cNvPr id="6" name="mc-step-1"/>
          <p:cNvSpPr/>
          <p:nvPr/>
        </p:nvSpPr>
        <p:spPr>
          <a:xfrm>
            <a:off x="457200" y="2084832"/>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20848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051560" y="2039112"/>
            <a:ext cx="5120640" cy="731520"/>
          </a:xfrm>
          <a:prstGeom prst="rect">
            <a:avLst/>
          </a:prstGeom>
          <a:noFill/>
          <a:ln/>
        </p:spPr>
        <p:txBody>
          <a:bodyPr wrap="square" lIns="635" tIns="635" rIns="635" bIns="635" rtlCol="0" anchor="ctr"/>
          <a:lstStyle/>
          <a:p>
            <a:pPr indent="0" marL="0">
              <a:buNone/>
            </a:pPr>
            <a:r>
              <a:rPr lang="en-US" sz="1400" dirty="0">
                <a:solidFill>
                  <a:schemeClr val="tx1"/>
                </a:solidFill>
              </a:rPr>
              <a:t>Block-bootstrap training returns (5-day blocks), rescaled to 3× or 5× median volatility</a:t>
            </a:r>
            <a:endParaRPr lang="en-US" sz="1400" dirty="0"/>
          </a:p>
        </p:txBody>
      </p:sp>
      <p:sp>
        <p:nvSpPr>
          <p:cNvPr id="9" name="mc-step-2"/>
          <p:cNvSpPr/>
          <p:nvPr/>
        </p:nvSpPr>
        <p:spPr>
          <a:xfrm>
            <a:off x="457200" y="2889504"/>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889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051560" y="2843784"/>
            <a:ext cx="5120640" cy="731520"/>
          </a:xfrm>
          <a:prstGeom prst="rect">
            <a:avLst/>
          </a:prstGeom>
          <a:noFill/>
          <a:ln/>
        </p:spPr>
        <p:txBody>
          <a:bodyPr wrap="square" lIns="635" tIns="635" rIns="635" bIns="635" rtlCol="0" anchor="ctr"/>
          <a:lstStyle/>
          <a:p>
            <a:pPr indent="0" marL="0">
              <a:buNone/>
            </a:pPr>
            <a:r>
              <a:rPr lang="en-US" sz="1400" dirty="0">
                <a:solidFill>
                  <a:schemeClr val="tx1"/>
                </a:solidFill>
              </a:rPr>
              <a:t>Inject 1–2 single-day drops of −8% to −15%</a:t>
            </a:r>
            <a:endParaRPr lang="en-US" sz="1400" dirty="0"/>
          </a:p>
        </p:txBody>
      </p:sp>
      <p:sp>
        <p:nvSpPr>
          <p:cNvPr id="12" name="mc-step-3"/>
          <p:cNvSpPr/>
          <p:nvPr/>
        </p:nvSpPr>
        <p:spPr>
          <a:xfrm>
            <a:off x="457200" y="3694176"/>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694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051560" y="3648456"/>
            <a:ext cx="5120640" cy="731520"/>
          </a:xfrm>
          <a:prstGeom prst="rect">
            <a:avLst/>
          </a:prstGeom>
          <a:noFill/>
          <a:ln/>
        </p:spPr>
        <p:txBody>
          <a:bodyPr wrap="square" lIns="635" tIns="635" rIns="635" bIns="635" rtlCol="0" anchor="ctr"/>
          <a:lstStyle/>
          <a:p>
            <a:pPr indent="0" marL="0">
              <a:buNone/>
            </a:pPr>
            <a:r>
              <a:rPr lang="en-US" sz="1400" dirty="0">
                <a:solidFill>
                  <a:schemeClr val="tx1"/>
                </a:solidFill>
              </a:rPr>
              <a:t>Rebuild OHLC; recompute SMA, momentum, vol and RSI with verified dataset formulas</a:t>
            </a:r>
            <a:endParaRPr lang="en-US" sz="1400" dirty="0"/>
          </a:p>
        </p:txBody>
      </p:sp>
      <p:sp>
        <p:nvSpPr>
          <p:cNvPr id="15" name="mc-step-4"/>
          <p:cNvSpPr/>
          <p:nvPr/>
        </p:nvSpPr>
        <p:spPr>
          <a:xfrm>
            <a:off x="457200" y="4498848"/>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4498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051560" y="4453128"/>
            <a:ext cx="5120640" cy="731520"/>
          </a:xfrm>
          <a:prstGeom prst="rect">
            <a:avLst/>
          </a:prstGeom>
          <a:noFill/>
          <a:ln/>
        </p:spPr>
        <p:txBody>
          <a:bodyPr wrap="square" lIns="635" tIns="635" rIns="635" bIns="635" rtlCol="0" anchor="ctr"/>
          <a:lstStyle/>
          <a:p>
            <a:pPr indent="0" marL="0">
              <a:buNone/>
            </a:pPr>
            <a:r>
              <a:rPr lang="en-US" sz="1400" dirty="0">
                <a:solidFill>
                  <a:schemeClr val="tx1"/>
                </a:solidFill>
              </a:rPr>
              <a:t>Resample volume and order flow from high-vol training days</a:t>
            </a:r>
            <a:endParaRPr lang="en-US" sz="1400" dirty="0"/>
          </a:p>
        </p:txBody>
      </p:sp>
      <p:sp>
        <p:nvSpPr>
          <p:cNvPr id="18" name="mc-step-5"/>
          <p:cNvSpPr/>
          <p:nvPr/>
        </p:nvSpPr>
        <p:spPr>
          <a:xfrm>
            <a:off x="457200" y="5303520"/>
            <a:ext cx="457200" cy="457200"/>
          </a:xfrm>
          <a:prstGeom prst="ellipse">
            <a:avLst/>
          </a:prstGeom>
          <a:solidFill>
            <a:schemeClr val="accent2"/>
          </a:solidFill>
          <a:ln w="12700">
            <a:solidFill>
              <a:schemeClr val="accent2"/>
            </a:solidFill>
            <a:prstDash val="solid"/>
          </a:ln>
        </p:spPr>
      </p:sp>
      <p:sp>
        <p:nvSpPr>
          <p:cNvPr id="19" name="Text 17"/>
          <p:cNvSpPr txBox="1"/>
          <p:nvPr/>
        </p:nvSpPr>
        <p:spPr>
          <a:xfrm>
            <a:off x="457200" y="5303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8"/>
          <p:cNvSpPr txBox="1"/>
          <p:nvPr/>
        </p:nvSpPr>
        <p:spPr>
          <a:xfrm>
            <a:off x="1051560" y="5257800"/>
            <a:ext cx="5120640" cy="731520"/>
          </a:xfrm>
          <a:prstGeom prst="rect">
            <a:avLst/>
          </a:prstGeom>
          <a:noFill/>
          <a:ln/>
        </p:spPr>
        <p:txBody>
          <a:bodyPr wrap="square" lIns="635" tIns="635" rIns="635" bIns="635" rtlCol="0" anchor="ctr"/>
          <a:lstStyle/>
          <a:p>
            <a:pPr indent="0" marL="0">
              <a:buNone/>
            </a:pPr>
            <a:r>
              <a:rPr lang="en-US" sz="1400" dirty="0">
                <a:solidFill>
                  <a:schemeClr val="tx1"/>
                </a:solidFill>
              </a:rPr>
              <a:t>200 windows × 50 days = 10,000 rows per fold; separate seeds for training and stress test</a:t>
            </a:r>
            <a:endParaRPr lang="en-US" sz="1400" dirty="0"/>
          </a:p>
        </p:txBody>
      </p:sp>
      <p:graphicFrame>
        <p:nvGraphicFramePr>
          <p:cNvPr id="21" name="Chart 0" descr=""/>
          <p:cNvGraphicFramePr/>
          <p:nvPr/>
        </p:nvGraphicFramePr>
        <p:xfrm>
          <a:off x="6400800" y="1188720"/>
          <a:ext cx="5303520" cy="4206240"/>
        </p:xfrm>
        <a:graphic xmlns:a="http://schemas.openxmlformats.org/drawingml/2006/main">
          <a:graphicData uri="http://schemas.openxmlformats.org/drawingml/2006/chart">
            <c:chart xmlns:c="http://schemas.openxmlformats.org/drawingml/2006/chart" r:id="rId1"/>
          </a:graphicData>
        </a:graphic>
      </p:graphicFrame>
      <p:sp>
        <p:nvSpPr>
          <p:cNvPr id="22" name="mc-callout"/>
          <p:cNvSpPr/>
          <p:nvPr/>
        </p:nvSpPr>
        <p:spPr>
          <a:xfrm>
            <a:off x="6400800" y="5532120"/>
            <a:ext cx="5303520" cy="685800"/>
          </a:xfrm>
          <a:prstGeom prst="roundRect">
            <a:avLst>
              <a:gd name="adj" fmla="val 10667"/>
            </a:avLst>
          </a:prstGeom>
          <a:solidFill>
            <a:srgbClr val="FBE7E1"/>
          </a:solidFill>
          <a:ln w="12700">
            <a:solidFill>
              <a:srgbClr val="FBE7E1"/>
            </a:solidFill>
            <a:prstDash val="solid"/>
          </a:ln>
          <a:effectLst>
            <a:outerShdw sx="100000" sy="100000" kx="0" ky="0" algn="bl" rotWithShape="0" blurRad="76200" dist="25400" dir="5400000">
              <a:srgbClr val="1F2B44">
                <a:alpha val="18000"/>
              </a:srgbClr>
            </a:outerShdw>
          </a:effectLst>
        </p:spPr>
      </p:sp>
      <p:sp>
        <p:nvSpPr>
          <p:cNvPr id="23" name="Text 20"/>
          <p:cNvSpPr txBox="1"/>
          <p:nvPr/>
        </p:nvSpPr>
        <p:spPr>
          <a:xfrm>
            <a:off x="6583680" y="5596128"/>
            <a:ext cx="5029200" cy="566928"/>
          </a:xfrm>
          <a:prstGeom prst="rect">
            <a:avLst/>
          </a:prstGeom>
          <a:noFill/>
          <a:ln/>
        </p:spPr>
        <p:txBody>
          <a:bodyPr wrap="square" lIns="635" tIns="635" rIns="635" bIns="635" rtlCol="0" anchor="ctr"/>
          <a:lstStyle/>
          <a:p>
            <a:pPr indent="0" marL="0">
              <a:buNone/>
            </a:pPr>
            <a:r>
              <a:rPr lang="en-US" sz="1400" b="1" dirty="0">
                <a:solidFill>
                  <a:schemeClr val="tx1"/>
                </a:solidFill>
              </a:rPr>
              <a:t>MC training cut crash-case loss 1.22 → 0.70</a:t>
            </a:r>
            <a:pPr indent="0" marL="0">
              <a:buNone/>
            </a:pPr>
            <a:r>
              <a:rPr lang="en-US" sz="1400" dirty="0">
                <a:solidFill>
                  <a:schemeClr val="tx1"/>
                </a:solidFill>
              </a:rPr>
              <a:t> (synthetic labels: robustness, not skill)</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Flash-crash adaptation: detect, size, control</a:t>
            </a:r>
            <a:endParaRPr lang="en-US" sz="3200" dirty="0"/>
          </a:p>
        </p:txBody>
      </p:sp>
      <p:sp>
        <p:nvSpPr>
          <p:cNvPr id="3" name="risk-badge-0"/>
          <p:cNvSpPr/>
          <p:nvPr/>
        </p:nvSpPr>
        <p:spPr>
          <a:xfrm>
            <a:off x="457200" y="1280160"/>
            <a:ext cx="457200" cy="457200"/>
          </a:xfrm>
          <a:prstGeom prst="ellipse">
            <a:avLst/>
          </a:prstGeom>
          <a:solidFill>
            <a:schemeClr val="accent2"/>
          </a:solidFill>
          <a:ln w="12700">
            <a:solidFill>
              <a:schemeClr val="accent2"/>
            </a:solidFill>
            <a:prstDash val="solid"/>
          </a:ln>
        </p:spPr>
      </p:sp>
      <p:sp>
        <p:nvSpPr>
          <p:cNvPr id="4" name="Text 2"/>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51560" y="1261872"/>
            <a:ext cx="4754880" cy="411480"/>
          </a:xfrm>
          <a:prstGeom prst="rect">
            <a:avLst/>
          </a:prstGeom>
          <a:noFill/>
          <a:ln/>
        </p:spPr>
        <p:txBody>
          <a:bodyPr wrap="square" lIns="635" tIns="635" rIns="635" bIns="635" rtlCol="0" anchor="t"/>
          <a:lstStyle/>
          <a:p>
            <a:pPr indent="0" marL="0">
              <a:buNone/>
            </a:pPr>
            <a:r>
              <a:rPr lang="en-US" sz="1800" b="1" dirty="0">
                <a:solidFill>
                  <a:schemeClr val="tx2"/>
                </a:solidFill>
              </a:rPr>
              <a:t>Detect</a:t>
            </a:r>
            <a:endParaRPr lang="en-US" sz="1800" dirty="0"/>
          </a:p>
        </p:txBody>
      </p:sp>
      <p:sp>
        <p:nvSpPr>
          <p:cNvPr id="6" name="Text 4"/>
          <p:cNvSpPr txBox="1"/>
          <p:nvPr/>
        </p:nvSpPr>
        <p:spPr>
          <a:xfrm>
            <a:off x="1051560" y="1691640"/>
            <a:ext cx="4937760" cy="1051560"/>
          </a:xfrm>
          <a:prstGeom prst="rect">
            <a:avLst/>
          </a:prstGeom>
          <a:noFill/>
          <a:ln/>
        </p:spPr>
        <p:txBody>
          <a:bodyPr wrap="square" lIns="635" tIns="635" rIns="635" bIns="635" rtlCol="0" anchor="t"/>
          <a:lstStyle/>
          <a:p>
            <a:pPr indent="0" marL="0">
              <a:buNone/>
            </a:pPr>
            <a:r>
              <a:rPr lang="en-US" sz="1400" dirty="0">
                <a:solidFill>
                  <a:schemeClr val="tx1"/>
                </a:solidFill>
              </a:rPr>
              <a:t>volatility_20 above anything in training → crash regime; switch from long-bias blend to the crash-trained ensemble</a:t>
            </a:r>
            <a:endParaRPr lang="en-US" sz="1400" dirty="0"/>
          </a:p>
        </p:txBody>
      </p:sp>
      <p:sp>
        <p:nvSpPr>
          <p:cNvPr id="7" name="risk-badge-1"/>
          <p:cNvSpPr/>
          <p:nvPr/>
        </p:nvSpPr>
        <p:spPr>
          <a:xfrm>
            <a:off x="457200" y="288036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45720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051560" y="2862072"/>
            <a:ext cx="4754880" cy="411480"/>
          </a:xfrm>
          <a:prstGeom prst="rect">
            <a:avLst/>
          </a:prstGeom>
          <a:noFill/>
          <a:ln/>
        </p:spPr>
        <p:txBody>
          <a:bodyPr wrap="square" lIns="635" tIns="635" rIns="635" bIns="635" rtlCol="0" anchor="t"/>
          <a:lstStyle/>
          <a:p>
            <a:pPr indent="0" marL="0">
              <a:buNone/>
            </a:pPr>
            <a:r>
              <a:rPr lang="en-US" sz="1800" b="1" dirty="0">
                <a:solidFill>
                  <a:schemeClr val="tx2"/>
                </a:solidFill>
              </a:rPr>
              <a:t>Size</a:t>
            </a:r>
            <a:endParaRPr lang="en-US" sz="1800" dirty="0"/>
          </a:p>
        </p:txBody>
      </p:sp>
      <p:sp>
        <p:nvSpPr>
          <p:cNvPr id="10" name="Text 8"/>
          <p:cNvSpPr txBox="1"/>
          <p:nvPr/>
        </p:nvSpPr>
        <p:spPr>
          <a:xfrm>
            <a:off x="1051560" y="3291840"/>
            <a:ext cx="4937760" cy="1051560"/>
          </a:xfrm>
          <a:prstGeom prst="rect">
            <a:avLst/>
          </a:prstGeom>
          <a:noFill/>
          <a:ln/>
        </p:spPr>
        <p:txBody>
          <a:bodyPr wrap="square" lIns="635" tIns="635" rIns="635" bIns="635" rtlCol="0" anchor="t"/>
          <a:lstStyle/>
          <a:p>
            <a:pPr indent="0" marL="0">
              <a:buNone/>
            </a:pPr>
            <a:r>
              <a:rPr lang="en-US" sz="1400" dirty="0">
                <a:solidFill>
                  <a:schemeClr val="tx1"/>
                </a:solidFill>
              </a:rPr>
              <a:t>signal = clip(5·(2p−1)) × min(1, σ_median/σ_t): exposure shrinks 3–6× automatically in the crash</a:t>
            </a:r>
            <a:endParaRPr lang="en-US" sz="1400" dirty="0"/>
          </a:p>
        </p:txBody>
      </p:sp>
      <p:sp>
        <p:nvSpPr>
          <p:cNvPr id="11" name="risk-badge-2"/>
          <p:cNvSpPr/>
          <p:nvPr/>
        </p:nvSpPr>
        <p:spPr>
          <a:xfrm>
            <a:off x="457200" y="448056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457200" y="4480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51560" y="4462272"/>
            <a:ext cx="4754880" cy="411480"/>
          </a:xfrm>
          <a:prstGeom prst="rect">
            <a:avLst/>
          </a:prstGeom>
          <a:noFill/>
          <a:ln/>
        </p:spPr>
        <p:txBody>
          <a:bodyPr wrap="square" lIns="635" tIns="635" rIns="635" bIns="635" rtlCol="0" anchor="t"/>
          <a:lstStyle/>
          <a:p>
            <a:pPr indent="0" marL="0">
              <a:buNone/>
            </a:pPr>
            <a:r>
              <a:rPr lang="en-US" sz="1800" b="1" dirty="0">
                <a:solidFill>
                  <a:schemeClr val="tx2"/>
                </a:solidFill>
              </a:rPr>
              <a:t>Control</a:t>
            </a:r>
            <a:endParaRPr lang="en-US" sz="1800" dirty="0"/>
          </a:p>
        </p:txBody>
      </p:sp>
      <p:sp>
        <p:nvSpPr>
          <p:cNvPr id="14" name="Text 12"/>
          <p:cNvSpPr txBox="1"/>
          <p:nvPr/>
        </p:nvSpPr>
        <p:spPr>
          <a:xfrm>
            <a:off x="1051560" y="4892040"/>
            <a:ext cx="4937760" cy="1051560"/>
          </a:xfrm>
          <a:prstGeom prst="rect">
            <a:avLst/>
          </a:prstGeom>
          <a:noFill/>
          <a:ln/>
        </p:spPr>
        <p:txBody>
          <a:bodyPr wrap="square" lIns="635" tIns="635" rIns="635" bIns="635" rtlCol="0" anchor="t"/>
          <a:lstStyle/>
          <a:p>
            <a:pPr indent="0" marL="0">
              <a:buNone/>
            </a:pPr>
            <a:r>
              <a:rPr lang="en-US" sz="1400" dirty="0">
                <a:solidFill>
                  <a:schemeClr val="tx1"/>
                </a:solidFill>
              </a:rPr>
              <a:t>Backtest net of 10 bps per unit change; drawdown caps 15% real / 25% MC; turnover tracked</a:t>
            </a:r>
            <a:endParaRPr lang="en-US" sz="1400" dirty="0"/>
          </a:p>
        </p:txBody>
      </p:sp>
      <p:graphicFrame>
        <p:nvGraphicFramePr>
          <p:cNvPr id="15" name="Chart 0" descr=""/>
          <p:cNvGraphicFramePr/>
          <p:nvPr/>
        </p:nvGraphicFramePr>
        <p:xfrm>
          <a:off x="6309360" y="1188720"/>
          <a:ext cx="5394960" cy="429768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6309360" y="5623560"/>
            <a:ext cx="5394960" cy="594360"/>
          </a:xfrm>
          <a:prstGeom prst="rect">
            <a:avLst/>
          </a:prstGeom>
          <a:noFill/>
          <a:ln/>
        </p:spPr>
        <p:txBody>
          <a:bodyPr wrap="square" lIns="635" tIns="635" rIns="635" bIns="635" rtlCol="0" anchor="t"/>
          <a:lstStyle/>
          <a:p>
            <a:pPr indent="0" marL="0">
              <a:buNone/>
            </a:pPr>
            <a:r>
              <a:rPr lang="en-US" sz="1400" i="1" dirty="0">
                <a:solidFill>
                  <a:schemeClr val="tx2"/>
                </a:solidFill>
              </a:rPr>
              <a:t>Rule: maximise ½ real + ½ crash Sharpe within the drawdown caps. Only the regime switch is positive on both.</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Results: +12.7% with 1.8% drawdown while the market fell 9.2%</a:t>
            </a:r>
            <a:endParaRPr lang="en-US" sz="3200" dirty="0"/>
          </a:p>
        </p:txBody>
      </p:sp>
      <p:graphicFrame>
        <p:nvGraphicFramePr>
          <p:cNvPr id="3" name="Chart 0" descr=""/>
          <p:cNvGraphicFramePr/>
          <p:nvPr/>
        </p:nvGraphicFramePr>
        <p:xfrm>
          <a:off x="457200" y="1188720"/>
          <a:ext cx="7680960" cy="5029200"/>
        </p:xfrm>
        <a:graphic xmlns:a="http://schemas.openxmlformats.org/drawingml/2006/main">
          <a:graphicData uri="http://schemas.openxmlformats.org/drawingml/2006/chart">
            <c:chart xmlns:c="http://schemas.openxmlformats.org/drawingml/2006/chart" r:id="rId1"/>
          </a:graphicData>
        </a:graphic>
      </p:graphicFrame>
      <p:sp>
        <p:nvSpPr>
          <p:cNvPr id="4" name="res-card-0"/>
          <p:cNvSpPr/>
          <p:nvPr/>
        </p:nvSpPr>
        <p:spPr>
          <a:xfrm>
            <a:off x="8412480" y="1188720"/>
            <a:ext cx="3291840" cy="1463040"/>
          </a:xfrm>
          <a:prstGeom prst="roundRect">
            <a:avLst>
              <a:gd name="adj" fmla="val 5000"/>
            </a:avLst>
          </a:prstGeom>
          <a:solidFill>
            <a:schemeClr val="tx2"/>
          </a:solidFill>
          <a:ln w="12700">
            <a:solidFill>
              <a:schemeClr val="tx2"/>
            </a:solidFill>
            <a:prstDash val="solid"/>
          </a:ln>
          <a:effectLst>
            <a:outerShdw sx="100000" sy="100000" kx="0" ky="0" algn="bl" rotWithShape="0" blurRad="76200" dist="25400" dir="5400000">
              <a:srgbClr val="1F2B44">
                <a:alpha val="18000"/>
              </a:srgbClr>
            </a:outerShdw>
          </a:effectLst>
        </p:spPr>
      </p:sp>
      <p:sp>
        <p:nvSpPr>
          <p:cNvPr id="5" name="Text 2"/>
          <p:cNvSpPr txBox="1"/>
          <p:nvPr/>
        </p:nvSpPr>
        <p:spPr>
          <a:xfrm>
            <a:off x="8595360" y="1280160"/>
            <a:ext cx="292608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53.0</a:t>
            </a:r>
            <a:endParaRPr lang="en-US" sz="4000" dirty="0"/>
          </a:p>
        </p:txBody>
      </p:sp>
      <p:sp>
        <p:nvSpPr>
          <p:cNvPr id="6" name="Text 3"/>
          <p:cNvSpPr txBox="1"/>
          <p:nvPr/>
        </p:nvSpPr>
        <p:spPr>
          <a:xfrm>
            <a:off x="8595360" y="2057400"/>
            <a:ext cx="2926080" cy="502920"/>
          </a:xfrm>
          <a:prstGeom prst="rect">
            <a:avLst/>
          </a:prstGeom>
          <a:noFill/>
          <a:ln/>
        </p:spPr>
        <p:txBody>
          <a:bodyPr wrap="square" lIns="635" tIns="635" rIns="635" bIns="635" rtlCol="0" anchor="t"/>
          <a:lstStyle/>
          <a:p>
            <a:pPr indent="0" marL="0">
              <a:buNone/>
            </a:pPr>
            <a:r>
              <a:rPr lang="en-US" sz="1400" dirty="0">
                <a:solidFill>
                  <a:schemeClr val="bg1"/>
                </a:solidFill>
              </a:rPr>
              <a:t>Leaderboard: v3 (v1 35.8, v4 36.4)</a:t>
            </a:r>
            <a:endParaRPr lang="en-US" sz="1400" dirty="0"/>
          </a:p>
        </p:txBody>
      </p:sp>
      <p:sp>
        <p:nvSpPr>
          <p:cNvPr id="7" name="res-card-1"/>
          <p:cNvSpPr/>
          <p:nvPr/>
        </p:nvSpPr>
        <p:spPr>
          <a:xfrm>
            <a:off x="8412480" y="2880360"/>
            <a:ext cx="329184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8" name="Text 5"/>
          <p:cNvSpPr txBox="1"/>
          <p:nvPr/>
        </p:nvSpPr>
        <p:spPr>
          <a:xfrm>
            <a:off x="8595360" y="2971800"/>
            <a:ext cx="292608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4.75</a:t>
            </a:r>
            <a:endParaRPr lang="en-US" sz="4000" dirty="0"/>
          </a:p>
        </p:txBody>
      </p:sp>
      <p:sp>
        <p:nvSpPr>
          <p:cNvPr id="9" name="Text 6"/>
          <p:cNvSpPr txBox="1"/>
          <p:nvPr/>
        </p:nvSpPr>
        <p:spPr>
          <a:xfrm>
            <a:off x="8595360" y="3749040"/>
            <a:ext cx="2926080" cy="502920"/>
          </a:xfrm>
          <a:prstGeom prst="rect">
            <a:avLst/>
          </a:prstGeom>
          <a:noFill/>
          <a:ln/>
        </p:spPr>
        <p:txBody>
          <a:bodyPr wrap="square" lIns="635" tIns="635" rIns="635" bIns="635" rtlCol="0" anchor="t"/>
          <a:lstStyle/>
          <a:p>
            <a:pPr indent="0" marL="0">
              <a:buNone/>
            </a:pPr>
            <a:r>
              <a:rPr lang="en-US" sz="1400" dirty="0">
                <a:solidFill>
                  <a:schemeClr val="tx1"/>
                </a:solidFill>
              </a:rPr>
              <a:t>Sharpe in the crash (v1 1.65)</a:t>
            </a:r>
            <a:endParaRPr lang="en-US" sz="1400" dirty="0"/>
          </a:p>
        </p:txBody>
      </p:sp>
      <p:sp>
        <p:nvSpPr>
          <p:cNvPr id="10" name="res-card-2"/>
          <p:cNvSpPr/>
          <p:nvPr/>
        </p:nvSpPr>
        <p:spPr>
          <a:xfrm>
            <a:off x="8412480" y="4572000"/>
            <a:ext cx="329184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11" name="Text 8"/>
          <p:cNvSpPr txBox="1"/>
          <p:nvPr/>
        </p:nvSpPr>
        <p:spPr>
          <a:xfrm>
            <a:off x="8595360" y="4663440"/>
            <a:ext cx="292608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73%</a:t>
            </a:r>
            <a:endParaRPr lang="en-US" sz="4000" dirty="0"/>
          </a:p>
        </p:txBody>
      </p:sp>
      <p:sp>
        <p:nvSpPr>
          <p:cNvPr id="12" name="Text 9"/>
          <p:cNvSpPr txBox="1"/>
          <p:nvPr/>
        </p:nvSpPr>
        <p:spPr>
          <a:xfrm>
            <a:off x="8595360" y="5440680"/>
            <a:ext cx="2926080" cy="502920"/>
          </a:xfrm>
          <a:prstGeom prst="rect">
            <a:avLst/>
          </a:prstGeom>
          <a:noFill/>
          <a:ln/>
        </p:spPr>
        <p:txBody>
          <a:bodyPr wrap="square" lIns="635" tIns="635" rIns="635" bIns="635" rtlCol="0" anchor="t"/>
          <a:lstStyle/>
          <a:p>
            <a:pPr indent="0" marL="0">
              <a:buNone/>
            </a:pPr>
            <a:r>
              <a:rPr lang="en-US" sz="1400" dirty="0">
                <a:solidFill>
                  <a:schemeClr val="tx1"/>
                </a:solidFill>
              </a:rPr>
              <a:t>Days the v3 call was right</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Failure case and limitations we can defend</a:t>
            </a:r>
            <a:endParaRPr lang="en-US" sz="3200" dirty="0"/>
          </a:p>
        </p:txBody>
      </p:sp>
      <p:sp>
        <p:nvSpPr>
          <p:cNvPr id="3" name="fail-card"/>
          <p:cNvSpPr/>
          <p:nvPr/>
        </p:nvSpPr>
        <p:spPr>
          <a:xfrm>
            <a:off x="457200" y="1234440"/>
            <a:ext cx="5486400" cy="4937760"/>
          </a:xfrm>
          <a:prstGeom prst="roundRect">
            <a:avLst>
              <a:gd name="adj" fmla="val 1481"/>
            </a:avLst>
          </a:prstGeom>
          <a:solidFill>
            <a:srgbClr val="FBE7E1"/>
          </a:solidFill>
          <a:ln w="12700">
            <a:solidFill>
              <a:srgbClr val="FBE7E1"/>
            </a:solidFill>
            <a:prstDash val="solid"/>
          </a:ln>
          <a:effectLst>
            <a:outerShdw sx="100000" sy="100000" kx="0" ky="0" algn="bl" rotWithShape="0" blurRad="76200" dist="25400" dir="5400000">
              <a:srgbClr val="1F2B44">
                <a:alpha val="18000"/>
              </a:srgbClr>
            </a:outerShdw>
          </a:effectLst>
        </p:spPr>
      </p:sp>
      <p:sp>
        <p:nvSpPr>
          <p:cNvPr id="4" name="Text 2"/>
          <p:cNvSpPr txBox="1"/>
          <p:nvPr/>
        </p:nvSpPr>
        <p:spPr>
          <a:xfrm>
            <a:off x="685800" y="1371600"/>
            <a:ext cx="5029200" cy="457200"/>
          </a:xfrm>
          <a:prstGeom prst="rect">
            <a:avLst/>
          </a:prstGeom>
          <a:noFill/>
          <a:ln/>
        </p:spPr>
        <p:txBody>
          <a:bodyPr wrap="square" lIns="635" tIns="635" rIns="635" bIns="635" rtlCol="0" anchor="t"/>
          <a:lstStyle/>
          <a:p>
            <a:pPr indent="0" marL="0">
              <a:buNone/>
            </a:pPr>
            <a:r>
              <a:rPr lang="en-US" sz="1800" b="1" dirty="0">
                <a:solidFill>
                  <a:schemeClr val="tx2"/>
                </a:solidFill>
              </a:rPr>
              <a:t>Why smoothing (v4) dropped to 36.4</a:t>
            </a:r>
            <a:endParaRPr lang="en-US" sz="1800" dirty="0"/>
          </a:p>
        </p:txBody>
      </p:sp>
      <p:sp>
        <p:nvSpPr>
          <p:cNvPr id="5" name="Text 3"/>
          <p:cNvSpPr txBox="1"/>
          <p:nvPr/>
        </p:nvSpPr>
        <p:spPr>
          <a:xfrm>
            <a:off x="685800" y="1920240"/>
            <a:ext cx="5029200" cy="41148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chemeClr val="tx1"/>
                </a:solidFill>
              </a:rPr>
              <a:t>The crash reversed daily (autocorrelation −0.16 vs +0.13 in history); yesterday's call was right only 29% of days, and smoothing mixes it in</a:t>
            </a:r>
            <a:endParaRPr lang="en-US" sz="1400" dirty="0"/>
          </a:p>
          <a:p>
            <a:pPr marL="342900" indent="-342900">
              <a:spcAft>
                <a:spcPts val="800"/>
              </a:spcAft>
              <a:buSzPct val="100000"/>
              <a:buChar char="•"/>
            </a:pPr>
            <a:r>
              <a:rPr lang="en-US" sz="1400" dirty="0">
                <a:solidFill>
                  <a:schemeClr val="tx1"/>
                </a:solidFill>
              </a:rPr>
              <a:t>Smoothing shrank positions under the organizer's 0.05 flat threshold: 38 of 50 days flat</a:t>
            </a:r>
            <a:endParaRPr lang="en-US" sz="1400" dirty="0"/>
          </a:p>
          <a:p>
            <a:pPr marL="342900" indent="-342900">
              <a:spcAft>
                <a:spcPts val="800"/>
              </a:spcAft>
              <a:buSzPct val="100000"/>
              <a:buChar char="•"/>
            </a:pPr>
            <a:r>
              <a:rPr lang="en-US" sz="1400" dirty="0">
                <a:solidFill>
                  <a:schemeClr val="tx1"/>
                </a:solidFill>
              </a:rPr>
              <a:t>The score rewards money made, not only Sharpe</a:t>
            </a:r>
            <a:endParaRPr lang="en-US" sz="1400" dirty="0"/>
          </a:p>
          <a:p>
            <a:pPr marL="342900" indent="-342900">
              <a:spcAft>
                <a:spcPts val="800"/>
              </a:spcAft>
              <a:buSzPct val="100000"/>
              <a:buChar char="•"/>
            </a:pPr>
            <a:r>
              <a:rPr lang="en-US" sz="1400" dirty="0">
                <a:solidFill>
                  <a:schemeClr val="tx1"/>
                </a:solidFill>
              </a:rPr>
              <a:t>Our history and simulator both trend, so they favoured smoothing</a:t>
            </a:r>
            <a:endParaRPr lang="en-US" sz="1400" dirty="0"/>
          </a:p>
        </p:txBody>
      </p:sp>
      <p:sp>
        <p:nvSpPr>
          <p:cNvPr id="6" name="limits-card"/>
          <p:cNvSpPr/>
          <p:nvPr/>
        </p:nvSpPr>
        <p:spPr>
          <a:xfrm>
            <a:off x="6217920" y="1234440"/>
            <a:ext cx="5486400" cy="4937760"/>
          </a:xfrm>
          <a:prstGeom prst="roundRect">
            <a:avLst>
              <a:gd name="adj" fmla="val 1481"/>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7" name="Text 5"/>
          <p:cNvSpPr txBox="1"/>
          <p:nvPr/>
        </p:nvSpPr>
        <p:spPr>
          <a:xfrm>
            <a:off x="6446520" y="1371600"/>
            <a:ext cx="5029200" cy="457200"/>
          </a:xfrm>
          <a:prstGeom prst="rect">
            <a:avLst/>
          </a:prstGeom>
          <a:noFill/>
          <a:ln/>
        </p:spPr>
        <p:txBody>
          <a:bodyPr wrap="square" lIns="635" tIns="635" rIns="635" bIns="635" rtlCol="0" anchor="t"/>
          <a:lstStyle/>
          <a:p>
            <a:pPr indent="0" marL="0">
              <a:buNone/>
            </a:pPr>
            <a:r>
              <a:rPr lang="en-US" sz="1800" b="1" dirty="0">
                <a:solidFill>
                  <a:schemeClr val="tx2"/>
                </a:solidFill>
              </a:rPr>
              <a:t>Assumptions and limitations</a:t>
            </a:r>
            <a:endParaRPr lang="en-US" sz="1800" dirty="0"/>
          </a:p>
        </p:txBody>
      </p:sp>
      <p:sp>
        <p:nvSpPr>
          <p:cNvPr id="8" name="Text 6"/>
          <p:cNvSpPr txBox="1"/>
          <p:nvPr/>
        </p:nvSpPr>
        <p:spPr>
          <a:xfrm>
            <a:off x="6446520" y="1920240"/>
            <a:ext cx="5029200" cy="41148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chemeClr val="tx1"/>
                </a:solidFill>
              </a:rPr>
              <a:t>Target inferred: next-close direction (849/849 rows)</a:t>
            </a:r>
            <a:endParaRPr lang="en-US" sz="1400" dirty="0"/>
          </a:p>
          <a:p>
            <a:pPr marL="342900" indent="-342900">
              <a:spcAft>
                <a:spcPts val="800"/>
              </a:spcAft>
              <a:buSzPct val="100000"/>
              <a:buChar char="•"/>
            </a:pPr>
            <a:r>
              <a:rPr lang="en-US" sz="1400" dirty="0">
                <a:solidFill>
                  <a:schemeClr val="tx1"/>
                </a:solidFill>
              </a:rPr>
              <a:t>Same-row timing: indicators at t are known when trading t</a:t>
            </a:r>
            <a:endParaRPr lang="en-US" sz="1400" dirty="0"/>
          </a:p>
          <a:p>
            <a:pPr marL="342900" indent="-342900">
              <a:spcAft>
                <a:spcPts val="800"/>
              </a:spcAft>
              <a:buSzPct val="100000"/>
              <a:buChar char="•"/>
            </a:pPr>
            <a:r>
              <a:rPr lang="en-US" sz="1400" dirty="0">
                <a:solidFill>
                  <a:schemeClr val="tx1"/>
                </a:solidFill>
              </a:rPr>
              <a:t>No real directional edge in calm markets (rounds 1–2)</a:t>
            </a:r>
            <a:endParaRPr lang="en-US" sz="1400" dirty="0"/>
          </a:p>
          <a:p>
            <a:pPr marL="342900" indent="-342900">
              <a:spcAft>
                <a:spcPts val="800"/>
              </a:spcAft>
              <a:buSzPct val="100000"/>
              <a:buChar char="•"/>
            </a:pPr>
            <a:r>
              <a:rPr lang="en-US" sz="1400" dirty="0">
                <a:solidFill>
                  <a:schemeClr val="tx1"/>
                </a:solidFill>
              </a:rPr>
              <a:t>Simulator choices (3×/5× vol, −8% to −15% shocks) are designed, not estimated</a:t>
            </a:r>
            <a:endParaRPr lang="en-US" sz="1400" dirty="0"/>
          </a:p>
          <a:p>
            <a:pPr marL="342900" indent="-342900">
              <a:spcAft>
                <a:spcPts val="800"/>
              </a:spcAft>
              <a:buSzPct val="100000"/>
              <a:buChar char="•"/>
            </a:pPr>
            <a:r>
              <a:rPr lang="en-US" sz="1400" dirty="0">
                <a:solidFill>
                  <a:schemeClr val="tx1"/>
                </a:solidFill>
              </a:rPr>
              <a:t>50-day blocks: Sharpe standard error ≈ 2.2</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Future scope: technically sound extensions of this architecture</a:t>
            </a:r>
            <a:endParaRPr lang="en-US" sz="3200" dirty="0"/>
          </a:p>
        </p:txBody>
      </p:sp>
      <p:sp>
        <p:nvSpPr>
          <p:cNvPr id="3" name="future-card-0"/>
          <p:cNvSpPr/>
          <p:nvPr/>
        </p:nvSpPr>
        <p:spPr>
          <a:xfrm>
            <a:off x="457200" y="1234440"/>
            <a:ext cx="3611880" cy="2331720"/>
          </a:xfrm>
          <a:prstGeom prst="roundRect">
            <a:avLst>
              <a:gd name="adj" fmla="val 3137"/>
            </a:avLst>
          </a:prstGeom>
          <a:solidFill>
            <a:srgbClr val="E3F4F3"/>
          </a:solidFill>
          <a:ln w="12700">
            <a:solidFill>
              <a:srgbClr val="E3F4F3"/>
            </a:solidFill>
            <a:prstDash val="solid"/>
          </a:ln>
          <a:effectLst>
            <a:outerShdw sx="100000" sy="100000" kx="0" ky="0" algn="bl" rotWithShape="0" blurRad="76200" dist="25400" dir="5400000">
              <a:srgbClr val="1F2B44">
                <a:alpha val="18000"/>
              </a:srgbClr>
            </a:outerShdw>
          </a:effectLst>
        </p:spPr>
      </p:sp>
      <p:sp>
        <p:nvSpPr>
          <p:cNvPr id="4" name="future-badge-0"/>
          <p:cNvSpPr/>
          <p:nvPr/>
        </p:nvSpPr>
        <p:spPr>
          <a:xfrm>
            <a:off x="640080" y="141732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417320"/>
            <a:ext cx="2697480" cy="502920"/>
          </a:xfrm>
          <a:prstGeom prst="rect">
            <a:avLst/>
          </a:prstGeom>
          <a:noFill/>
          <a:ln/>
        </p:spPr>
        <p:txBody>
          <a:bodyPr wrap="square" lIns="635" tIns="635" rIns="635" bIns="635" rtlCol="0" anchor="ctr"/>
          <a:lstStyle/>
          <a:p>
            <a:pPr indent="0" marL="0">
              <a:buNone/>
            </a:pPr>
            <a:r>
              <a:rPr lang="en-US" sz="1600" b="1" dirty="0">
                <a:solidFill>
                  <a:schemeClr val="tx2"/>
                </a:solidFill>
              </a:rPr>
              <a:t>MC risk engine</a:t>
            </a:r>
            <a:endParaRPr lang="en-US" sz="1600" dirty="0"/>
          </a:p>
        </p:txBody>
      </p:sp>
      <p:sp>
        <p:nvSpPr>
          <p:cNvPr id="7" name="Text 5"/>
          <p:cNvSpPr txBox="1"/>
          <p:nvPr/>
        </p:nvSpPr>
        <p:spPr>
          <a:xfrm>
            <a:off x="640080" y="2011680"/>
            <a:ext cx="3291840" cy="1463040"/>
          </a:xfrm>
          <a:prstGeom prst="rect">
            <a:avLst/>
          </a:prstGeom>
          <a:noFill/>
          <a:ln/>
        </p:spPr>
        <p:txBody>
          <a:bodyPr wrap="square" lIns="635" tIns="635" rIns="635" bIns="635" rtlCol="0" anchor="t"/>
          <a:lstStyle/>
          <a:p>
            <a:pPr indent="0" marL="0">
              <a:buNone/>
            </a:pPr>
            <a:r>
              <a:rPr lang="en-US" sz="1400" dirty="0">
                <a:solidFill>
                  <a:schemeClr val="tx1"/>
                </a:solidFill>
              </a:rPr>
              <a:t>Regime-switching and jump-diffusion paths, including reversal crashes; report VaR/CVaR, drawdown and ruin probability; CVaR-constrained sizing</a:t>
            </a:r>
            <a:endParaRPr lang="en-US" sz="1400" dirty="0"/>
          </a:p>
        </p:txBody>
      </p:sp>
      <p:sp>
        <p:nvSpPr>
          <p:cNvPr id="8" name="future-card-1"/>
          <p:cNvSpPr/>
          <p:nvPr/>
        </p:nvSpPr>
        <p:spPr>
          <a:xfrm>
            <a:off x="4251960" y="1234440"/>
            <a:ext cx="3611880" cy="2331720"/>
          </a:xfrm>
          <a:prstGeom prst="roundRect">
            <a:avLst>
              <a:gd name="adj" fmla="val 3137"/>
            </a:avLst>
          </a:prstGeom>
          <a:solidFill>
            <a:srgbClr val="E3F4F3"/>
          </a:solidFill>
          <a:ln w="12700">
            <a:solidFill>
              <a:srgbClr val="E3F4F3"/>
            </a:solidFill>
            <a:prstDash val="solid"/>
          </a:ln>
          <a:effectLst>
            <a:outerShdw sx="100000" sy="100000" kx="0" ky="0" algn="bl" rotWithShape="0" blurRad="76200" dist="25400" dir="5400000">
              <a:srgbClr val="1F2B44">
                <a:alpha val="18000"/>
              </a:srgbClr>
            </a:outerShdw>
          </a:effectLst>
        </p:spPr>
      </p:sp>
      <p:sp>
        <p:nvSpPr>
          <p:cNvPr id="9" name="future-badge-1"/>
          <p:cNvSpPr/>
          <p:nvPr/>
        </p:nvSpPr>
        <p:spPr>
          <a:xfrm>
            <a:off x="4434840" y="14173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43484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029200" y="1417320"/>
            <a:ext cx="2697480" cy="502920"/>
          </a:xfrm>
          <a:prstGeom prst="rect">
            <a:avLst/>
          </a:prstGeom>
          <a:noFill/>
          <a:ln/>
        </p:spPr>
        <p:txBody>
          <a:bodyPr wrap="square" lIns="635" tIns="635" rIns="635" bIns="635" rtlCol="0" anchor="ctr"/>
          <a:lstStyle/>
          <a:p>
            <a:pPr indent="0" marL="0">
              <a:buNone/>
            </a:pPr>
            <a:r>
              <a:rPr lang="en-US" sz="1600" b="1" dirty="0">
                <a:solidFill>
                  <a:schemeClr val="tx2"/>
                </a:solidFill>
              </a:rPr>
              <a:t>RL agent in the MC crash simulator</a:t>
            </a:r>
            <a:endParaRPr lang="en-US" sz="1600" dirty="0"/>
          </a:p>
        </p:txBody>
      </p:sp>
      <p:sp>
        <p:nvSpPr>
          <p:cNvPr id="12" name="Text 10"/>
          <p:cNvSpPr txBox="1"/>
          <p:nvPr/>
        </p:nvSpPr>
        <p:spPr>
          <a:xfrm>
            <a:off x="4434840" y="2011680"/>
            <a:ext cx="3291840" cy="1463040"/>
          </a:xfrm>
          <a:prstGeom prst="rect">
            <a:avLst/>
          </a:prstGeom>
          <a:noFill/>
          <a:ln/>
        </p:spPr>
        <p:txBody>
          <a:bodyPr wrap="square" lIns="635" tIns="635" rIns="635" bIns="635" rtlCol="0" anchor="t"/>
          <a:lstStyle/>
          <a:p>
            <a:pPr indent="0" marL="0">
              <a:buNone/>
            </a:pPr>
            <a:r>
              <a:rPr lang="en-US" sz="1400" dirty="0">
                <a:solidFill>
                  <a:schemeClr val="tx1"/>
                </a:solidFill>
              </a:rPr>
              <a:t>Not on the 50 real crash rows (too few, would fail in calm markets). Train in the simulator with calm, crash, trend and reversal regimes; reward = differential Sharpe − cost − drawdown</a:t>
            </a:r>
            <a:endParaRPr lang="en-US" sz="1400" dirty="0"/>
          </a:p>
        </p:txBody>
      </p:sp>
      <p:sp>
        <p:nvSpPr>
          <p:cNvPr id="13" name="future-card-2"/>
          <p:cNvSpPr/>
          <p:nvPr/>
        </p:nvSpPr>
        <p:spPr>
          <a:xfrm>
            <a:off x="8046720" y="1234440"/>
            <a:ext cx="361188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14" name="future-badge-2"/>
          <p:cNvSpPr/>
          <p:nvPr/>
        </p:nvSpPr>
        <p:spPr>
          <a:xfrm>
            <a:off x="8229600" y="1417320"/>
            <a:ext cx="457200" cy="457200"/>
          </a:xfrm>
          <a:prstGeom prst="ellipse">
            <a:avLst/>
          </a:prstGeom>
          <a:solidFill>
            <a:schemeClr val="accent4"/>
          </a:solidFill>
          <a:ln w="12700">
            <a:solidFill>
              <a:schemeClr val="accent4"/>
            </a:solidFill>
            <a:prstDash val="solid"/>
          </a:ln>
        </p:spPr>
      </p:sp>
      <p:sp>
        <p:nvSpPr>
          <p:cNvPr id="15" name="Text 13"/>
          <p:cNvSpPr txBox="1"/>
          <p:nvPr/>
        </p:nvSpPr>
        <p:spPr>
          <a:xfrm>
            <a:off x="82296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823960" y="1417320"/>
            <a:ext cx="2697480" cy="502920"/>
          </a:xfrm>
          <a:prstGeom prst="rect">
            <a:avLst/>
          </a:prstGeom>
          <a:noFill/>
          <a:ln/>
        </p:spPr>
        <p:txBody>
          <a:bodyPr wrap="square" lIns="635" tIns="635" rIns="635" bIns="635" rtlCol="0" anchor="ctr"/>
          <a:lstStyle/>
          <a:p>
            <a:pPr indent="0" marL="0">
              <a:buNone/>
            </a:pPr>
            <a:r>
              <a:rPr lang="en-US" sz="1600" b="1" dirty="0">
                <a:solidFill>
                  <a:schemeClr val="tx2"/>
                </a:solidFill>
              </a:rPr>
              <a:t>Regime detection</a:t>
            </a:r>
            <a:endParaRPr lang="en-US" sz="1600" dirty="0"/>
          </a:p>
        </p:txBody>
      </p:sp>
      <p:sp>
        <p:nvSpPr>
          <p:cNvPr id="17" name="Text 15"/>
          <p:cNvSpPr txBox="1"/>
          <p:nvPr/>
        </p:nvSpPr>
        <p:spPr>
          <a:xfrm>
            <a:off x="8229600" y="2011680"/>
            <a:ext cx="3291840" cy="1463040"/>
          </a:xfrm>
          <a:prstGeom prst="rect">
            <a:avLst/>
          </a:prstGeom>
          <a:noFill/>
          <a:ln/>
        </p:spPr>
        <p:txBody>
          <a:bodyPr wrap="square" lIns="635" tIns="635" rIns="635" bIns="635" rtlCol="0" anchor="t"/>
          <a:lstStyle/>
          <a:p>
            <a:pPr indent="0" marL="0">
              <a:buNone/>
            </a:pPr>
            <a:r>
              <a:rPr lang="en-US" sz="1400" dirty="0">
                <a:solidFill>
                  <a:schemeClr val="tx1"/>
                </a:solidFill>
              </a:rPr>
              <a:t>Hidden Markov or change-point models to detect volatility spikes and concept drift, replacing the fixed volatility threshold</a:t>
            </a:r>
            <a:endParaRPr lang="en-US" sz="1400" dirty="0"/>
          </a:p>
        </p:txBody>
      </p:sp>
      <p:sp>
        <p:nvSpPr>
          <p:cNvPr id="18" name="future-card-3"/>
          <p:cNvSpPr/>
          <p:nvPr/>
        </p:nvSpPr>
        <p:spPr>
          <a:xfrm>
            <a:off x="457200" y="3749040"/>
            <a:ext cx="361188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19" name="future-badge-3"/>
          <p:cNvSpPr/>
          <p:nvPr/>
        </p:nvSpPr>
        <p:spPr>
          <a:xfrm>
            <a:off x="640080" y="3931920"/>
            <a:ext cx="457200" cy="457200"/>
          </a:xfrm>
          <a:prstGeom prst="ellipse">
            <a:avLst/>
          </a:prstGeom>
          <a:solidFill>
            <a:schemeClr val="accent4"/>
          </a:solidFill>
          <a:ln w="12700">
            <a:solidFill>
              <a:schemeClr val="accent4"/>
            </a:solidFill>
            <a:prstDash val="solid"/>
          </a:ln>
        </p:spPr>
      </p:sp>
      <p:sp>
        <p:nvSpPr>
          <p:cNvPr id="20" name="Text 18"/>
          <p:cNvSpPr txBox="1"/>
          <p:nvPr/>
        </p:nvSpPr>
        <p:spPr>
          <a:xfrm>
            <a:off x="64008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234440" y="3931920"/>
            <a:ext cx="2697480" cy="502920"/>
          </a:xfrm>
          <a:prstGeom prst="rect">
            <a:avLst/>
          </a:prstGeom>
          <a:noFill/>
          <a:ln/>
        </p:spPr>
        <p:txBody>
          <a:bodyPr wrap="square" lIns="635" tIns="635" rIns="635" bIns="635" rtlCol="0" anchor="ctr"/>
          <a:lstStyle/>
          <a:p>
            <a:pPr indent="0" marL="0">
              <a:buNone/>
            </a:pPr>
            <a:r>
              <a:rPr lang="en-US" sz="1600" b="1" dirty="0">
                <a:solidFill>
                  <a:schemeClr val="tx2"/>
                </a:solidFill>
              </a:rPr>
              <a:t>Generative crash scenarios</a:t>
            </a:r>
            <a:endParaRPr lang="en-US" sz="1600" dirty="0"/>
          </a:p>
        </p:txBody>
      </p:sp>
      <p:sp>
        <p:nvSpPr>
          <p:cNvPr id="22" name="Text 20"/>
          <p:cNvSpPr txBox="1"/>
          <p:nvPr/>
        </p:nvSpPr>
        <p:spPr>
          <a:xfrm>
            <a:off x="640080" y="4526280"/>
            <a:ext cx="3291840" cy="1463040"/>
          </a:xfrm>
          <a:prstGeom prst="rect">
            <a:avLst/>
          </a:prstGeom>
          <a:noFill/>
          <a:ln/>
        </p:spPr>
        <p:txBody>
          <a:bodyPr wrap="square" lIns="635" tIns="635" rIns="635" bIns="635" rtlCol="0" anchor="t"/>
          <a:lstStyle/>
          <a:p>
            <a:pPr indent="0" marL="0">
              <a:buNone/>
            </a:pPr>
            <a:r>
              <a:rPr lang="en-US" sz="1400" dirty="0">
                <a:solidFill>
                  <a:schemeClr val="tx1"/>
                </a:solidFill>
              </a:rPr>
              <a:t>TimeGAN or diffusion scenarios to widen the simulator; validate tail fidelity, a known weakness</a:t>
            </a:r>
            <a:endParaRPr lang="en-US" sz="1400" dirty="0"/>
          </a:p>
        </p:txBody>
      </p:sp>
      <p:sp>
        <p:nvSpPr>
          <p:cNvPr id="23" name="future-card-4"/>
          <p:cNvSpPr/>
          <p:nvPr/>
        </p:nvSpPr>
        <p:spPr>
          <a:xfrm>
            <a:off x="4251960" y="3749040"/>
            <a:ext cx="361188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24" name="future-badge-4"/>
          <p:cNvSpPr/>
          <p:nvPr/>
        </p:nvSpPr>
        <p:spPr>
          <a:xfrm>
            <a:off x="4434840" y="3931920"/>
            <a:ext cx="457200" cy="457200"/>
          </a:xfrm>
          <a:prstGeom prst="ellipse">
            <a:avLst/>
          </a:prstGeom>
          <a:solidFill>
            <a:schemeClr val="accent4"/>
          </a:solidFill>
          <a:ln w="12700">
            <a:solidFill>
              <a:schemeClr val="accent4"/>
            </a:solidFill>
            <a:prstDash val="solid"/>
          </a:ln>
        </p:spPr>
      </p:sp>
      <p:sp>
        <p:nvSpPr>
          <p:cNvPr id="25" name="Text 23"/>
          <p:cNvSpPr txBox="1"/>
          <p:nvPr/>
        </p:nvSpPr>
        <p:spPr>
          <a:xfrm>
            <a:off x="443484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029200" y="3931920"/>
            <a:ext cx="2697480" cy="502920"/>
          </a:xfrm>
          <a:prstGeom prst="rect">
            <a:avLst/>
          </a:prstGeom>
          <a:noFill/>
          <a:ln/>
        </p:spPr>
        <p:txBody>
          <a:bodyPr wrap="square" lIns="635" tIns="635" rIns="635" bIns="635" rtlCol="0" anchor="ctr"/>
          <a:lstStyle/>
          <a:p>
            <a:pPr indent="0" marL="0">
              <a:buNone/>
            </a:pPr>
            <a:r>
              <a:rPr lang="en-US" sz="1600" b="1" dirty="0">
                <a:solidFill>
                  <a:schemeClr val="tx2"/>
                </a:solidFill>
              </a:rPr>
              <a:t>Overfitting-aware validation</a:t>
            </a:r>
            <a:endParaRPr lang="en-US" sz="1600" dirty="0"/>
          </a:p>
        </p:txBody>
      </p:sp>
      <p:sp>
        <p:nvSpPr>
          <p:cNvPr id="27" name="Text 25"/>
          <p:cNvSpPr txBox="1"/>
          <p:nvPr/>
        </p:nvSpPr>
        <p:spPr>
          <a:xfrm>
            <a:off x="4434840" y="4526280"/>
            <a:ext cx="3291840" cy="1463040"/>
          </a:xfrm>
          <a:prstGeom prst="rect">
            <a:avLst/>
          </a:prstGeom>
          <a:noFill/>
          <a:ln/>
        </p:spPr>
        <p:txBody>
          <a:bodyPr wrap="square" lIns="635" tIns="635" rIns="635" bIns="635" rtlCol="0" anchor="t"/>
          <a:lstStyle/>
          <a:p>
            <a:pPr indent="0" marL="0">
              <a:buNone/>
            </a:pPr>
            <a:r>
              <a:rPr lang="en-US" sz="1400" dirty="0">
                <a:solidFill>
                  <a:schemeClr val="tx1"/>
                </a:solidFill>
              </a:rPr>
              <a:t>Combinatorial purged CV and probability of backtest overfitting before any policy is trusted</a:t>
            </a:r>
            <a:endParaRPr lang="en-US" sz="1400" dirty="0"/>
          </a:p>
        </p:txBody>
      </p:sp>
      <p:sp>
        <p:nvSpPr>
          <p:cNvPr id="28" name="future-card-5"/>
          <p:cNvSpPr/>
          <p:nvPr/>
        </p:nvSpPr>
        <p:spPr>
          <a:xfrm>
            <a:off x="8046720" y="3749040"/>
            <a:ext cx="361188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29" name="future-badge-5"/>
          <p:cNvSpPr/>
          <p:nvPr/>
        </p:nvSpPr>
        <p:spPr>
          <a:xfrm>
            <a:off x="8229600" y="3931920"/>
            <a:ext cx="457200" cy="457200"/>
          </a:xfrm>
          <a:prstGeom prst="ellipse">
            <a:avLst/>
          </a:prstGeom>
          <a:solidFill>
            <a:schemeClr val="accent4"/>
          </a:solidFill>
          <a:ln w="12700">
            <a:solidFill>
              <a:schemeClr val="accent4"/>
            </a:solidFill>
            <a:prstDash val="solid"/>
          </a:ln>
        </p:spPr>
      </p:sp>
      <p:sp>
        <p:nvSpPr>
          <p:cNvPr id="30" name="Text 28"/>
          <p:cNvSpPr txBox="1"/>
          <p:nvPr/>
        </p:nvSpPr>
        <p:spPr>
          <a:xfrm>
            <a:off x="822960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823960" y="3931920"/>
            <a:ext cx="2697480" cy="502920"/>
          </a:xfrm>
          <a:prstGeom prst="rect">
            <a:avLst/>
          </a:prstGeom>
          <a:noFill/>
          <a:ln/>
        </p:spPr>
        <p:txBody>
          <a:bodyPr wrap="square" lIns="635" tIns="635" rIns="635" bIns="635" rtlCol="0" anchor="ctr"/>
          <a:lstStyle/>
          <a:p>
            <a:pPr indent="0" marL="0">
              <a:buNone/>
            </a:pPr>
            <a:r>
              <a:rPr lang="en-US" sz="1600" b="1" dirty="0">
                <a:solidFill>
                  <a:schemeClr val="tx2"/>
                </a:solidFill>
              </a:rPr>
              <a:t>Autocorrelation-aware smoothing</a:t>
            </a:r>
            <a:endParaRPr lang="en-US" sz="1600" dirty="0"/>
          </a:p>
        </p:txBody>
      </p:sp>
      <p:sp>
        <p:nvSpPr>
          <p:cNvPr id="32" name="Text 30"/>
          <p:cNvSpPr txBox="1"/>
          <p:nvPr/>
        </p:nvSpPr>
        <p:spPr>
          <a:xfrm>
            <a:off x="8229600" y="4526280"/>
            <a:ext cx="3291840" cy="1463040"/>
          </a:xfrm>
          <a:prstGeom prst="rect">
            <a:avLst/>
          </a:prstGeom>
          <a:noFill/>
          <a:ln/>
        </p:spPr>
        <p:txBody>
          <a:bodyPr wrap="square" lIns="635" tIns="635" rIns="635" bIns="635" rtlCol="0" anchor="t"/>
          <a:lstStyle/>
          <a:p>
            <a:pPr indent="0" marL="0">
              <a:buNone/>
            </a:pPr>
            <a:r>
              <a:rPr lang="en-US" sz="1400" dirty="0">
                <a:solidFill>
                  <a:schemeClr val="tx1"/>
                </a:solidFill>
              </a:rPr>
              <a:t>Smooth only when recent return autocorrelation (rows ≤ t) is positive: the v4 lesson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200" b="1" dirty="0">
                <a:solidFill>
                  <a:schemeClr val="tx2"/>
                </a:solidFill>
              </a:rPr>
              <a:t>Appendix: reproducibility and sources</a:t>
            </a:r>
            <a:endParaRPr lang="en-US" sz="3200" dirty="0"/>
          </a:p>
        </p:txBody>
      </p:sp>
      <p:sp>
        <p:nvSpPr>
          <p:cNvPr id="3" name="Text 1"/>
          <p:cNvSpPr txBox="1"/>
          <p:nvPr/>
        </p:nvSpPr>
        <p:spPr>
          <a:xfrm>
            <a:off x="457200" y="1234440"/>
            <a:ext cx="11247120" cy="2194560"/>
          </a:xfrm>
          <a:prstGeom prst="rect">
            <a:avLst/>
          </a:prstGeom>
          <a:noFill/>
          <a:ln/>
        </p:spPr>
        <p:txBody>
          <a:bodyPr wrap="square" lIns="635" tIns="635" rIns="635" bIns="635" rtlCol="0" anchor="t"/>
          <a:lstStyle/>
          <a:p>
            <a:pPr indent="0" marL="0">
              <a:spcAft>
                <a:spcPts val="400"/>
              </a:spcAft>
              <a:buNone/>
            </a:pPr>
            <a:r>
              <a:rPr lang="en-US" sz="1400" b="1" dirty="0">
                <a:solidFill>
                  <a:schemeClr val="tx1"/>
                </a:solidFill>
              </a:rPr>
              <a:t>Reproduce</a:t>
            </a:r>
            <a:endParaRPr lang="en-US" sz="1400" dirty="0"/>
          </a:p>
          <a:p>
            <a:pPr marL="342900" indent="-342900">
              <a:spcAft>
                <a:spcPts val="400"/>
              </a:spcAft>
              <a:buSzPct val="100000"/>
              <a:buChar char="•"/>
            </a:pPr>
            <a:r>
              <a:rPr lang="en-US" sz="1400" dirty="0">
                <a:solidFill>
                  <a:schemeClr val="tx1"/>
                </a:solidFill>
              </a:rPr>
              <a:t>python -m src.run_round3 --lstm   (v3 submission, byte-identical rerun)</a:t>
            </a:r>
            <a:endParaRPr lang="en-US" sz="1400" dirty="0"/>
          </a:p>
          <a:p>
            <a:pPr marL="342900" indent="-342900">
              <a:spcAft>
                <a:spcPts val="400"/>
              </a:spcAft>
              <a:buSzPct val="100000"/>
              <a:buChar char="•"/>
            </a:pPr>
            <a:r>
              <a:rPr lang="en-US" sz="1400" dirty="0">
                <a:solidFill>
                  <a:schemeClr val="tx1"/>
                </a:solidFill>
              </a:rPr>
              <a:t>python -m src.run_round2   ·   python -m src.postmortem_round3</a:t>
            </a:r>
            <a:endParaRPr lang="en-US" sz="1400" dirty="0"/>
          </a:p>
          <a:p>
            <a:pPr marL="342900" indent="-342900">
              <a:spcAft>
                <a:spcPts val="400"/>
              </a:spcAft>
              <a:buSzPct val="100000"/>
              <a:buChar char="•"/>
            </a:pPr>
            <a:r>
              <a:rPr lang="en-US" sz="1400" dirty="0">
                <a:solidFill>
                  <a:schemeClr val="tx1"/>
                </a:solidFill>
              </a:rPr>
              <a:t>76 automated leakage and correctness tests run before every experiment</a:t>
            </a:r>
            <a:endParaRPr lang="en-US" sz="1400" dirty="0"/>
          </a:p>
          <a:p>
            <a:pPr marL="342900" indent="-342900">
              <a:spcAft>
                <a:spcPts val="400"/>
              </a:spcAft>
              <a:buSzPct val="100000"/>
              <a:buChar char="•"/>
            </a:pPr>
            <a:r>
              <a:rPr lang="en-US" sz="1400" dirty="0">
                <a:solidFill>
                  <a:schemeClr val="tx1"/>
                </a:solidFill>
              </a:rPr>
              <a:t>Pinned requirements-lock.txt; deterministic CPU PyTorch; dataset, manifest, simulator and submission hashes recorded</a:t>
            </a:r>
            <a:endParaRPr lang="en-US" sz="1400" dirty="0"/>
          </a:p>
        </p:txBody>
      </p:sp>
      <p:sp>
        <p:nvSpPr>
          <p:cNvPr id="4" name="sources-card"/>
          <p:cNvSpPr/>
          <p:nvPr/>
        </p:nvSpPr>
        <p:spPr>
          <a:xfrm>
            <a:off x="457200" y="3611880"/>
            <a:ext cx="11247120" cy="2606040"/>
          </a:xfrm>
          <a:prstGeom prst="roundRect">
            <a:avLst>
              <a:gd name="adj" fmla="val 2807"/>
            </a:avLst>
          </a:prstGeom>
          <a:solidFill>
            <a:schemeClr val="bg2"/>
          </a:solidFill>
          <a:ln w="12700">
            <a:solidFill>
              <a:schemeClr val="bg2"/>
            </a:solidFill>
            <a:prstDash val="solid"/>
          </a:ln>
          <a:effectLst>
            <a:outerShdw sx="100000" sy="100000" kx="0" ky="0" algn="bl" rotWithShape="0" blurRad="76200" dist="25400" dir="5400000">
              <a:srgbClr val="1F2B44">
                <a:alpha val="18000"/>
              </a:srgbClr>
            </a:outerShdw>
          </a:effectLst>
        </p:spPr>
      </p:sp>
      <p:sp>
        <p:nvSpPr>
          <p:cNvPr id="5" name="Text 3"/>
          <p:cNvSpPr txBox="1"/>
          <p:nvPr/>
        </p:nvSpPr>
        <p:spPr>
          <a:xfrm>
            <a:off x="685800" y="3749040"/>
            <a:ext cx="10789920" cy="2377440"/>
          </a:xfrm>
          <a:prstGeom prst="rect">
            <a:avLst/>
          </a:prstGeom>
          <a:noFill/>
          <a:ln/>
        </p:spPr>
        <p:txBody>
          <a:bodyPr wrap="square" lIns="635" tIns="635" rIns="635" bIns="635" rtlCol="0" anchor="t"/>
          <a:lstStyle/>
          <a:p>
            <a:pPr indent="0" marL="0">
              <a:spcAft>
                <a:spcPts val="200"/>
              </a:spcAft>
              <a:buNone/>
            </a:pPr>
            <a:r>
              <a:rPr lang="en-US" sz="1200" b="1" dirty="0">
                <a:solidFill>
                  <a:schemeClr val="tx1"/>
                </a:solidFill>
              </a:rPr>
              <a:t>Future-scope sources (web search; no Reddit threads surfaced)</a:t>
            </a:r>
            <a:endParaRPr lang="en-US" sz="1200" dirty="0"/>
          </a:p>
          <a:p>
            <a:pPr marL="342900" indent="-342900">
              <a:spcAft>
                <a:spcPts val="200"/>
              </a:spcAft>
              <a:buSzPct val="100000"/>
              <a:buChar char="•"/>
            </a:pPr>
            <a:r>
              <a:rPr lang="en-US" sz="1200" dirty="0">
                <a:solidFill>
                  <a:schemeClr val="tx1"/>
                </a:solidFill>
              </a:rPr>
              <a:t>Gort et al. 2022, DRL backtest overfitting: arxiv.org/abs/2209.05559</a:t>
            </a:r>
            <a:endParaRPr lang="en-US" sz="1200" dirty="0"/>
          </a:p>
          <a:p>
            <a:pPr marL="342900" indent="-342900">
              <a:spcAft>
                <a:spcPts val="200"/>
              </a:spcAft>
              <a:buSzPct val="100000"/>
              <a:buChar char="•"/>
            </a:pPr>
            <a:r>
              <a:rPr lang="en-US" sz="1200" dirty="0">
                <a:solidFill>
                  <a:schemeClr val="tx1"/>
                </a:solidFill>
              </a:rPr>
              <a:t>Regime-conditioned diffusion, CVaR portfolios (MARCD): arxiv.org/pdf/2510.10807</a:t>
            </a:r>
            <a:endParaRPr lang="en-US" sz="1200" dirty="0"/>
          </a:p>
          <a:p>
            <a:pPr marL="342900" indent="-342900">
              <a:spcAft>
                <a:spcPts val="200"/>
              </a:spcAft>
              <a:buSzPct val="100000"/>
              <a:buChar char="•"/>
            </a:pPr>
            <a:r>
              <a:rPr lang="en-US" sz="1200" dirty="0">
                <a:solidFill>
                  <a:schemeClr val="tx1"/>
                </a:solidFill>
              </a:rPr>
              <a:t>Tail risk under jump-diffusion, CVaR: arxiv.org/abs/2607.00883</a:t>
            </a:r>
            <a:endParaRPr lang="en-US" sz="1200" dirty="0"/>
          </a:p>
          <a:p>
            <a:pPr marL="342900" indent="-342900">
              <a:spcAft>
                <a:spcPts val="200"/>
              </a:spcAft>
              <a:buSzPct val="100000"/>
              <a:buChar char="•"/>
            </a:pPr>
            <a:r>
              <a:rPr lang="en-US" sz="1200" dirty="0">
                <a:solidFill>
                  <a:schemeClr val="tx1"/>
                </a:solidFill>
              </a:rPr>
              <a:t>Generative synthetic financial data (TimeGAN, VAE): arxiv.org/abs/2512.21798</a:t>
            </a:r>
            <a:endParaRPr lang="en-US" sz="1200" dirty="0"/>
          </a:p>
          <a:p>
            <a:pPr marL="342900" indent="-342900">
              <a:spcAft>
                <a:spcPts val="200"/>
              </a:spcAft>
              <a:buSzPct val="100000"/>
              <a:buChar char="•"/>
            </a:pPr>
            <a:r>
              <a:rPr lang="en-US" sz="1200" dirty="0">
                <a:solidFill>
                  <a:schemeClr val="tx1"/>
                </a:solidFill>
              </a:rPr>
              <a:t>HMM regime-adaptive trading: blog.quantinsti.com/regime-adaptive-trading-python</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KESTREL Crash">
  <a:themeElements>
    <a:clrScheme name="KESTREL Crash">
      <a:dk1>
        <a:srgbClr val="161B26"/>
      </a:dk1>
      <a:lt1>
        <a:srgbClr val="FFFFFF"/>
      </a:lt1>
      <a:dk2>
        <a:srgbClr val="1F2B44"/>
      </a:dk2>
      <a:lt2>
        <a:srgbClr val="EEF2F7"/>
      </a:lt2>
      <a:accent1>
        <a:srgbClr val="0E9F9A"/>
      </a:accent1>
      <a:accent2>
        <a:srgbClr val="E4572E"/>
      </a:accent2>
      <a:accent3>
        <a:srgbClr val="F2A541"/>
      </a:accent3>
      <a:accent4>
        <a:srgbClr val="5B6C8F"/>
      </a:accent4>
      <a:accent5>
        <a:srgbClr val="9DB4D3"/>
      </a:accent5>
      <a:accent6>
        <a:srgbClr val="A3A9B5"/>
      </a:accent6>
      <a:hlink>
        <a:srgbClr val="0E9F9A"/>
      </a:hlink>
      <a:folHlink>
        <a:srgbClr val="5B6C8F"/>
      </a:folHlink>
    </a:clrScheme>
    <a:fontScheme name="KESTREL Cra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KESTREL: Crash-Aware Regime Modelling</dc:title>
  <dc:subject>PptxGenJS Presentation</dc:subject>
  <dc:creator>BigShort Winners</dc:creator>
  <cp:lastModifiedBy>BigShort Winners</cp:lastModifiedBy>
  <cp:revision>1</cp:revision>
  <dcterms:created xsi:type="dcterms:W3CDTF">2026-10-16T10:04:08Z</dcterms:created>
  <dcterms:modified xsi:type="dcterms:W3CDTF">2026-10-16T10:04:08Z</dcterms:modified>
</cp:coreProperties>
</file>